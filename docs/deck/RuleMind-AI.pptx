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Tests by lane — every one passing</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635BFF"/>
            </a:solidFill>
            <a:effectLst/>
          </c:spPr>
          <c:invertIfNegative val="0"/>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Python SQLite</c:v>
                  </c:pt>
                  <c:pt idx="1">
                    <c:v>Python Postgres</c:v>
                  </c:pt>
                  <c:pt idx="2">
                    <c:v>Vitest</c:v>
                  </c:pt>
                  <c:pt idx="3">
                    <c:v>Flutter</c:v>
                  </c:pt>
                  <c:pt idx="4">
                    <c:v>Playwright</c:v>
                  </c:pt>
                  <c:pt idx="5">
                    <c:v>Kotlin</c:v>
                  </c:pt>
                  <c:pt idx="6">
                    <c:v>Rust</c:v>
                  </c:pt>
                </c:lvl>
              </c:multiLvlStrCache>
            </c:multiLvlStrRef>
          </c:cat>
          <c:val>
            <c:numRef>
              <c:f>Sheet1!$B$2:$B$8</c:f>
              <c:numCache>
                <c:formatCode>General</c:formatCode>
                <c:ptCount val="7"/>
                <c:pt idx="0">
                  <c:v>1920</c:v>
                </c:pt>
                <c:pt idx="1">
                  <c:v>1920</c:v>
                </c:pt>
                <c:pt idx="2">
                  <c:v>462</c:v>
                </c:pt>
                <c:pt idx="3">
                  <c:v>163</c:v>
                </c:pt>
                <c:pt idx="4">
                  <c:v>68</c:v>
                </c:pt>
                <c:pt idx="5">
                  <c:v>46</c:v>
                </c:pt>
                <c:pt idx="6">
                  <c:v>29</c:v>
                </c:pt>
              </c:numCache>
            </c:numRef>
          </c:val>
        </c:ser>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2200"/>
        </c:scaling>
        <c:delete val="0"/>
        <c:axPos val="b"/>
        <c:majorGridlines>
          <c:spPr>
            <a:ln w="12700" cap="flat">
              <a:solidFill>
                <a:srgbClr val="E3E8F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Throughput scales with concurrency</a:t>
            </a:r>
          </a:p>
        </c:rich>
      </c:tx>
      <c:layout/>
      <c:overlay val="0"/>
    </c:title>
    <c:autoTitleDeleted val="0"/>
    <c:plotArea>
      <c:layout/>
      <c:barChart>
        <c:barDir val="col"/>
        <c:grouping val="clustered"/>
        <c:varyColors val="0"/>
        <c:ser>
          <c:idx val="0"/>
          <c:order val="0"/>
          <c:tx>
            <c:strRef>
              <c:f>Sheet1!$B$1</c:f>
              <c:strCache>
                <c:ptCount val="1"/>
                <c:pt idx="0">
                  <c:v>Decisions / second</c:v>
                </c:pt>
              </c:strCache>
            </c:strRef>
          </c:tx>
          <c:spPr>
            <a:solidFill>
              <a:srgbClr val="635BFF"/>
            </a:solidFill>
            <a:effectLst/>
          </c:spPr>
          <c:invertIfNegative val="0"/>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1 client</c:v>
                  </c:pt>
                  <c:pt idx="1">
                    <c:v>4 clients</c:v>
                  </c:pt>
                  <c:pt idx="2">
                    <c:v>16 clients</c:v>
                  </c:pt>
                </c:lvl>
              </c:multiLvlStrCache>
            </c:multiLvlStrRef>
          </c:cat>
          <c:val>
            <c:numRef>
              <c:f>Sheet1!$B$2:$B$4</c:f>
              <c:numCache>
                <c:formatCode>General</c:formatCode>
                <c:ptCount val="3"/>
                <c:pt idx="0">
                  <c:v>49.2</c:v>
                </c:pt>
                <c:pt idx="1">
                  <c:v>103.1</c:v>
                </c:pt>
                <c:pt idx="2">
                  <c:v>117.5</c:v>
                </c:pt>
              </c:numCache>
            </c:numRef>
          </c:val>
        </c:ser>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140"/>
        </c:scaling>
        <c:delete val="0"/>
        <c:axPos val="l"/>
        <c:majorGridlines>
          <c:spPr>
            <a:ln w="12700" cap="flat">
              <a:solidFill>
                <a:srgbClr val="E3E8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RuleMind is a decisioning engine: the layer that turns data about an applicant into approve / review / reject, with the reasoning recorded. Two audiences in the room — the risk lead who wants to change policy this week, and the person who has to answer the regulator. Every number in this deck is generated from the repository, not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 it is the one the buyer recognises. The second cost is usually the one that unlocks budget: audit failures are expensive in a way that slow releases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the product in one line. Emphasise step 1: source-agnostic means we do not sell you a bureau integration — you bring whatever you already pay for.
On step 5, say REASONING, not 'policy version'. A server-side decision records what actually happened — the payload, the variables computed, every rule result, the scorecard breakdown and the step trace — but it does NOT pin a policy version (bundle_hash is null for API decisions; it is populated only for on-device ones). That is the honest answer and it is also the better one: a stored trace is stronger evidence than a pointer to configuration that may have changed since. If a buyer asks specifically for version pinning on server decisions, it is a roadmap item, not a shipped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point of the slide. Every capability here is authored, not deployed, and every one leaves an audit trail naming who did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differentiator and the hardest thing in the product. Most vendors have one engine and an SDK that approximates it. Divergence between them is the classic source of disputed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fourth bullet out loud: TEST_RESULTS.md is committed to the repository and regenerated by `make test-all` from the runners' own output. Your engineers can reproduce this number on their own hardware in one command — that is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if asked: 19.78 ms is p50 at concurrency 1; 117.5 rps is at concurrency 16. These are different rows of the same table. The honest framing is a laptop floor — do not extrapolate to production sizing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tamper-evident wording is deliberate and worth calling out unprompted — it buys credibility for everything else on the slide. Same for at-least-once: we do not claim exactly-once delivery, we claim you never lose an event and redelivery does not double-log.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regulated buyer this slide often outranks the feature slides. Apache 2.0 licensed is accurate; the repository is not public today, so do not say 'open source' as a present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wins deals with technical buyers. Every item on the right is a real, current limitation taken from the repository's own notes — not a softened version. If asked about the 48% optimisation: it is a flag that makes decisions faster but is not yet proven to produce identical results, so it stays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question, not on a feature. If they can answer yes today with what they have, they do not need us — and saying that is what makes the rest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E"/>
        </a:solidFill>
      </p:bgPr>
    </p:bg>
    <p:spTree>
      <p:nvGrpSpPr>
        <p:cNvPr id="1" name=""/>
        <p:cNvGrpSpPr/>
        <p:nvPr/>
      </p:nvGrpSpPr>
      <p:grpSpPr>
        <a:xfrm>
          <a:off x="0" y="0"/>
          <a:ext cx="0" cy="0"/>
          <a:chOff x="0" y="0"/>
          <a:chExt cx="0" cy="0"/>
        </a:xfrm>
      </p:grpSpPr>
      <p:sp>
        <p:nvSpPr>
          <p:cNvPr id="2" name="Shape 0"/>
          <p:cNvSpPr/>
          <p:nvPr/>
        </p:nvSpPr>
        <p:spPr>
          <a:xfrm>
            <a:off x="566928" y="960120"/>
            <a:ext cx="274320" cy="274320"/>
          </a:xfrm>
          <a:prstGeom prst="ellipse">
            <a:avLst/>
          </a:prstGeom>
          <a:solidFill>
            <a:srgbClr val="0E9F6E"/>
          </a:solidFill>
          <a:ln w="12700">
            <a:solidFill>
              <a:srgbClr val="0E9F6E"/>
            </a:solidFill>
            <a:prstDash val="solid"/>
          </a:ln>
        </p:spPr>
      </p:sp>
      <p:sp>
        <p:nvSpPr>
          <p:cNvPr id="3" name="Text 1"/>
          <p:cNvSpPr txBox="1"/>
          <p:nvPr/>
        </p:nvSpPr>
        <p:spPr>
          <a:xfrm>
            <a:off x="9326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approve</a:t>
            </a:r>
            <a:endParaRPr lang="en-US" sz="1100" dirty="0"/>
          </a:p>
        </p:txBody>
      </p:sp>
      <p:sp>
        <p:nvSpPr>
          <p:cNvPr id="4" name="Shape 2"/>
          <p:cNvSpPr/>
          <p:nvPr/>
        </p:nvSpPr>
        <p:spPr>
          <a:xfrm>
            <a:off x="1938528" y="960120"/>
            <a:ext cx="274320" cy="274320"/>
          </a:xfrm>
          <a:prstGeom prst="ellipse">
            <a:avLst/>
          </a:prstGeom>
          <a:solidFill>
            <a:srgbClr val="D97706"/>
          </a:solidFill>
          <a:ln w="12700">
            <a:solidFill>
              <a:srgbClr val="D97706"/>
            </a:solidFill>
            <a:prstDash val="solid"/>
          </a:ln>
        </p:spPr>
      </p:sp>
      <p:sp>
        <p:nvSpPr>
          <p:cNvPr id="5" name="Text 3"/>
          <p:cNvSpPr txBox="1"/>
          <p:nvPr/>
        </p:nvSpPr>
        <p:spPr>
          <a:xfrm>
            <a:off x="23042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review</a:t>
            </a:r>
            <a:endParaRPr lang="en-US" sz="1100" dirty="0"/>
          </a:p>
        </p:txBody>
      </p:sp>
      <p:sp>
        <p:nvSpPr>
          <p:cNvPr id="6" name="Shape 4"/>
          <p:cNvSpPr/>
          <p:nvPr/>
        </p:nvSpPr>
        <p:spPr>
          <a:xfrm>
            <a:off x="3310128" y="960120"/>
            <a:ext cx="274320" cy="274320"/>
          </a:xfrm>
          <a:prstGeom prst="ellipse">
            <a:avLst/>
          </a:prstGeom>
          <a:solidFill>
            <a:srgbClr val="DC2626"/>
          </a:solidFill>
          <a:ln w="12700">
            <a:solidFill>
              <a:srgbClr val="DC2626"/>
            </a:solidFill>
            <a:prstDash val="solid"/>
          </a:ln>
        </p:spPr>
      </p:sp>
      <p:sp>
        <p:nvSpPr>
          <p:cNvPr id="7" name="Text 5"/>
          <p:cNvSpPr txBox="1"/>
          <p:nvPr/>
        </p:nvSpPr>
        <p:spPr>
          <a:xfrm>
            <a:off x="36758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reject</a:t>
            </a:r>
            <a:endParaRPr lang="en-US" sz="1100" dirty="0"/>
          </a:p>
        </p:txBody>
      </p:sp>
      <p:sp>
        <p:nvSpPr>
          <p:cNvPr id="8" name="Text 6"/>
          <p:cNvSpPr txBox="1"/>
          <p:nvPr/>
        </p:nvSpPr>
        <p:spPr>
          <a:xfrm>
            <a:off x="566928" y="1828800"/>
            <a:ext cx="105156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RuleMind AI</a:t>
            </a:r>
            <a:endParaRPr lang="en-US" sz="6000" dirty="0"/>
          </a:p>
        </p:txBody>
      </p:sp>
      <p:sp>
        <p:nvSpPr>
          <p:cNvPr id="9" name="Text 7"/>
          <p:cNvSpPr txBox="1"/>
          <p:nvPr/>
        </p:nvSpPr>
        <p:spPr>
          <a:xfrm>
            <a:off x="566928" y="2880360"/>
            <a:ext cx="9601200" cy="548640"/>
          </a:xfrm>
          <a:prstGeom prst="rect">
            <a:avLst/>
          </a:prstGeom>
          <a:noFill/>
          <a:ln/>
        </p:spPr>
        <p:txBody>
          <a:bodyPr wrap="square" lIns="0" tIns="0" rIns="0" bIns="0" rtlCol="0" anchor="ctr"/>
          <a:lstStyle/>
          <a:p>
            <a:pPr indent="0" marL="0">
              <a:buNone/>
            </a:pPr>
            <a:r>
              <a:rPr lang="en-US" sz="2500" dirty="0">
                <a:solidFill>
                  <a:srgbClr val="635BFF"/>
                </a:solidFill>
                <a:latin typeface="Cambria" pitchFamily="34" charset="0"/>
                <a:ea typeface="Cambria" pitchFamily="34" charset="-122"/>
                <a:cs typeface="Cambria" pitchFamily="34" charset="-120"/>
              </a:rPr>
              <a:t>The decisioning engine your risk team can actually change</a:t>
            </a:r>
            <a:endParaRPr lang="en-US" sz="2500" dirty="0"/>
          </a:p>
        </p:txBody>
      </p:sp>
      <p:sp>
        <p:nvSpPr>
          <p:cNvPr id="10" name="Text 8"/>
          <p:cNvSpPr txBox="1"/>
          <p:nvPr/>
        </p:nvSpPr>
        <p:spPr>
          <a:xfrm>
            <a:off x="566928" y="3611880"/>
            <a:ext cx="7863840" cy="914400"/>
          </a:xfrm>
          <a:prstGeom prst="rect">
            <a:avLst/>
          </a:prstGeom>
          <a:noFill/>
          <a:ln/>
        </p:spPr>
        <p:txBody>
          <a:bodyPr wrap="square" lIns="0" tIns="0" rIns="0" bIns="0" rtlCol="0" anchor="ctr"/>
          <a:lstStyle/>
          <a:p>
            <a:pPr indent="0" marL="0">
              <a:lnSpc>
                <a:spcPts val="2300"/>
              </a:lnSpc>
              <a:buNone/>
            </a:pPr>
            <a:r>
              <a:rPr lang="en-US" sz="1500" dirty="0">
                <a:solidFill>
                  <a:srgbClr val="9AA3BC"/>
                </a:solidFill>
                <a:latin typeface="Calibri" pitchFamily="34" charset="0"/>
                <a:ea typeface="Calibri" pitchFamily="34" charset="-122"/>
                <a:cs typeface="Calibri" pitchFamily="34" charset="-120"/>
              </a:rPr>
              <a:t>Author rules, scorecards and policies over any JSON source. Promote dev → uat → prod with an audit trail that answers “why” about a decision from eight months ago. Runs entirely inside your perimeter.</a:t>
            </a:r>
            <a:endParaRPr lang="en-US" sz="1500" dirty="0"/>
          </a:p>
        </p:txBody>
      </p:sp>
      <p:sp>
        <p:nvSpPr>
          <p:cNvPr id="11" name="Text 9"/>
          <p:cNvSpPr txBox="1"/>
          <p:nvPr/>
        </p:nvSpPr>
        <p:spPr>
          <a:xfrm>
            <a:off x="5669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4,608</a:t>
            </a:r>
            <a:endParaRPr lang="en-US" sz="3200" dirty="0"/>
          </a:p>
        </p:txBody>
      </p:sp>
      <p:sp>
        <p:nvSpPr>
          <p:cNvPr id="12" name="Text 10"/>
          <p:cNvSpPr txBox="1"/>
          <p:nvPr/>
        </p:nvSpPr>
        <p:spPr>
          <a:xfrm>
            <a:off x="5669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tests, 11 lanes, all green</a:t>
            </a:r>
            <a:endParaRPr lang="en-US" sz="1100" dirty="0"/>
          </a:p>
        </p:txBody>
      </p:sp>
      <p:sp>
        <p:nvSpPr>
          <p:cNvPr id="13" name="Text 11"/>
          <p:cNvSpPr txBox="1"/>
          <p:nvPr/>
        </p:nvSpPr>
        <p:spPr>
          <a:xfrm>
            <a:off x="33101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5</a:t>
            </a:r>
            <a:endParaRPr lang="en-US" sz="3200" dirty="0"/>
          </a:p>
        </p:txBody>
      </p:sp>
      <p:sp>
        <p:nvSpPr>
          <p:cNvPr id="14" name="Text 12"/>
          <p:cNvSpPr txBox="1"/>
          <p:nvPr/>
        </p:nvSpPr>
        <p:spPr>
          <a:xfrm>
            <a:off x="33101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language engines, held to one corpus</a:t>
            </a:r>
            <a:endParaRPr lang="en-US" sz="1100" dirty="0"/>
          </a:p>
        </p:txBody>
      </p:sp>
      <p:sp>
        <p:nvSpPr>
          <p:cNvPr id="15" name="Text 13"/>
          <p:cNvSpPr txBox="1"/>
          <p:nvPr/>
        </p:nvSpPr>
        <p:spPr>
          <a:xfrm>
            <a:off x="60533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19.8 ms</a:t>
            </a:r>
            <a:endParaRPr lang="en-US" sz="3200" dirty="0"/>
          </a:p>
        </p:txBody>
      </p:sp>
      <p:sp>
        <p:nvSpPr>
          <p:cNvPr id="16" name="Text 14"/>
          <p:cNvSpPr txBox="1"/>
          <p:nvPr/>
        </p:nvSpPr>
        <p:spPr>
          <a:xfrm>
            <a:off x="60533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median decision, measured</a:t>
            </a:r>
            <a:endParaRPr lang="en-US" sz="1100" dirty="0"/>
          </a:p>
        </p:txBody>
      </p:sp>
      <p:sp>
        <p:nvSpPr>
          <p:cNvPr id="17" name="Text 15"/>
          <p:cNvSpPr txBox="1"/>
          <p:nvPr/>
        </p:nvSpPr>
        <p:spPr>
          <a:xfrm>
            <a:off x="87965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0</a:t>
            </a:r>
            <a:endParaRPr lang="en-US" sz="3200" dirty="0"/>
          </a:p>
        </p:txBody>
      </p:sp>
      <p:sp>
        <p:nvSpPr>
          <p:cNvPr id="18" name="Text 16"/>
          <p:cNvSpPr txBox="1"/>
          <p:nvPr/>
        </p:nvSpPr>
        <p:spPr>
          <a:xfrm>
            <a:off x="87965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phone-home, metering or licence calls</a:t>
            </a:r>
            <a:endParaRPr lang="en-US" sz="1100" dirty="0"/>
          </a:p>
        </p:txBody>
      </p:sp>
      <p:sp>
        <p:nvSpPr>
          <p:cNvPr id="20"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1"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Two costs every risk team pays</a:t>
            </a:r>
            <a:endParaRPr lang="en-US" sz="3400" dirty="0"/>
          </a:p>
        </p:txBody>
      </p:sp>
      <p:sp>
        <p:nvSpPr>
          <p:cNvPr id="4" name="Shape 2"/>
          <p:cNvSpPr/>
          <p:nvPr/>
        </p:nvSpPr>
        <p:spPr>
          <a:xfrm>
            <a:off x="56692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03120"/>
            <a:ext cx="585216" cy="585216"/>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1097280" y="2249424"/>
            <a:ext cx="292608" cy="292608"/>
          </a:xfrm>
          <a:prstGeom prst="rect">
            <a:avLst/>
          </a:prstGeom>
        </p:spPr>
      </p:pic>
      <p:sp>
        <p:nvSpPr>
          <p:cNvPr id="7" name="Text 4"/>
          <p:cNvSpPr txBox="1"/>
          <p:nvPr/>
        </p:nvSpPr>
        <p:spPr>
          <a:xfrm>
            <a:off x="95097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A policy change waits on an engineering release</a:t>
            </a:r>
            <a:endParaRPr lang="en-US" sz="1900" dirty="0"/>
          </a:p>
        </p:txBody>
      </p:sp>
      <p:sp>
        <p:nvSpPr>
          <p:cNvPr id="8" name="Text 5"/>
          <p:cNvSpPr txBox="1"/>
          <p:nvPr/>
        </p:nvSpPr>
        <p:spPr>
          <a:xfrm>
            <a:off x="95097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The threshold is a constant in application code. Moving it from 700 to 690 means a ticket, a sprint, a deploy and a rollback plan. So the credit team stops asking, and policy drifts away from the market it was written for.</a:t>
            </a:r>
            <a:endParaRPr lang="en-US" sz="1300" dirty="0"/>
          </a:p>
        </p:txBody>
      </p:sp>
      <p:sp>
        <p:nvSpPr>
          <p:cNvPr id="9" name="Text 6"/>
          <p:cNvSpPr txBox="1"/>
          <p:nvPr/>
        </p:nvSpPr>
        <p:spPr>
          <a:xfrm>
            <a:off x="950976" y="4599432"/>
            <a:ext cx="4480560" cy="347472"/>
          </a:xfrm>
          <a:prstGeom prst="rect">
            <a:avLst/>
          </a:prstGeom>
          <a:noFill/>
          <a:ln/>
        </p:spPr>
        <p:txBody>
          <a:bodyPr wrap="square" lIns="0" tIns="0" rIns="0" bIns="0" rtlCol="0" anchor="ctr"/>
          <a:lstStyle/>
          <a:p>
            <a:pPr indent="0" marL="0">
              <a:buNone/>
            </a:pPr>
            <a:r>
              <a:rPr lang="en-US" sz="1250" b="1" i="1" dirty="0">
                <a:solidFill>
                  <a:srgbClr val="DC2626"/>
                </a:solidFill>
                <a:latin typeface="Calibri" pitchFamily="34" charset="0"/>
                <a:ea typeface="Calibri" pitchFamily="34" charset="-122"/>
                <a:cs typeface="Calibri" pitchFamily="34" charset="-120"/>
              </a:rPr>
              <a:t>Risk moves at the speed of the release train, not the market.</a:t>
            </a:r>
            <a:endParaRPr lang="en-US" sz="1250" dirty="0"/>
          </a:p>
        </p:txBody>
      </p:sp>
      <p:sp>
        <p:nvSpPr>
          <p:cNvPr id="10" name="Shape 7"/>
          <p:cNvSpPr/>
          <p:nvPr/>
        </p:nvSpPr>
        <p:spPr>
          <a:xfrm>
            <a:off x="619048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1" name="Shape 8"/>
          <p:cNvSpPr/>
          <p:nvPr/>
        </p:nvSpPr>
        <p:spPr>
          <a:xfrm>
            <a:off x="6574536" y="2103120"/>
            <a:ext cx="585216" cy="585216"/>
          </a:xfrm>
          <a:prstGeom prst="ellipse">
            <a:avLst/>
          </a:prstGeom>
          <a:solidFill>
            <a:srgbClr val="D97706"/>
          </a:solidFill>
          <a:ln w="12700">
            <a:solidFill>
              <a:srgbClr val="D97706"/>
            </a:solidFill>
            <a:prstDash val="solid"/>
          </a:ln>
        </p:spPr>
      </p:sp>
      <p:pic>
        <p:nvPicPr>
          <p:cNvPr id="12" name="Image 1" descr="preencoded.png">    </p:cNvPr>
          <p:cNvPicPr>
            <a:picLocks noChangeAspect="1"/>
          </p:cNvPicPr>
          <p:nvPr/>
        </p:nvPicPr>
        <p:blipFill>
          <a:blip r:embed="rId2"/>
          <a:stretch>
            <a:fillRect/>
          </a:stretch>
        </p:blipFill>
        <p:spPr>
          <a:xfrm>
            <a:off x="6720840" y="2249424"/>
            <a:ext cx="292608" cy="292608"/>
          </a:xfrm>
          <a:prstGeom prst="rect">
            <a:avLst/>
          </a:prstGeom>
        </p:spPr>
      </p:pic>
      <p:sp>
        <p:nvSpPr>
          <p:cNvPr id="13" name="Text 9"/>
          <p:cNvSpPr txBox="1"/>
          <p:nvPr/>
        </p:nvSpPr>
        <p:spPr>
          <a:xfrm>
            <a:off x="657453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Eight months later, the regulator asks why</a:t>
            </a:r>
            <a:endParaRPr lang="en-US" sz="1900" dirty="0"/>
          </a:p>
        </p:txBody>
      </p:sp>
      <p:sp>
        <p:nvSpPr>
          <p:cNvPr id="14" name="Text 10"/>
          <p:cNvSpPr txBox="1"/>
          <p:nvPr/>
        </p:nvSpPr>
        <p:spPr>
          <a:xfrm>
            <a:off x="657453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One applicant, one decision, one date. What were the rules that day? Which version of the scorecard? What did the bureau actually return? If the answer is a log line and a git blame, the answer is no answer.</a:t>
            </a:r>
            <a:endParaRPr lang="en-US" sz="1300" dirty="0"/>
          </a:p>
        </p:txBody>
      </p:sp>
      <p:sp>
        <p:nvSpPr>
          <p:cNvPr id="15" name="Text 11"/>
          <p:cNvSpPr txBox="1"/>
          <p:nvPr/>
        </p:nvSpPr>
        <p:spPr>
          <a:xfrm>
            <a:off x="6574536" y="4599432"/>
            <a:ext cx="4480560" cy="347472"/>
          </a:xfrm>
          <a:prstGeom prst="rect">
            <a:avLst/>
          </a:prstGeom>
          <a:noFill/>
          <a:ln/>
        </p:spPr>
        <p:txBody>
          <a:bodyPr wrap="square" lIns="0" tIns="0" rIns="0" bIns="0" rtlCol="0" anchor="ctr"/>
          <a:lstStyle/>
          <a:p>
            <a:pPr indent="0" marL="0">
              <a:buNone/>
            </a:pPr>
            <a:r>
              <a:rPr lang="en-US" sz="1250" b="1" i="1" dirty="0">
                <a:solidFill>
                  <a:srgbClr val="D97706"/>
                </a:solidFill>
                <a:latin typeface="Calibri" pitchFamily="34" charset="0"/>
                <a:ea typeface="Calibri" pitchFamily="34" charset="-122"/>
                <a:cs typeface="Calibri" pitchFamily="34" charset="-120"/>
              </a:rPr>
              <a:t>Reconstruction is not evidence. It has to have been recorded.</a:t>
            </a:r>
            <a:endParaRPr lang="en-US" sz="1250" dirty="0"/>
          </a:p>
        </p:txBody>
      </p:sp>
      <p:sp>
        <p:nvSpPr>
          <p:cNvPr id="16" name="Shape 12"/>
          <p:cNvSpPr/>
          <p:nvPr/>
        </p:nvSpPr>
        <p:spPr>
          <a:xfrm>
            <a:off x="566928" y="5212080"/>
            <a:ext cx="10863072" cy="822960"/>
          </a:xfrm>
          <a:prstGeom prst="roundRect">
            <a:avLst>
              <a:gd name="adj" fmla="val 11111"/>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7" name="Text 13"/>
          <p:cNvSpPr txBox="1"/>
          <p:nvPr/>
        </p:nvSpPr>
        <p:spPr>
          <a:xfrm>
            <a:off x="978408" y="5321808"/>
            <a:ext cx="10058400" cy="603504"/>
          </a:xfrm>
          <a:prstGeom prst="rect">
            <a:avLst/>
          </a:prstGeom>
          <a:noFill/>
          <a:ln/>
        </p:spPr>
        <p:txBody>
          <a:bodyPr wrap="square" lIns="0" tIns="0" rIns="0" bIns="0" rtlCol="0" anchor="ctr"/>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RuleMind removes both. The policy is data, edited in a dashboard and promoted through environments — and every decision it makes is written down with the exact rules that produced it.</a:t>
            </a:r>
            <a:endParaRPr lang="en-US" sz="1400" dirty="0"/>
          </a:p>
        </p:txBody>
      </p:sp>
      <p:sp>
        <p:nvSpPr>
          <p:cNvPr id="19" name="Text 14"/>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5"/>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IT IS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Data in, decision out, reasoning kept</a:t>
            </a:r>
            <a:endParaRPr lang="en-US" sz="3400" dirty="0"/>
          </a:p>
        </p:txBody>
      </p:sp>
      <p:sp>
        <p:nvSpPr>
          <p:cNvPr id="4" name="Shape 2"/>
          <p:cNvSpPr/>
          <p:nvPr/>
        </p:nvSpPr>
        <p:spPr>
          <a:xfrm>
            <a:off x="566928"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96112" y="2194560"/>
            <a:ext cx="512064" cy="512064"/>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1024128" y="2322576"/>
            <a:ext cx="256032" cy="256032"/>
          </a:xfrm>
          <a:prstGeom prst="rect">
            <a:avLst/>
          </a:prstGeom>
        </p:spPr>
      </p:pic>
      <p:sp>
        <p:nvSpPr>
          <p:cNvPr id="7" name="Text 4"/>
          <p:cNvSpPr txBox="1"/>
          <p:nvPr/>
        </p:nvSpPr>
        <p:spPr>
          <a:xfrm>
            <a:off x="2048256"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896112"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Connect</a:t>
            </a:r>
            <a:endParaRPr lang="en-US" sz="1800" dirty="0"/>
          </a:p>
        </p:txBody>
      </p:sp>
      <p:sp>
        <p:nvSpPr>
          <p:cNvPr id="9" name="Text 6"/>
          <p:cNvSpPr txBox="1"/>
          <p:nvPr/>
        </p:nvSpPr>
        <p:spPr>
          <a:xfrm>
            <a:off x="896112"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Any JSON source — bureau, bank, GST, device, KYC, or your own API. Source-agnostic by design.</a:t>
            </a:r>
            <a:endParaRPr lang="en-US" sz="1150" dirty="0"/>
          </a:p>
        </p:txBody>
      </p:sp>
      <p:sp>
        <p:nvSpPr>
          <p:cNvPr id="10" name="Shape 7"/>
          <p:cNvSpPr/>
          <p:nvPr/>
        </p:nvSpPr>
        <p:spPr>
          <a:xfrm rot="5400000">
            <a:off x="2651760" y="2377440"/>
            <a:ext cx="100584" cy="146304"/>
          </a:xfrm>
          <a:prstGeom prst="triangle">
            <a:avLst/>
          </a:prstGeom>
          <a:solidFill>
            <a:srgbClr val="9AA3BC"/>
          </a:solidFill>
          <a:ln w="12700">
            <a:solidFill>
              <a:srgbClr val="9AA3BC"/>
            </a:solidFill>
            <a:prstDash val="solid"/>
          </a:ln>
        </p:spPr>
      </p:sp>
      <p:sp>
        <p:nvSpPr>
          <p:cNvPr id="11" name="Shape 8"/>
          <p:cNvSpPr/>
          <p:nvPr/>
        </p:nvSpPr>
        <p:spPr>
          <a:xfrm>
            <a:off x="2788920"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3118104" y="2194560"/>
            <a:ext cx="512064" cy="512064"/>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3246120" y="2322576"/>
            <a:ext cx="256032" cy="256032"/>
          </a:xfrm>
          <a:prstGeom prst="rect">
            <a:avLst/>
          </a:prstGeom>
        </p:spPr>
      </p:pic>
      <p:sp>
        <p:nvSpPr>
          <p:cNvPr id="14" name="Text 10"/>
          <p:cNvSpPr txBox="1"/>
          <p:nvPr/>
        </p:nvSpPr>
        <p:spPr>
          <a:xfrm>
            <a:off x="4270248"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2</a:t>
            </a:r>
            <a:endParaRPr lang="en-US" sz="1500" dirty="0"/>
          </a:p>
        </p:txBody>
      </p:sp>
      <p:sp>
        <p:nvSpPr>
          <p:cNvPr id="15" name="Text 11"/>
          <p:cNvSpPr txBox="1"/>
          <p:nvPr/>
        </p:nvSpPr>
        <p:spPr>
          <a:xfrm>
            <a:off x="3118104"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Compute</a:t>
            </a:r>
            <a:endParaRPr lang="en-US" sz="1800" dirty="0"/>
          </a:p>
        </p:txBody>
      </p:sp>
      <p:sp>
        <p:nvSpPr>
          <p:cNvPr id="16" name="Text 12"/>
          <p:cNvSpPr txBox="1"/>
          <p:nvPr/>
        </p:nvSpPr>
        <p:spPr>
          <a:xfrm>
            <a:off x="3118104"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Python variables in a sandbox, or 232 Excel functions if the author thinks in spreadsheets.</a:t>
            </a:r>
            <a:endParaRPr lang="en-US" sz="1150" dirty="0"/>
          </a:p>
        </p:txBody>
      </p:sp>
      <p:sp>
        <p:nvSpPr>
          <p:cNvPr id="17" name="Shape 13"/>
          <p:cNvSpPr/>
          <p:nvPr/>
        </p:nvSpPr>
        <p:spPr>
          <a:xfrm rot="5400000">
            <a:off x="4873752" y="2377440"/>
            <a:ext cx="100584" cy="146304"/>
          </a:xfrm>
          <a:prstGeom prst="triangle">
            <a:avLst/>
          </a:prstGeom>
          <a:solidFill>
            <a:srgbClr val="9AA3BC"/>
          </a:solidFill>
          <a:ln w="12700">
            <a:solidFill>
              <a:srgbClr val="9AA3BC"/>
            </a:solidFill>
            <a:prstDash val="solid"/>
          </a:ln>
        </p:spPr>
      </p:sp>
      <p:sp>
        <p:nvSpPr>
          <p:cNvPr id="18" name="Shape 14"/>
          <p:cNvSpPr/>
          <p:nvPr/>
        </p:nvSpPr>
        <p:spPr>
          <a:xfrm>
            <a:off x="5010912"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9" name="Shape 15"/>
          <p:cNvSpPr/>
          <p:nvPr/>
        </p:nvSpPr>
        <p:spPr>
          <a:xfrm>
            <a:off x="5340096" y="2194560"/>
            <a:ext cx="512064" cy="512064"/>
          </a:xfrm>
          <a:prstGeom prst="ellipse">
            <a:avLst/>
          </a:prstGeom>
          <a:solidFill>
            <a:srgbClr val="635BFF"/>
          </a:solidFill>
          <a:ln w="12700">
            <a:solidFill>
              <a:srgbClr val="635BFF"/>
            </a:solidFill>
            <a:prstDash val="solid"/>
          </a:ln>
        </p:spPr>
      </p:sp>
      <p:pic>
        <p:nvPicPr>
          <p:cNvPr id="20" name="Image 2" descr="preencoded.png">    </p:cNvPr>
          <p:cNvPicPr>
            <a:picLocks noChangeAspect="1"/>
          </p:cNvPicPr>
          <p:nvPr/>
        </p:nvPicPr>
        <p:blipFill>
          <a:blip r:embed="rId3"/>
          <a:stretch>
            <a:fillRect/>
          </a:stretch>
        </p:blipFill>
        <p:spPr>
          <a:xfrm>
            <a:off x="5468112" y="2322576"/>
            <a:ext cx="256032" cy="256032"/>
          </a:xfrm>
          <a:prstGeom prst="rect">
            <a:avLst/>
          </a:prstGeom>
        </p:spPr>
      </p:pic>
      <p:sp>
        <p:nvSpPr>
          <p:cNvPr id="21" name="Text 16"/>
          <p:cNvSpPr txBox="1"/>
          <p:nvPr/>
        </p:nvSpPr>
        <p:spPr>
          <a:xfrm>
            <a:off x="6492240"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3</a:t>
            </a:r>
            <a:endParaRPr lang="en-US" sz="1500" dirty="0"/>
          </a:p>
        </p:txBody>
      </p:sp>
      <p:sp>
        <p:nvSpPr>
          <p:cNvPr id="22" name="Text 17"/>
          <p:cNvSpPr txBox="1"/>
          <p:nvPr/>
        </p:nvSpPr>
        <p:spPr>
          <a:xfrm>
            <a:off x="5340096"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Author</a:t>
            </a:r>
            <a:endParaRPr lang="en-US" sz="1800" dirty="0"/>
          </a:p>
        </p:txBody>
      </p:sp>
      <p:sp>
        <p:nvSpPr>
          <p:cNvPr id="23" name="Text 18"/>
          <p:cNvSpPr txBox="1"/>
          <p:nvPr/>
        </p:nvSpPr>
        <p:spPr>
          <a:xfrm>
            <a:off x="5340096"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Rules, scorecards and decision tables, click-built. 13 step types compose into a policy.</a:t>
            </a:r>
            <a:endParaRPr lang="en-US" sz="1150" dirty="0"/>
          </a:p>
        </p:txBody>
      </p:sp>
      <p:sp>
        <p:nvSpPr>
          <p:cNvPr id="24" name="Shape 19"/>
          <p:cNvSpPr/>
          <p:nvPr/>
        </p:nvSpPr>
        <p:spPr>
          <a:xfrm rot="5400000">
            <a:off x="7095744" y="2377440"/>
            <a:ext cx="100584" cy="146304"/>
          </a:xfrm>
          <a:prstGeom prst="triangle">
            <a:avLst/>
          </a:prstGeom>
          <a:solidFill>
            <a:srgbClr val="9AA3BC"/>
          </a:solidFill>
          <a:ln w="12700">
            <a:solidFill>
              <a:srgbClr val="9AA3BC"/>
            </a:solidFill>
            <a:prstDash val="solid"/>
          </a:ln>
        </p:spPr>
      </p:sp>
      <p:sp>
        <p:nvSpPr>
          <p:cNvPr id="25" name="Shape 20"/>
          <p:cNvSpPr/>
          <p:nvPr/>
        </p:nvSpPr>
        <p:spPr>
          <a:xfrm>
            <a:off x="7232904"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6" name="Shape 21"/>
          <p:cNvSpPr/>
          <p:nvPr/>
        </p:nvSpPr>
        <p:spPr>
          <a:xfrm>
            <a:off x="7562088" y="2194560"/>
            <a:ext cx="512064" cy="512064"/>
          </a:xfrm>
          <a:prstGeom prst="ellipse">
            <a:avLst/>
          </a:prstGeom>
          <a:solidFill>
            <a:srgbClr val="635BFF"/>
          </a:solidFill>
          <a:ln w="12700">
            <a:solidFill>
              <a:srgbClr val="635BFF"/>
            </a:solidFill>
            <a:prstDash val="solid"/>
          </a:ln>
        </p:spPr>
      </p:sp>
      <p:pic>
        <p:nvPicPr>
          <p:cNvPr id="27" name="Image 3" descr="preencoded.png">    </p:cNvPr>
          <p:cNvPicPr>
            <a:picLocks noChangeAspect="1"/>
          </p:cNvPicPr>
          <p:nvPr/>
        </p:nvPicPr>
        <p:blipFill>
          <a:blip r:embed="rId4"/>
          <a:stretch>
            <a:fillRect/>
          </a:stretch>
        </p:blipFill>
        <p:spPr>
          <a:xfrm>
            <a:off x="7690104" y="2322576"/>
            <a:ext cx="256032" cy="256032"/>
          </a:xfrm>
          <a:prstGeom prst="rect">
            <a:avLst/>
          </a:prstGeom>
        </p:spPr>
      </p:pic>
      <p:sp>
        <p:nvSpPr>
          <p:cNvPr id="28" name="Text 22"/>
          <p:cNvSpPr txBox="1"/>
          <p:nvPr/>
        </p:nvSpPr>
        <p:spPr>
          <a:xfrm>
            <a:off x="8714232"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4</a:t>
            </a:r>
            <a:endParaRPr lang="en-US" sz="1500" dirty="0"/>
          </a:p>
        </p:txBody>
      </p:sp>
      <p:sp>
        <p:nvSpPr>
          <p:cNvPr id="29" name="Text 23"/>
          <p:cNvSpPr txBox="1"/>
          <p:nvPr/>
        </p:nvSpPr>
        <p:spPr>
          <a:xfrm>
            <a:off x="7562088"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Decide</a:t>
            </a:r>
            <a:endParaRPr lang="en-US" sz="1800" dirty="0"/>
          </a:p>
        </p:txBody>
      </p:sp>
      <p:sp>
        <p:nvSpPr>
          <p:cNvPr id="30" name="Text 24"/>
          <p:cNvSpPr txBox="1"/>
          <p:nvPr/>
        </p:nvSpPr>
        <p:spPr>
          <a:xfrm>
            <a:off x="7562088"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One /decide call returns the outcome, the score, and the step-by-step trace behind it.</a:t>
            </a:r>
            <a:endParaRPr lang="en-US" sz="1150" dirty="0"/>
          </a:p>
        </p:txBody>
      </p:sp>
      <p:sp>
        <p:nvSpPr>
          <p:cNvPr id="31" name="Shape 25"/>
          <p:cNvSpPr/>
          <p:nvPr/>
        </p:nvSpPr>
        <p:spPr>
          <a:xfrm rot="5400000">
            <a:off x="9317736" y="2377440"/>
            <a:ext cx="100584" cy="146304"/>
          </a:xfrm>
          <a:prstGeom prst="triangle">
            <a:avLst/>
          </a:prstGeom>
          <a:solidFill>
            <a:srgbClr val="9AA3BC"/>
          </a:solidFill>
          <a:ln w="12700">
            <a:solidFill>
              <a:srgbClr val="9AA3BC"/>
            </a:solidFill>
            <a:prstDash val="solid"/>
          </a:ln>
        </p:spPr>
      </p:sp>
      <p:sp>
        <p:nvSpPr>
          <p:cNvPr id="32" name="Shape 26"/>
          <p:cNvSpPr/>
          <p:nvPr/>
        </p:nvSpPr>
        <p:spPr>
          <a:xfrm>
            <a:off x="9454896"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3" name="Shape 27"/>
          <p:cNvSpPr/>
          <p:nvPr/>
        </p:nvSpPr>
        <p:spPr>
          <a:xfrm>
            <a:off x="9784080" y="2194560"/>
            <a:ext cx="512064" cy="512064"/>
          </a:xfrm>
          <a:prstGeom prst="ellipse">
            <a:avLst/>
          </a:prstGeom>
          <a:solidFill>
            <a:srgbClr val="4B44D1"/>
          </a:solidFill>
          <a:ln w="12700">
            <a:solidFill>
              <a:srgbClr val="635BFF"/>
            </a:solidFill>
            <a:prstDash val="solid"/>
          </a:ln>
        </p:spPr>
      </p:sp>
      <p:pic>
        <p:nvPicPr>
          <p:cNvPr id="34" name="Image 4" descr="preencoded.png">    </p:cNvPr>
          <p:cNvPicPr>
            <a:picLocks noChangeAspect="1"/>
          </p:cNvPicPr>
          <p:nvPr/>
        </p:nvPicPr>
        <p:blipFill>
          <a:blip r:embed="rId5"/>
          <a:stretch>
            <a:fillRect/>
          </a:stretch>
        </p:blipFill>
        <p:spPr>
          <a:xfrm>
            <a:off x="9912096" y="2322576"/>
            <a:ext cx="256032" cy="256032"/>
          </a:xfrm>
          <a:prstGeom prst="rect">
            <a:avLst/>
          </a:prstGeom>
        </p:spPr>
      </p:pic>
      <p:sp>
        <p:nvSpPr>
          <p:cNvPr id="35" name="Text 28"/>
          <p:cNvSpPr txBox="1"/>
          <p:nvPr/>
        </p:nvSpPr>
        <p:spPr>
          <a:xfrm>
            <a:off x="10936224"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5</a:t>
            </a:r>
            <a:endParaRPr lang="en-US" sz="1500" dirty="0"/>
          </a:p>
        </p:txBody>
      </p:sp>
      <p:sp>
        <p:nvSpPr>
          <p:cNvPr id="36" name="Text 29"/>
          <p:cNvSpPr txBox="1"/>
          <p:nvPr/>
        </p:nvSpPr>
        <p:spPr>
          <a:xfrm>
            <a:off x="9784080"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Account</a:t>
            </a:r>
            <a:endParaRPr lang="en-US" sz="1800" dirty="0"/>
          </a:p>
        </p:txBody>
      </p:sp>
      <p:sp>
        <p:nvSpPr>
          <p:cNvPr id="37" name="Text 30"/>
          <p:cNvSpPr txBox="1"/>
          <p:nvPr/>
        </p:nvSpPr>
        <p:spPr>
          <a:xfrm>
            <a:off x="9784080"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Every decision stores its inputs, computed variables, every rule result and the full step trace.</a:t>
            </a:r>
            <a:endParaRPr lang="en-US" sz="1150" dirty="0"/>
          </a:p>
        </p:txBody>
      </p:sp>
      <p:sp>
        <p:nvSpPr>
          <p:cNvPr id="38" name="Text 31"/>
          <p:cNvSpPr txBox="1"/>
          <p:nvPr/>
        </p:nvSpPr>
        <p:spPr>
          <a:xfrm>
            <a:off x="5669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281</a:t>
            </a:r>
            <a:endParaRPr lang="en-US" sz="2400" dirty="0"/>
          </a:p>
        </p:txBody>
      </p:sp>
      <p:sp>
        <p:nvSpPr>
          <p:cNvPr id="39" name="Text 32"/>
          <p:cNvSpPr txBox="1"/>
          <p:nvPr/>
        </p:nvSpPr>
        <p:spPr>
          <a:xfrm>
            <a:off x="5669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API endpoints</a:t>
            </a:r>
            <a:endParaRPr lang="en-US" sz="1150" dirty="0"/>
          </a:p>
        </p:txBody>
      </p:sp>
      <p:sp>
        <p:nvSpPr>
          <p:cNvPr id="40" name="Text 33"/>
          <p:cNvSpPr txBox="1"/>
          <p:nvPr/>
        </p:nvSpPr>
        <p:spPr>
          <a:xfrm>
            <a:off x="33101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13</a:t>
            </a:r>
            <a:endParaRPr lang="en-US" sz="2400" dirty="0"/>
          </a:p>
        </p:txBody>
      </p:sp>
      <p:sp>
        <p:nvSpPr>
          <p:cNvPr id="41" name="Text 34"/>
          <p:cNvSpPr txBox="1"/>
          <p:nvPr/>
        </p:nvSpPr>
        <p:spPr>
          <a:xfrm>
            <a:off x="33101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composable step types</a:t>
            </a:r>
            <a:endParaRPr lang="en-US" sz="1150" dirty="0"/>
          </a:p>
        </p:txBody>
      </p:sp>
      <p:sp>
        <p:nvSpPr>
          <p:cNvPr id="42" name="Text 35"/>
          <p:cNvSpPr txBox="1"/>
          <p:nvPr/>
        </p:nvSpPr>
        <p:spPr>
          <a:xfrm>
            <a:off x="60533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41</a:t>
            </a:r>
            <a:endParaRPr lang="en-US" sz="2400" dirty="0"/>
          </a:p>
        </p:txBody>
      </p:sp>
      <p:sp>
        <p:nvSpPr>
          <p:cNvPr id="43" name="Text 36"/>
          <p:cNvSpPr txBox="1"/>
          <p:nvPr/>
        </p:nvSpPr>
        <p:spPr>
          <a:xfrm>
            <a:off x="60533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tables of recorded state</a:t>
            </a:r>
            <a:endParaRPr lang="en-US" sz="1150" dirty="0"/>
          </a:p>
        </p:txBody>
      </p:sp>
      <p:sp>
        <p:nvSpPr>
          <p:cNvPr id="44" name="Text 37"/>
          <p:cNvSpPr txBox="1"/>
          <p:nvPr/>
        </p:nvSpPr>
        <p:spPr>
          <a:xfrm>
            <a:off x="87965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3</a:t>
            </a:r>
            <a:endParaRPr lang="en-US" sz="2400" dirty="0"/>
          </a:p>
        </p:txBody>
      </p:sp>
      <p:sp>
        <p:nvSpPr>
          <p:cNvPr id="45" name="Text 38"/>
          <p:cNvSpPr txBox="1"/>
          <p:nvPr/>
        </p:nvSpPr>
        <p:spPr>
          <a:xfrm>
            <a:off x="87965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environments, promoted not copied</a:t>
            </a:r>
            <a:endParaRPr lang="en-US" sz="1150" dirty="0"/>
          </a:p>
        </p:txBody>
      </p:sp>
      <p:sp>
        <p:nvSpPr>
          <p:cNvPr id="47" name="Text 3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48" name="Text 4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CAPABILITY</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The risk team ships the change</a:t>
            </a:r>
            <a:endParaRPr lang="en-US" sz="3400" dirty="0"/>
          </a:p>
        </p:txBody>
      </p:sp>
      <p:sp>
        <p:nvSpPr>
          <p:cNvPr id="4" name="Shape 2"/>
          <p:cNvSpPr/>
          <p:nvPr/>
        </p:nvSpPr>
        <p:spPr>
          <a:xfrm>
            <a:off x="566928"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185416"/>
            <a:ext cx="457200" cy="457200"/>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295144"/>
            <a:ext cx="237744" cy="237744"/>
          </a:xfrm>
          <a:prstGeom prst="rect">
            <a:avLst/>
          </a:prstGeom>
        </p:spPr>
      </p:pic>
      <p:sp>
        <p:nvSpPr>
          <p:cNvPr id="7" name="Text 4"/>
          <p:cNvSpPr txBox="1"/>
          <p:nvPr/>
        </p:nvSpPr>
        <p:spPr>
          <a:xfrm>
            <a:off x="1435608"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Promote, don't redeploy</a:t>
            </a:r>
            <a:endParaRPr lang="en-US" sz="1550" dirty="0"/>
          </a:p>
        </p:txBody>
      </p:sp>
      <p:sp>
        <p:nvSpPr>
          <p:cNvPr id="8" name="Text 5"/>
          <p:cNvSpPr txBox="1"/>
          <p:nvPr/>
        </p:nvSpPr>
        <p:spPr>
          <a:xfrm>
            <a:off x="1435608"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dev → uat → prod as a governed promotion with approvals and a diff of what changed.</a:t>
            </a:r>
            <a:endParaRPr lang="en-US" sz="1150" dirty="0"/>
          </a:p>
        </p:txBody>
      </p:sp>
      <p:sp>
        <p:nvSpPr>
          <p:cNvPr id="9" name="Shape 6"/>
          <p:cNvSpPr/>
          <p:nvPr/>
        </p:nvSpPr>
        <p:spPr>
          <a:xfrm>
            <a:off x="4251960"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4544568" y="2185416"/>
            <a:ext cx="457200" cy="457200"/>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4654296" y="2295144"/>
            <a:ext cx="237744" cy="237744"/>
          </a:xfrm>
          <a:prstGeom prst="rect">
            <a:avLst/>
          </a:prstGeom>
        </p:spPr>
      </p:pic>
      <p:sp>
        <p:nvSpPr>
          <p:cNvPr id="12" name="Text 8"/>
          <p:cNvSpPr txBox="1"/>
          <p:nvPr/>
        </p:nvSpPr>
        <p:spPr>
          <a:xfrm>
            <a:off x="5120640"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Champion / challenger</a:t>
            </a:r>
            <a:endParaRPr lang="en-US" sz="1550" dirty="0"/>
          </a:p>
        </p:txBody>
      </p:sp>
      <p:sp>
        <p:nvSpPr>
          <p:cNvPr id="13" name="Text 9"/>
          <p:cNvSpPr txBox="1"/>
          <p:nvPr/>
        </p:nvSpPr>
        <p:spPr>
          <a:xfrm>
            <a:off x="5120640"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Run a new policy against a share of live traffic, or replay it over history before it sees any.</a:t>
            </a:r>
            <a:endParaRPr lang="en-US" sz="1150" dirty="0"/>
          </a:p>
        </p:txBody>
      </p:sp>
      <p:sp>
        <p:nvSpPr>
          <p:cNvPr id="14" name="Shape 10"/>
          <p:cNvSpPr/>
          <p:nvPr/>
        </p:nvSpPr>
        <p:spPr>
          <a:xfrm>
            <a:off x="7936992"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229600" y="2185416"/>
            <a:ext cx="457200" cy="457200"/>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8339328" y="2295144"/>
            <a:ext cx="237744" cy="237744"/>
          </a:xfrm>
          <a:prstGeom prst="rect">
            <a:avLst/>
          </a:prstGeom>
        </p:spPr>
      </p:pic>
      <p:sp>
        <p:nvSpPr>
          <p:cNvPr id="17" name="Text 12"/>
          <p:cNvSpPr txBox="1"/>
          <p:nvPr/>
        </p:nvSpPr>
        <p:spPr>
          <a:xfrm>
            <a:off x="8805672"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Tables from your spreadsheet</a:t>
            </a:r>
            <a:endParaRPr lang="en-US" sz="1550" dirty="0"/>
          </a:p>
        </p:txBody>
      </p:sp>
      <p:sp>
        <p:nvSpPr>
          <p:cNvPr id="18" name="Text 13"/>
          <p:cNvSpPr txBox="1"/>
          <p:nvPr/>
        </p:nvSpPr>
        <p:spPr>
          <a:xfrm>
            <a:off x="8805672"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Import the pricing matrix the team already maintains in Excel; it becomes an executable table.</a:t>
            </a:r>
            <a:endParaRPr lang="en-US" sz="1150" dirty="0"/>
          </a:p>
        </p:txBody>
      </p:sp>
      <p:sp>
        <p:nvSpPr>
          <p:cNvPr id="19" name="Shape 14"/>
          <p:cNvSpPr/>
          <p:nvPr/>
        </p:nvSpPr>
        <p:spPr>
          <a:xfrm>
            <a:off x="566928"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3941064"/>
            <a:ext cx="457200" cy="457200"/>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4050792"/>
            <a:ext cx="237744" cy="237744"/>
          </a:xfrm>
          <a:prstGeom prst="rect">
            <a:avLst/>
          </a:prstGeom>
        </p:spPr>
      </p:pic>
      <p:sp>
        <p:nvSpPr>
          <p:cNvPr id="22" name="Text 16"/>
          <p:cNvSpPr txBox="1"/>
          <p:nvPr/>
        </p:nvSpPr>
        <p:spPr>
          <a:xfrm>
            <a:off x="1435608"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Backtest and what-if</a:t>
            </a:r>
            <a:endParaRPr lang="en-US" sz="1550" dirty="0"/>
          </a:p>
        </p:txBody>
      </p:sp>
      <p:sp>
        <p:nvSpPr>
          <p:cNvPr id="23" name="Text 17"/>
          <p:cNvSpPr txBox="1"/>
          <p:nvPr/>
        </p:nvSpPr>
        <p:spPr>
          <a:xfrm>
            <a:off x="1435608"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Replay a candidate policy across recorded decisions and see exactly which outcomes move.</a:t>
            </a:r>
            <a:endParaRPr lang="en-US" sz="1150" dirty="0"/>
          </a:p>
        </p:txBody>
      </p:sp>
      <p:sp>
        <p:nvSpPr>
          <p:cNvPr id="24" name="Shape 18"/>
          <p:cNvSpPr/>
          <p:nvPr/>
        </p:nvSpPr>
        <p:spPr>
          <a:xfrm>
            <a:off x="4251960"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5" name="Shape 19"/>
          <p:cNvSpPr/>
          <p:nvPr/>
        </p:nvSpPr>
        <p:spPr>
          <a:xfrm>
            <a:off x="4544568" y="3941064"/>
            <a:ext cx="457200" cy="457200"/>
          </a:xfrm>
          <a:prstGeom prst="ellipse">
            <a:avLst/>
          </a:prstGeom>
          <a:solidFill>
            <a:srgbClr val="635BFF"/>
          </a:solidFill>
          <a:ln w="12700">
            <a:solidFill>
              <a:srgbClr val="635BFF"/>
            </a:solidFill>
            <a:prstDash val="solid"/>
          </a:ln>
        </p:spPr>
      </p:sp>
      <p:pic>
        <p:nvPicPr>
          <p:cNvPr id="26" name="Image 4" descr="preencoded.png">    </p:cNvPr>
          <p:cNvPicPr>
            <a:picLocks noChangeAspect="1"/>
          </p:cNvPicPr>
          <p:nvPr/>
        </p:nvPicPr>
        <p:blipFill>
          <a:blip r:embed="rId5"/>
          <a:stretch>
            <a:fillRect/>
          </a:stretch>
        </p:blipFill>
        <p:spPr>
          <a:xfrm>
            <a:off x="4654296" y="4050792"/>
            <a:ext cx="237744" cy="237744"/>
          </a:xfrm>
          <a:prstGeom prst="rect">
            <a:avLst/>
          </a:prstGeom>
        </p:spPr>
      </p:pic>
      <p:sp>
        <p:nvSpPr>
          <p:cNvPr id="27" name="Text 20"/>
          <p:cNvSpPr txBox="1"/>
          <p:nvPr/>
        </p:nvSpPr>
        <p:spPr>
          <a:xfrm>
            <a:off x="5120640"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Drift and monitoring</a:t>
            </a:r>
            <a:endParaRPr lang="en-US" sz="1550" dirty="0"/>
          </a:p>
        </p:txBody>
      </p:sp>
      <p:sp>
        <p:nvSpPr>
          <p:cNvPr id="28" name="Text 21"/>
          <p:cNvSpPr txBox="1"/>
          <p:nvPr/>
        </p:nvSpPr>
        <p:spPr>
          <a:xfrm>
            <a:off x="5120640"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PSI drift on inputs and scores, with error events surfaced rather than swallowed.</a:t>
            </a:r>
            <a:endParaRPr lang="en-US" sz="1150" dirty="0"/>
          </a:p>
        </p:txBody>
      </p:sp>
      <p:sp>
        <p:nvSpPr>
          <p:cNvPr id="29" name="Shape 22"/>
          <p:cNvSpPr/>
          <p:nvPr/>
        </p:nvSpPr>
        <p:spPr>
          <a:xfrm>
            <a:off x="7936992"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0" name="Shape 23"/>
          <p:cNvSpPr/>
          <p:nvPr/>
        </p:nvSpPr>
        <p:spPr>
          <a:xfrm>
            <a:off x="8229600" y="3941064"/>
            <a:ext cx="457200" cy="457200"/>
          </a:xfrm>
          <a:prstGeom prst="ellipse">
            <a:avLst/>
          </a:prstGeom>
          <a:solidFill>
            <a:srgbClr val="635BFF"/>
          </a:solidFill>
          <a:ln w="12700">
            <a:solidFill>
              <a:srgbClr val="635BFF"/>
            </a:solidFill>
            <a:prstDash val="solid"/>
          </a:ln>
        </p:spPr>
      </p:sp>
      <p:pic>
        <p:nvPicPr>
          <p:cNvPr id="31" name="Image 5" descr="preencoded.png">    </p:cNvPr>
          <p:cNvPicPr>
            <a:picLocks noChangeAspect="1"/>
          </p:cNvPicPr>
          <p:nvPr/>
        </p:nvPicPr>
        <p:blipFill>
          <a:blip r:embed="rId6"/>
          <a:stretch>
            <a:fillRect/>
          </a:stretch>
        </p:blipFill>
        <p:spPr>
          <a:xfrm>
            <a:off x="8339328" y="4050792"/>
            <a:ext cx="237744" cy="237744"/>
          </a:xfrm>
          <a:prstGeom prst="rect">
            <a:avLst/>
          </a:prstGeom>
        </p:spPr>
      </p:pic>
      <p:sp>
        <p:nvSpPr>
          <p:cNvPr id="32" name="Text 24"/>
          <p:cNvSpPr txBox="1"/>
          <p:nvPr/>
        </p:nvSpPr>
        <p:spPr>
          <a:xfrm>
            <a:off x="8805672"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AI assists, never decides</a:t>
            </a:r>
            <a:endParaRPr lang="en-US" sz="1550" dirty="0"/>
          </a:p>
        </p:txBody>
      </p:sp>
      <p:sp>
        <p:nvSpPr>
          <p:cNvPr id="33" name="Text 25"/>
          <p:cNvSpPr txBox="1"/>
          <p:nvPr/>
        </p:nvSpPr>
        <p:spPr>
          <a:xfrm>
            <a:off x="8805672"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Bring your own key — Anthropic, OpenAI or Gemini — to draft a rule. It never decides.</a:t>
            </a:r>
            <a:endParaRPr lang="en-US" sz="1150" dirty="0"/>
          </a:p>
        </p:txBody>
      </p:sp>
      <p:sp>
        <p:nvSpPr>
          <p:cNvPr id="34" name="Text 26"/>
          <p:cNvSpPr txBox="1"/>
          <p:nvPr/>
        </p:nvSpPr>
        <p:spPr>
          <a:xfrm>
            <a:off x="566928" y="5577840"/>
            <a:ext cx="10881360" cy="365760"/>
          </a:xfrm>
          <a:prstGeom prst="rect">
            <a:avLst/>
          </a:prstGeom>
          <a:noFill/>
          <a:ln/>
        </p:spPr>
        <p:txBody>
          <a:bodyPr wrap="square" lIns="0" tIns="0" rIns="0" bIns="0" rtlCol="0" anchor="ctr"/>
          <a:lstStyle/>
          <a:p>
            <a:pPr indent="0" marL="0">
              <a:buNone/>
            </a:pPr>
            <a:r>
              <a:rPr lang="en-US" sz="1350" b="1" i="1" dirty="0">
                <a:solidFill>
                  <a:srgbClr val="635BFF"/>
                </a:solidFill>
                <a:latin typeface="Calibri" pitchFamily="34" charset="0"/>
                <a:ea typeface="Calibri" pitchFamily="34" charset="-122"/>
                <a:cs typeface="Calibri" pitchFamily="34" charset="-120"/>
              </a:rPr>
              <a:t>None of the above is a code change. All of it is recorded as an audit event with the actor who did it.</a:t>
            </a:r>
            <a:endParaRPr lang="en-US" sz="1350" dirty="0"/>
          </a:p>
        </p:txBody>
      </p:sp>
      <p:sp>
        <p:nvSpPr>
          <p:cNvPr id="36" name="Text 2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2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HARD PART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engines. One answer. Enforced.</a:t>
            </a:r>
            <a:endParaRPr lang="en-US" sz="3400" dirty="0"/>
          </a:p>
        </p:txBody>
      </p:sp>
      <p:sp>
        <p:nvSpPr>
          <p:cNvPr id="4" name="Text 2"/>
          <p:cNvSpPr txBox="1"/>
          <p:nvPr/>
        </p:nvSpPr>
        <p:spPr>
          <a:xfrm>
            <a:off x="566928" y="1664208"/>
            <a:ext cx="6766560" cy="914400"/>
          </a:xfrm>
          <a:prstGeom prst="rect">
            <a:avLst/>
          </a:prstGeom>
          <a:noFill/>
          <a:ln/>
        </p:spPr>
        <p:txBody>
          <a:bodyPr wrap="square" lIns="0" tIns="0" rIns="0" bIns="0" rtlCol="0" anchor="ctr"/>
          <a:lstStyle/>
          <a:p>
            <a:pPr indent="0" marL="0">
              <a:lnSpc>
                <a:spcPts val="2100"/>
              </a:lnSpc>
              <a:buNone/>
            </a:pPr>
            <a:r>
              <a:rPr lang="en-US" sz="1450" dirty="0">
                <a:solidFill>
                  <a:srgbClr val="9AA3BC"/>
                </a:solidFill>
                <a:latin typeface="Calibri" pitchFamily="34" charset="0"/>
                <a:ea typeface="Calibri" pitchFamily="34" charset="-122"/>
                <a:cs typeface="Calibri" pitchFamily="34" charset="-120"/>
              </a:rPr>
              <a:t>The same policy evaluates in Python on the server, TypeScript in the browser, Rust on the hot path, and Kotlin or Dart on the device — offline. Cross-engine agreement is not a convention here; it is a corpus that fails the build.</a:t>
            </a:r>
            <a:endParaRPr lang="en-US" sz="1450" dirty="0"/>
          </a:p>
        </p:txBody>
      </p:sp>
      <p:sp>
        <p:nvSpPr>
          <p:cNvPr id="5" name="Shape 3"/>
          <p:cNvSpPr/>
          <p:nvPr/>
        </p:nvSpPr>
        <p:spPr>
          <a:xfrm>
            <a:off x="566928" y="2788920"/>
            <a:ext cx="6766560" cy="475488"/>
          </a:xfrm>
          <a:prstGeom prst="roundRect">
            <a:avLst>
              <a:gd name="adj" fmla="val 13462"/>
            </a:avLst>
          </a:prstGeom>
          <a:solidFill>
            <a:srgbClr val="232A45"/>
          </a:solidFill>
          <a:ln w="12700">
            <a:solidFill>
              <a:srgbClr val="232A45"/>
            </a:solidFill>
            <a:prstDash val="solid"/>
          </a:ln>
        </p:spPr>
      </p:sp>
      <p:sp>
        <p:nvSpPr>
          <p:cNvPr id="6" name="Shape 4"/>
          <p:cNvSpPr/>
          <p:nvPr/>
        </p:nvSpPr>
        <p:spPr>
          <a:xfrm>
            <a:off x="804672" y="2944368"/>
            <a:ext cx="164592" cy="164592"/>
          </a:xfrm>
          <a:prstGeom prst="ellipse">
            <a:avLst/>
          </a:prstGeom>
          <a:solidFill>
            <a:srgbClr val="635BFF"/>
          </a:solidFill>
          <a:ln w="12700">
            <a:solidFill>
              <a:srgbClr val="635BFF"/>
            </a:solidFill>
            <a:prstDash val="solid"/>
          </a:ln>
        </p:spPr>
      </p:sp>
      <p:sp>
        <p:nvSpPr>
          <p:cNvPr id="7" name="Text 5"/>
          <p:cNvSpPr txBox="1"/>
          <p:nvPr/>
        </p:nvSpPr>
        <p:spPr>
          <a:xfrm>
            <a:off x="1133856" y="2788920"/>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Python</a:t>
            </a:r>
            <a:endParaRPr lang="en-US" sz="1400" dirty="0"/>
          </a:p>
        </p:txBody>
      </p:sp>
      <p:sp>
        <p:nvSpPr>
          <p:cNvPr id="8" name="Text 6"/>
          <p:cNvSpPr txBox="1"/>
          <p:nvPr/>
        </p:nvSpPr>
        <p:spPr>
          <a:xfrm>
            <a:off x="3035808" y="2788920"/>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server, source of truth</a:t>
            </a:r>
            <a:endParaRPr lang="en-US" sz="1250" dirty="0"/>
          </a:p>
        </p:txBody>
      </p:sp>
      <p:sp>
        <p:nvSpPr>
          <p:cNvPr id="9" name="Shape 7"/>
          <p:cNvSpPr/>
          <p:nvPr/>
        </p:nvSpPr>
        <p:spPr>
          <a:xfrm>
            <a:off x="566928" y="3364992"/>
            <a:ext cx="6766560" cy="475488"/>
          </a:xfrm>
          <a:prstGeom prst="roundRect">
            <a:avLst>
              <a:gd name="adj" fmla="val 13462"/>
            </a:avLst>
          </a:prstGeom>
          <a:solidFill>
            <a:srgbClr val="232A45"/>
          </a:solidFill>
          <a:ln w="12700">
            <a:solidFill>
              <a:srgbClr val="232A45"/>
            </a:solidFill>
            <a:prstDash val="solid"/>
          </a:ln>
        </p:spPr>
      </p:sp>
      <p:sp>
        <p:nvSpPr>
          <p:cNvPr id="10" name="Shape 8"/>
          <p:cNvSpPr/>
          <p:nvPr/>
        </p:nvSpPr>
        <p:spPr>
          <a:xfrm>
            <a:off x="804672" y="3520440"/>
            <a:ext cx="164592" cy="164592"/>
          </a:xfrm>
          <a:prstGeom prst="ellipse">
            <a:avLst/>
          </a:prstGeom>
          <a:solidFill>
            <a:srgbClr val="635BFF"/>
          </a:solidFill>
          <a:ln w="12700">
            <a:solidFill>
              <a:srgbClr val="635BFF"/>
            </a:solidFill>
            <a:prstDash val="solid"/>
          </a:ln>
        </p:spPr>
      </p:sp>
      <p:sp>
        <p:nvSpPr>
          <p:cNvPr id="11" name="Text 9"/>
          <p:cNvSpPr txBox="1"/>
          <p:nvPr/>
        </p:nvSpPr>
        <p:spPr>
          <a:xfrm>
            <a:off x="1133856" y="3364992"/>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TypeScript</a:t>
            </a:r>
            <a:endParaRPr lang="en-US" sz="1400" dirty="0"/>
          </a:p>
        </p:txBody>
      </p:sp>
      <p:sp>
        <p:nvSpPr>
          <p:cNvPr id="12" name="Text 10"/>
          <p:cNvSpPr txBox="1"/>
          <p:nvPr/>
        </p:nvSpPr>
        <p:spPr>
          <a:xfrm>
            <a:off x="3035808" y="3364992"/>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browser preview</a:t>
            </a:r>
            <a:endParaRPr lang="en-US" sz="1250" dirty="0"/>
          </a:p>
        </p:txBody>
      </p:sp>
      <p:sp>
        <p:nvSpPr>
          <p:cNvPr id="13" name="Shape 11"/>
          <p:cNvSpPr/>
          <p:nvPr/>
        </p:nvSpPr>
        <p:spPr>
          <a:xfrm>
            <a:off x="566928" y="3941064"/>
            <a:ext cx="6766560" cy="475488"/>
          </a:xfrm>
          <a:prstGeom prst="roundRect">
            <a:avLst>
              <a:gd name="adj" fmla="val 13462"/>
            </a:avLst>
          </a:prstGeom>
          <a:solidFill>
            <a:srgbClr val="232A45"/>
          </a:solidFill>
          <a:ln w="12700">
            <a:solidFill>
              <a:srgbClr val="232A45"/>
            </a:solidFill>
            <a:prstDash val="solid"/>
          </a:ln>
        </p:spPr>
      </p:sp>
      <p:sp>
        <p:nvSpPr>
          <p:cNvPr id="14" name="Shape 12"/>
          <p:cNvSpPr/>
          <p:nvPr/>
        </p:nvSpPr>
        <p:spPr>
          <a:xfrm>
            <a:off x="804672" y="4096512"/>
            <a:ext cx="164592" cy="164592"/>
          </a:xfrm>
          <a:prstGeom prst="ellipse">
            <a:avLst/>
          </a:prstGeom>
          <a:solidFill>
            <a:srgbClr val="635BFF"/>
          </a:solidFill>
          <a:ln w="12700">
            <a:solidFill>
              <a:srgbClr val="635BFF"/>
            </a:solidFill>
            <a:prstDash val="solid"/>
          </a:ln>
        </p:spPr>
      </p:sp>
      <p:sp>
        <p:nvSpPr>
          <p:cNvPr id="15" name="Text 13"/>
          <p:cNvSpPr txBox="1"/>
          <p:nvPr/>
        </p:nvSpPr>
        <p:spPr>
          <a:xfrm>
            <a:off x="1133856" y="3941064"/>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Rust</a:t>
            </a:r>
            <a:endParaRPr lang="en-US" sz="1400" dirty="0"/>
          </a:p>
        </p:txBody>
      </p:sp>
      <p:sp>
        <p:nvSpPr>
          <p:cNvPr id="16" name="Text 14"/>
          <p:cNvSpPr txBox="1"/>
          <p:nvPr/>
        </p:nvSpPr>
        <p:spPr>
          <a:xfrm>
            <a:off x="3035808" y="3941064"/>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hot path</a:t>
            </a:r>
            <a:endParaRPr lang="en-US" sz="1250" dirty="0"/>
          </a:p>
        </p:txBody>
      </p:sp>
      <p:sp>
        <p:nvSpPr>
          <p:cNvPr id="17" name="Shape 15"/>
          <p:cNvSpPr/>
          <p:nvPr/>
        </p:nvSpPr>
        <p:spPr>
          <a:xfrm>
            <a:off x="566928" y="4517136"/>
            <a:ext cx="6766560" cy="475488"/>
          </a:xfrm>
          <a:prstGeom prst="roundRect">
            <a:avLst>
              <a:gd name="adj" fmla="val 13462"/>
            </a:avLst>
          </a:prstGeom>
          <a:solidFill>
            <a:srgbClr val="232A45"/>
          </a:solidFill>
          <a:ln w="12700">
            <a:solidFill>
              <a:srgbClr val="232A45"/>
            </a:solidFill>
            <a:prstDash val="solid"/>
          </a:ln>
        </p:spPr>
      </p:sp>
      <p:sp>
        <p:nvSpPr>
          <p:cNvPr id="18" name="Shape 16"/>
          <p:cNvSpPr/>
          <p:nvPr/>
        </p:nvSpPr>
        <p:spPr>
          <a:xfrm>
            <a:off x="804672" y="4672584"/>
            <a:ext cx="164592" cy="164592"/>
          </a:xfrm>
          <a:prstGeom prst="ellipse">
            <a:avLst/>
          </a:prstGeom>
          <a:solidFill>
            <a:srgbClr val="635BFF"/>
          </a:solidFill>
          <a:ln w="12700">
            <a:solidFill>
              <a:srgbClr val="635BFF"/>
            </a:solidFill>
            <a:prstDash val="solid"/>
          </a:ln>
        </p:spPr>
      </p:sp>
      <p:sp>
        <p:nvSpPr>
          <p:cNvPr id="19" name="Text 17"/>
          <p:cNvSpPr txBox="1"/>
          <p:nvPr/>
        </p:nvSpPr>
        <p:spPr>
          <a:xfrm>
            <a:off x="1133856" y="4517136"/>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Kotlin</a:t>
            </a:r>
            <a:endParaRPr lang="en-US" sz="1400" dirty="0"/>
          </a:p>
        </p:txBody>
      </p:sp>
      <p:sp>
        <p:nvSpPr>
          <p:cNvPr id="20" name="Text 18"/>
          <p:cNvSpPr txBox="1"/>
          <p:nvPr/>
        </p:nvSpPr>
        <p:spPr>
          <a:xfrm>
            <a:off x="3035808" y="4517136"/>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Android, offline</a:t>
            </a:r>
            <a:endParaRPr lang="en-US" sz="1250" dirty="0"/>
          </a:p>
        </p:txBody>
      </p:sp>
      <p:sp>
        <p:nvSpPr>
          <p:cNvPr id="21" name="Shape 19"/>
          <p:cNvSpPr/>
          <p:nvPr/>
        </p:nvSpPr>
        <p:spPr>
          <a:xfrm>
            <a:off x="566928" y="5093208"/>
            <a:ext cx="6766560" cy="475488"/>
          </a:xfrm>
          <a:prstGeom prst="roundRect">
            <a:avLst>
              <a:gd name="adj" fmla="val 13462"/>
            </a:avLst>
          </a:prstGeom>
          <a:solidFill>
            <a:srgbClr val="232A45"/>
          </a:solidFill>
          <a:ln w="12700">
            <a:solidFill>
              <a:srgbClr val="232A45"/>
            </a:solidFill>
            <a:prstDash val="solid"/>
          </a:ln>
        </p:spPr>
      </p:sp>
      <p:sp>
        <p:nvSpPr>
          <p:cNvPr id="22" name="Shape 20"/>
          <p:cNvSpPr/>
          <p:nvPr/>
        </p:nvSpPr>
        <p:spPr>
          <a:xfrm>
            <a:off x="804672" y="5248656"/>
            <a:ext cx="164592" cy="164592"/>
          </a:xfrm>
          <a:prstGeom prst="ellipse">
            <a:avLst/>
          </a:prstGeom>
          <a:solidFill>
            <a:srgbClr val="635BFF"/>
          </a:solidFill>
          <a:ln w="12700">
            <a:solidFill>
              <a:srgbClr val="635BFF"/>
            </a:solidFill>
            <a:prstDash val="solid"/>
          </a:ln>
        </p:spPr>
      </p:sp>
      <p:sp>
        <p:nvSpPr>
          <p:cNvPr id="23" name="Text 21"/>
          <p:cNvSpPr txBox="1"/>
          <p:nvPr/>
        </p:nvSpPr>
        <p:spPr>
          <a:xfrm>
            <a:off x="1133856" y="5093208"/>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Dart</a:t>
            </a:r>
            <a:endParaRPr lang="en-US" sz="1400" dirty="0"/>
          </a:p>
        </p:txBody>
      </p:sp>
      <p:sp>
        <p:nvSpPr>
          <p:cNvPr id="24" name="Text 22"/>
          <p:cNvSpPr txBox="1"/>
          <p:nvPr/>
        </p:nvSpPr>
        <p:spPr>
          <a:xfrm>
            <a:off x="3035808" y="5093208"/>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Flutter, offline</a:t>
            </a:r>
            <a:endParaRPr lang="en-US" sz="1250" dirty="0"/>
          </a:p>
        </p:txBody>
      </p:sp>
      <p:sp>
        <p:nvSpPr>
          <p:cNvPr id="25" name="Shape 23"/>
          <p:cNvSpPr/>
          <p:nvPr/>
        </p:nvSpPr>
        <p:spPr>
          <a:xfrm>
            <a:off x="7726680" y="1664208"/>
            <a:ext cx="3904488" cy="4114800"/>
          </a:xfrm>
          <a:prstGeom prst="roundRect">
            <a:avLst>
              <a:gd name="adj" fmla="val 2342"/>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26" name="Text 24"/>
          <p:cNvSpPr txBox="1"/>
          <p:nvPr/>
        </p:nvSpPr>
        <p:spPr>
          <a:xfrm>
            <a:off x="8065008" y="1965960"/>
            <a:ext cx="3291840" cy="274320"/>
          </a:xfrm>
          <a:prstGeom prst="rect">
            <a:avLst/>
          </a:prstGeom>
          <a:noFill/>
          <a:ln/>
        </p:spPr>
        <p:txBody>
          <a:bodyPr wrap="square" lIns="0" tIns="0" rIns="0" bIns="0" rtlCol="0" anchor="ctr"/>
          <a:lstStyle/>
          <a:p>
            <a:pPr indent="0" marL="0">
              <a:buNone/>
            </a:pPr>
            <a:r>
              <a:rPr lang="en-US" sz="1050" b="1" spc="200" kern="0" dirty="0">
                <a:solidFill>
                  <a:srgbClr val="635BFF"/>
                </a:solidFill>
                <a:latin typeface="Calibri" pitchFamily="34" charset="0"/>
                <a:ea typeface="Calibri" pitchFamily="34" charset="-122"/>
                <a:cs typeface="Calibri" pitchFamily="34" charset="-120"/>
              </a:rPr>
              <a:t>THE CORPUS</a:t>
            </a:r>
            <a:endParaRPr lang="en-US" sz="1050" dirty="0"/>
          </a:p>
        </p:txBody>
      </p:sp>
      <p:sp>
        <p:nvSpPr>
          <p:cNvPr id="27" name="Text 25"/>
          <p:cNvSpPr txBox="1"/>
          <p:nvPr/>
        </p:nvSpPr>
        <p:spPr>
          <a:xfrm>
            <a:off x="8065008" y="2377440"/>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600</a:t>
            </a:r>
            <a:endParaRPr lang="en-US" sz="2800" dirty="0"/>
          </a:p>
        </p:txBody>
      </p:sp>
      <p:sp>
        <p:nvSpPr>
          <p:cNvPr id="28" name="Text 26"/>
          <p:cNvSpPr txBox="1"/>
          <p:nvPr/>
        </p:nvSpPr>
        <p:spPr>
          <a:xfrm>
            <a:off x="8065008" y="2807208"/>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conditions in a single generated rule</a:t>
            </a:r>
            <a:endParaRPr lang="en-US" sz="1150" dirty="0"/>
          </a:p>
        </p:txBody>
      </p:sp>
      <p:sp>
        <p:nvSpPr>
          <p:cNvPr id="29" name="Text 27"/>
          <p:cNvSpPr txBox="1"/>
          <p:nvPr/>
        </p:nvSpPr>
        <p:spPr>
          <a:xfrm>
            <a:off x="8065008" y="3310128"/>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135</a:t>
            </a:r>
            <a:endParaRPr lang="en-US" sz="2800" dirty="0"/>
          </a:p>
        </p:txBody>
      </p:sp>
      <p:sp>
        <p:nvSpPr>
          <p:cNvPr id="30" name="Text 28"/>
          <p:cNvSpPr txBox="1"/>
          <p:nvPr/>
        </p:nvSpPr>
        <p:spPr>
          <a:xfrm>
            <a:off x="8065008" y="3739896"/>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input cases run through all five</a:t>
            </a:r>
            <a:endParaRPr lang="en-US" sz="1150" dirty="0"/>
          </a:p>
        </p:txBody>
      </p:sp>
      <p:sp>
        <p:nvSpPr>
          <p:cNvPr id="31" name="Text 29"/>
          <p:cNvSpPr txBox="1"/>
          <p:nvPr/>
        </p:nvSpPr>
        <p:spPr>
          <a:xfrm>
            <a:off x="8065008" y="4242816"/>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1.6 MB</a:t>
            </a:r>
            <a:endParaRPr lang="en-US" sz="2800" dirty="0"/>
          </a:p>
        </p:txBody>
      </p:sp>
      <p:sp>
        <p:nvSpPr>
          <p:cNvPr id="32" name="Text 30"/>
          <p:cNvSpPr txBox="1"/>
          <p:nvPr/>
        </p:nvSpPr>
        <p:spPr>
          <a:xfrm>
            <a:off x="8065008" y="4672584"/>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of expected outputs, generated not typed</a:t>
            </a:r>
            <a:endParaRPr lang="en-US" sz="1150" dirty="0"/>
          </a:p>
        </p:txBody>
      </p:sp>
      <p:sp>
        <p:nvSpPr>
          <p:cNvPr id="33" name="Text 31"/>
          <p:cNvSpPr txBox="1"/>
          <p:nvPr/>
        </p:nvSpPr>
        <p:spPr>
          <a:xfrm>
            <a:off x="8065008" y="5230368"/>
            <a:ext cx="3246120" cy="365760"/>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Disagree on one case and the build fails.</a:t>
            </a:r>
            <a:endParaRPr lang="en-US" sz="1200" dirty="0"/>
          </a:p>
        </p:txBody>
      </p:sp>
      <p:sp>
        <p:nvSpPr>
          <p:cNvPr id="34" name="Text 32"/>
          <p:cNvSpPr txBox="1"/>
          <p:nvPr/>
        </p:nvSpPr>
        <p:spPr>
          <a:xfrm>
            <a:off x="566928" y="5760720"/>
            <a:ext cx="10881360" cy="411480"/>
          </a:xfrm>
          <a:prstGeom prst="rect">
            <a:avLst/>
          </a:prstGeom>
          <a:noFill/>
          <a:ln/>
        </p:spPr>
        <p:txBody>
          <a:bodyPr wrap="square" lIns="0" tIns="0" rIns="0" bIns="0" rtlCol="0" anchor="ctr"/>
          <a:lstStyle/>
          <a:p>
            <a:pPr indent="0" marL="0">
              <a:lnSpc>
                <a:spcPts val="1800"/>
              </a:lnSpc>
              <a:buNone/>
            </a:pPr>
            <a:r>
              <a:rPr lang="en-US" sz="1250" dirty="0">
                <a:solidFill>
                  <a:srgbClr val="9AA3BC"/>
                </a:solidFill>
                <a:latin typeface="Calibri" pitchFamily="34" charset="0"/>
                <a:ea typeface="Calibri" pitchFamily="34" charset="-122"/>
                <a:cs typeface="Calibri" pitchFamily="34" charset="-120"/>
              </a:rPr>
              <a:t>Why it matters to you: the score your branch app shows offline is the score your server recorded. No “the mobile engine rounds differently” incident, because that incident fails CI.</a:t>
            </a:r>
            <a:endParaRPr lang="en-US" sz="1250" dirty="0"/>
          </a:p>
        </p:txBody>
      </p:sp>
      <p:sp>
        <p:nvSpPr>
          <p:cNvPr id="36" name="Text 3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3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EVIDENCE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Proof you can re-run yourself</a:t>
            </a:r>
            <a:endParaRPr lang="en-US" sz="3400" dirty="0"/>
          </a:p>
        </p:txBody>
      </p:sp>
      <p:sp>
        <p:nvSpPr>
          <p:cNvPr id="4" name="Shape 2"/>
          <p:cNvSpPr/>
          <p:nvPr/>
        </p:nvSpPr>
        <p:spPr>
          <a:xfrm>
            <a:off x="566928"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Text 3"/>
          <p:cNvSpPr txBox="1"/>
          <p:nvPr/>
        </p:nvSpPr>
        <p:spPr>
          <a:xfrm>
            <a:off x="914400"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4,608</a:t>
            </a:r>
            <a:endParaRPr lang="en-US" sz="3400" dirty="0"/>
          </a:p>
        </p:txBody>
      </p:sp>
      <p:sp>
        <p:nvSpPr>
          <p:cNvPr id="6" name="Text 4"/>
          <p:cNvSpPr txBox="1"/>
          <p:nvPr/>
        </p:nvSpPr>
        <p:spPr>
          <a:xfrm>
            <a:off x="914400"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tests across 11 lanes</a:t>
            </a:r>
            <a:endParaRPr lang="en-US" sz="1250" dirty="0"/>
          </a:p>
        </p:txBody>
      </p:sp>
      <p:sp>
        <p:nvSpPr>
          <p:cNvPr id="7" name="Text 5"/>
          <p:cNvSpPr txBox="1"/>
          <p:nvPr/>
        </p:nvSpPr>
        <p:spPr>
          <a:xfrm>
            <a:off x="914400"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all green</a:t>
            </a:r>
            <a:endParaRPr lang="en-US" sz="1150" dirty="0"/>
          </a:p>
        </p:txBody>
      </p:sp>
      <p:sp>
        <p:nvSpPr>
          <p:cNvPr id="8" name="Shape 6"/>
          <p:cNvSpPr/>
          <p:nvPr/>
        </p:nvSpPr>
        <p:spPr>
          <a:xfrm>
            <a:off x="4251960"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7"/>
          <p:cNvSpPr txBox="1"/>
          <p:nvPr/>
        </p:nvSpPr>
        <p:spPr>
          <a:xfrm>
            <a:off x="4599432"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21 / 22</a:t>
            </a:r>
            <a:endParaRPr lang="en-US" sz="3400" dirty="0"/>
          </a:p>
        </p:txBody>
      </p:sp>
      <p:sp>
        <p:nvSpPr>
          <p:cNvPr id="10" name="Text 8"/>
          <p:cNvSpPr txBox="1"/>
          <p:nvPr/>
        </p:nvSpPr>
        <p:spPr>
          <a:xfrm>
            <a:off x="4599432"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capability rows evidenced</a:t>
            </a:r>
            <a:endParaRPr lang="en-US" sz="1250" dirty="0"/>
          </a:p>
        </p:txBody>
      </p:sp>
      <p:sp>
        <p:nvSpPr>
          <p:cNvPr id="11" name="Text 9"/>
          <p:cNvSpPr txBox="1"/>
          <p:nvPr/>
        </p:nvSpPr>
        <p:spPr>
          <a:xfrm>
            <a:off x="4599432"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0 absent</a:t>
            </a:r>
            <a:endParaRPr lang="en-US" sz="1150" dirty="0"/>
          </a:p>
        </p:txBody>
      </p:sp>
      <p:sp>
        <p:nvSpPr>
          <p:cNvPr id="12" name="Shape 10"/>
          <p:cNvSpPr/>
          <p:nvPr/>
        </p:nvSpPr>
        <p:spPr>
          <a:xfrm>
            <a:off x="7936992"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3" name="Text 11"/>
          <p:cNvSpPr txBox="1"/>
          <p:nvPr/>
        </p:nvSpPr>
        <p:spPr>
          <a:xfrm>
            <a:off x="8284464"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a:t>
            </a:r>
            <a:endParaRPr lang="en-US" sz="3400" dirty="0"/>
          </a:p>
        </p:txBody>
      </p:sp>
      <p:sp>
        <p:nvSpPr>
          <p:cNvPr id="14" name="Text 12"/>
          <p:cNvSpPr txBox="1"/>
          <p:nvPr/>
        </p:nvSpPr>
        <p:spPr>
          <a:xfrm>
            <a:off x="8284464"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database lanes</a:t>
            </a:r>
            <a:endParaRPr lang="en-US" sz="1250" dirty="0"/>
          </a:p>
        </p:txBody>
      </p:sp>
      <p:sp>
        <p:nvSpPr>
          <p:cNvPr id="15" name="Text 13"/>
          <p:cNvSpPr txBox="1"/>
          <p:nvPr/>
        </p:nvSpPr>
        <p:spPr>
          <a:xfrm>
            <a:off x="8284464"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SQLite + PostgreSQL 16</a:t>
            </a:r>
            <a:endParaRPr lang="en-US" sz="1150" dirty="0"/>
          </a:p>
        </p:txBody>
      </p:sp>
      <p:graphicFrame>
        <p:nvGraphicFramePr>
          <p:cNvPr id="16" name="Chart 0" descr=""/>
          <p:cNvGraphicFramePr/>
          <p:nvPr/>
        </p:nvGraphicFramePr>
        <p:xfrm>
          <a:off x="566928" y="3401568"/>
          <a:ext cx="6537960" cy="2487168"/>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7315200" y="3401568"/>
            <a:ext cx="4315968" cy="2487168"/>
          </a:xfrm>
          <a:prstGeom prst="roundRect">
            <a:avLst>
              <a:gd name="adj" fmla="val 3676"/>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8" name="Text 15"/>
          <p:cNvSpPr txBox="1"/>
          <p:nvPr/>
        </p:nvSpPr>
        <p:spPr>
          <a:xfrm>
            <a:off x="7644384" y="3602736"/>
            <a:ext cx="3657600" cy="320040"/>
          </a:xfrm>
          <a:prstGeom prst="rect">
            <a:avLst/>
          </a:prstGeom>
          <a:noFill/>
          <a:ln/>
        </p:spPr>
        <p:txBody>
          <a:bodyPr wrap="square" lIns="0" tIns="0" rIns="0" bIns="0" rtlCol="0" anchor="ctr"/>
          <a:lstStyle/>
          <a:p>
            <a:pPr indent="0" marL="0">
              <a:buNone/>
            </a:pPr>
            <a:r>
              <a:rPr lang="en-US" sz="1600" b="1" dirty="0">
                <a:solidFill>
                  <a:srgbClr val="141A2E"/>
                </a:solidFill>
                <a:latin typeface="Cambria" pitchFamily="34" charset="0"/>
                <a:ea typeface="Cambria" pitchFamily="34" charset="-122"/>
                <a:cs typeface="Cambria" pitchFamily="34" charset="-120"/>
              </a:rPr>
              <a:t>What “proven” means here</a:t>
            </a:r>
            <a:endParaRPr lang="en-US" sz="1600" dirty="0"/>
          </a:p>
        </p:txBody>
      </p:sp>
      <p:sp>
        <p:nvSpPr>
          <p:cNvPr id="19" name="Text 16"/>
          <p:cNvSpPr txBox="1"/>
          <p:nvPr/>
        </p:nvSpPr>
        <p:spPr>
          <a:xfrm>
            <a:off x="7644384" y="4005072"/>
            <a:ext cx="365760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Test expectations are generated from the reference engine, not hand-written to match.</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Every capability claim cites a file and line that the build re-resolves.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A fix is checked by breaking it again and confirming a named test fails.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The report is committed and regenerable: one command, same numbers.</a:t>
            </a:r>
            <a:endParaRPr lang="en-US" sz="1150" dirty="0"/>
          </a:p>
        </p:txBody>
      </p:sp>
      <p:sp>
        <p:nvSpPr>
          <p:cNvPr id="21"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2"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MEASURED</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Fast, and small enough to run anywhere</a:t>
            </a:r>
            <a:endParaRPr lang="en-US" sz="3400" dirty="0"/>
          </a:p>
        </p:txBody>
      </p:sp>
      <p:graphicFrame>
        <p:nvGraphicFramePr>
          <p:cNvPr id="4" name="Chart 0" descr=""/>
          <p:cNvGraphicFramePr/>
          <p:nvPr/>
        </p:nvGraphicFramePr>
        <p:xfrm>
          <a:off x="566928" y="1828800"/>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46520" y="1828800"/>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Text 3"/>
          <p:cNvSpPr txBox="1"/>
          <p:nvPr/>
        </p:nvSpPr>
        <p:spPr>
          <a:xfrm>
            <a:off x="6784848" y="1901952"/>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19.78 ms</a:t>
            </a:r>
            <a:endParaRPr lang="en-US" sz="2300" dirty="0"/>
          </a:p>
        </p:txBody>
      </p:sp>
      <p:sp>
        <p:nvSpPr>
          <p:cNvPr id="7" name="Text 4"/>
          <p:cNvSpPr txBox="1"/>
          <p:nvPr/>
        </p:nvSpPr>
        <p:spPr>
          <a:xfrm>
            <a:off x="8549640" y="1901952"/>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median decision, end to end over HTTP</a:t>
            </a:r>
            <a:endParaRPr lang="en-US" sz="1150" dirty="0"/>
          </a:p>
        </p:txBody>
      </p:sp>
      <p:sp>
        <p:nvSpPr>
          <p:cNvPr id="8" name="Shape 5"/>
          <p:cNvSpPr/>
          <p:nvPr/>
        </p:nvSpPr>
        <p:spPr>
          <a:xfrm>
            <a:off x="6446520" y="2779776"/>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6"/>
          <p:cNvSpPr txBox="1"/>
          <p:nvPr/>
        </p:nvSpPr>
        <p:spPr>
          <a:xfrm>
            <a:off x="6784848" y="2852928"/>
            <a:ext cx="1737360" cy="502920"/>
          </a:xfrm>
          <a:prstGeom prst="rect">
            <a:avLst/>
          </a:prstGeom>
          <a:noFill/>
          <a:ln/>
        </p:spPr>
        <p:txBody>
          <a:bodyPr wrap="square" lIns="0" tIns="0" rIns="0" bIns="0" rtlCol="0" anchor="ctr"/>
          <a:lstStyle/>
          <a:p>
            <a:pPr indent="0" marL="0">
              <a:buNone/>
            </a:pPr>
            <a:r>
              <a:rPr lang="en-US" sz="2300" b="1" dirty="0">
                <a:solidFill>
                  <a:srgbClr val="0E9F6E"/>
                </a:solidFill>
                <a:latin typeface="Calibri" pitchFamily="34" charset="0"/>
                <a:ea typeface="Calibri" pitchFamily="34" charset="-122"/>
                <a:cs typeface="Calibri" pitchFamily="34" charset="-120"/>
              </a:rPr>
              <a:t>232 MB</a:t>
            </a:r>
            <a:endParaRPr lang="en-US" sz="2300" dirty="0"/>
          </a:p>
        </p:txBody>
      </p:sp>
      <p:sp>
        <p:nvSpPr>
          <p:cNvPr id="10" name="Text 7"/>
          <p:cNvSpPr txBox="1"/>
          <p:nvPr/>
        </p:nvSpPr>
        <p:spPr>
          <a:xfrm>
            <a:off x="8549640" y="2852928"/>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dashboard container, down from 2.54 GB</a:t>
            </a:r>
            <a:endParaRPr lang="en-US" sz="1150" dirty="0"/>
          </a:p>
        </p:txBody>
      </p:sp>
      <p:sp>
        <p:nvSpPr>
          <p:cNvPr id="11" name="Shape 8"/>
          <p:cNvSpPr/>
          <p:nvPr/>
        </p:nvSpPr>
        <p:spPr>
          <a:xfrm>
            <a:off x="6446520" y="3730752"/>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Text 9"/>
          <p:cNvSpPr txBox="1"/>
          <p:nvPr/>
        </p:nvSpPr>
        <p:spPr>
          <a:xfrm>
            <a:off x="6784848" y="3803904"/>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~350 MB</a:t>
            </a:r>
            <a:endParaRPr lang="en-US" sz="2300" dirty="0"/>
          </a:p>
        </p:txBody>
      </p:sp>
      <p:sp>
        <p:nvSpPr>
          <p:cNvPr id="13" name="Text 10"/>
          <p:cNvSpPr txBox="1"/>
          <p:nvPr/>
        </p:nvSpPr>
        <p:spPr>
          <a:xfrm>
            <a:off x="8549640" y="3803904"/>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API container resident, two workers</a:t>
            </a:r>
            <a:endParaRPr lang="en-US" sz="1150" dirty="0"/>
          </a:p>
        </p:txBody>
      </p:sp>
      <p:sp>
        <p:nvSpPr>
          <p:cNvPr id="14" name="Shape 11"/>
          <p:cNvSpPr/>
          <p:nvPr/>
        </p:nvSpPr>
        <p:spPr>
          <a:xfrm>
            <a:off x="6446520" y="4681728"/>
            <a:ext cx="5184648" cy="1115568"/>
          </a:xfrm>
          <a:prstGeom prst="roundRect">
            <a:avLst>
              <a:gd name="adj" fmla="val 8197"/>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5" name="Text 12"/>
          <p:cNvSpPr txBox="1"/>
          <p:nvPr/>
        </p:nvSpPr>
        <p:spPr>
          <a:xfrm>
            <a:off x="6784848" y="4828032"/>
            <a:ext cx="45720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footprint is the deployment story</a:t>
            </a:r>
            <a:endParaRPr lang="en-US" sz="1250" dirty="0"/>
          </a:p>
        </p:txBody>
      </p:sp>
      <p:sp>
        <p:nvSpPr>
          <p:cNvPr id="16" name="Text 13"/>
          <p:cNvSpPr txBox="1"/>
          <p:nvPr/>
        </p:nvSpPr>
        <p:spPr>
          <a:xfrm>
            <a:off x="6784848" y="5120640"/>
            <a:ext cx="4572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 232 MB image runs on a laptop, a single VM, or three pods. You are not buying a cluster in order to run a pilot.</a:t>
            </a:r>
            <a:endParaRPr lang="en-US" sz="1150" dirty="0"/>
          </a:p>
        </p:txBody>
      </p:sp>
      <p:sp>
        <p:nvSpPr>
          <p:cNvPr id="17" name="Text 14"/>
          <p:cNvSpPr txBox="1"/>
          <p:nvPr/>
        </p:nvSpPr>
        <p:spPr>
          <a:xfrm>
            <a:off x="566928" y="4846320"/>
            <a:ext cx="5486400" cy="731520"/>
          </a:xfrm>
          <a:prstGeom prst="rect">
            <a:avLst/>
          </a:prstGeom>
          <a:noFill/>
          <a:ln/>
        </p:spPr>
        <p:txBody>
          <a:bodyPr wrap="square" lIns="0" tIns="0" rIns="0" bIns="0" rtlCol="0" anchor="ctr"/>
          <a:lstStyle/>
          <a:p>
            <a:pPr indent="0" marL="0">
              <a:lnSpc>
                <a:spcPts val="1600"/>
              </a:lnSpc>
              <a:buNone/>
            </a:pPr>
            <a:r>
              <a:rPr lang="en-US" sz="1100" i="1" dirty="0">
                <a:solidFill>
                  <a:srgbClr val="4F566B"/>
                </a:solidFill>
                <a:latin typeface="Calibri" pitchFamily="34" charset="0"/>
                <a:ea typeface="Calibri" pitchFamily="34" charset="-122"/>
                <a:cs typeface="Calibri" pitchFamily="34" charset="-120"/>
              </a:rPr>
              <a:t>Measured on a developer laptop against the seeded demo tenant — a floor, not a ceiling. Your own numbers come from the same benchmark script, on your hardware.</a:t>
            </a:r>
            <a:endParaRPr lang="en-US" sz="1100" dirty="0"/>
          </a:p>
        </p:txBody>
      </p:sp>
      <p:sp>
        <p:nvSpPr>
          <p:cNvPr id="19" name="Text 15"/>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6"/>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GOVERNANCE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Built for the conversation after the decision</a:t>
            </a:r>
            <a:endParaRPr lang="en-US" sz="3400" dirty="0"/>
          </a:p>
        </p:txBody>
      </p:sp>
      <p:sp>
        <p:nvSpPr>
          <p:cNvPr id="4" name="Shape 2"/>
          <p:cNvSpPr/>
          <p:nvPr/>
        </p:nvSpPr>
        <p:spPr>
          <a:xfrm>
            <a:off x="566928" y="1755648"/>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002536"/>
            <a:ext cx="438912" cy="438912"/>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112264"/>
            <a:ext cx="219456" cy="219456"/>
          </a:xfrm>
          <a:prstGeom prst="rect">
            <a:avLst/>
          </a:prstGeom>
        </p:spPr>
      </p:pic>
      <p:sp>
        <p:nvSpPr>
          <p:cNvPr id="7" name="Text 4"/>
          <p:cNvSpPr txBox="1"/>
          <p:nvPr/>
        </p:nvSpPr>
        <p:spPr>
          <a:xfrm>
            <a:off x="1435608" y="1874520"/>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Tamper-evident audit chain</a:t>
            </a:r>
            <a:endParaRPr lang="en-US" sz="1500" dirty="0"/>
          </a:p>
        </p:txBody>
      </p:sp>
      <p:sp>
        <p:nvSpPr>
          <p:cNvPr id="8" name="Text 5"/>
          <p:cNvSpPr txBox="1"/>
          <p:nvPr/>
        </p:nvSpPr>
        <p:spPr>
          <a:xfrm>
            <a:off x="4727448" y="1847088"/>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Each audit record is hash-chained to the one before it, so a silent edit does not verify. We say tamper-evident, not immutable — an operator with database write access could recompute the chain. Detection, honestly described.</a:t>
            </a:r>
            <a:endParaRPr lang="en-US" sz="1100" dirty="0"/>
          </a:p>
        </p:txBody>
      </p:sp>
      <p:sp>
        <p:nvSpPr>
          <p:cNvPr id="9" name="Shape 6"/>
          <p:cNvSpPr/>
          <p:nvPr/>
        </p:nvSpPr>
        <p:spPr>
          <a:xfrm>
            <a:off x="566928" y="2779776"/>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859536" y="3026664"/>
            <a:ext cx="438912" cy="438912"/>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969264" y="3136392"/>
            <a:ext cx="219456" cy="219456"/>
          </a:xfrm>
          <a:prstGeom prst="rect">
            <a:avLst/>
          </a:prstGeom>
        </p:spPr>
      </p:pic>
      <p:sp>
        <p:nvSpPr>
          <p:cNvPr id="12" name="Text 8"/>
          <p:cNvSpPr txBox="1"/>
          <p:nvPr/>
        </p:nvSpPr>
        <p:spPr>
          <a:xfrm>
            <a:off x="1435608" y="2898648"/>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Five roles, checked per endpoint</a:t>
            </a:r>
            <a:endParaRPr lang="en-US" sz="1500" dirty="0"/>
          </a:p>
        </p:txBody>
      </p:sp>
      <p:sp>
        <p:nvSpPr>
          <p:cNvPr id="13" name="Text 9"/>
          <p:cNvSpPr txBox="1"/>
          <p:nvPr/>
        </p:nvSpPr>
        <p:spPr>
          <a:xfrm>
            <a:off x="4727448" y="2871216"/>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Owner, admin, policy_maker, reviewer and viewer — enforced at the API by capability, not hidden in the UI, and tested as a matrix rather than a single happy path.</a:t>
            </a:r>
            <a:endParaRPr lang="en-US" sz="1100" dirty="0"/>
          </a:p>
        </p:txBody>
      </p:sp>
      <p:sp>
        <p:nvSpPr>
          <p:cNvPr id="14" name="Shape 10"/>
          <p:cNvSpPr/>
          <p:nvPr/>
        </p:nvSpPr>
        <p:spPr>
          <a:xfrm>
            <a:off x="566928" y="3803904"/>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59536" y="4050792"/>
            <a:ext cx="438912" cy="438912"/>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969264" y="4160520"/>
            <a:ext cx="219456" cy="219456"/>
          </a:xfrm>
          <a:prstGeom prst="rect">
            <a:avLst/>
          </a:prstGeom>
        </p:spPr>
      </p:pic>
      <p:sp>
        <p:nvSpPr>
          <p:cNvPr id="17" name="Text 12"/>
          <p:cNvSpPr txBox="1"/>
          <p:nvPr/>
        </p:nvSpPr>
        <p:spPr>
          <a:xfrm>
            <a:off x="1435608" y="3922776"/>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Tenant isolation as a test, not a promise</a:t>
            </a:r>
            <a:endParaRPr lang="en-US" sz="1500" dirty="0"/>
          </a:p>
        </p:txBody>
      </p:sp>
      <p:sp>
        <p:nvSpPr>
          <p:cNvPr id="18" name="Text 13"/>
          <p:cNvSpPr txBox="1"/>
          <p:nvPr/>
        </p:nvSpPr>
        <p:spPr>
          <a:xfrm>
            <a:off x="4727448" y="3895344"/>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Every stored object carries a tenant, and cross-tenant reads are a standing negative test on each capability — the case that must fail.</a:t>
            </a:r>
            <a:endParaRPr lang="en-US" sz="1100" dirty="0"/>
          </a:p>
        </p:txBody>
      </p:sp>
      <p:sp>
        <p:nvSpPr>
          <p:cNvPr id="19" name="Shape 14"/>
          <p:cNvSpPr/>
          <p:nvPr/>
        </p:nvSpPr>
        <p:spPr>
          <a:xfrm>
            <a:off x="566928" y="4828032"/>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5074920"/>
            <a:ext cx="438912" cy="438912"/>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5184648"/>
            <a:ext cx="219456" cy="219456"/>
          </a:xfrm>
          <a:prstGeom prst="rect">
            <a:avLst/>
          </a:prstGeom>
        </p:spPr>
      </p:pic>
      <p:sp>
        <p:nvSpPr>
          <p:cNvPr id="22" name="Text 16"/>
          <p:cNvSpPr txBox="1"/>
          <p:nvPr/>
        </p:nvSpPr>
        <p:spPr>
          <a:xfrm>
            <a:off x="1435608" y="4946904"/>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Never lose a decision event</a:t>
            </a:r>
            <a:endParaRPr lang="en-US" sz="1500" dirty="0"/>
          </a:p>
        </p:txBody>
      </p:sp>
      <p:sp>
        <p:nvSpPr>
          <p:cNvPr id="23" name="Text 17"/>
          <p:cNvSpPr txBox="1"/>
          <p:nvPr/>
        </p:nvSpPr>
        <p:spPr>
          <a:xfrm>
            <a:off x="4727448" y="4919472"/>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The decision and its outbox record commit in one database transaction, relayed with an idempotent producer and a dead-letter path. At-least-once delivery with idempotent consumption — redelivery does not double-log.</a:t>
            </a:r>
            <a:endParaRPr lang="en-US" sz="1100" dirty="0"/>
          </a:p>
        </p:txBody>
      </p:sp>
      <p:sp>
        <p:nvSpPr>
          <p:cNvPr id="24" name="Text 18"/>
          <p:cNvSpPr txBox="1"/>
          <p:nvPr/>
        </p:nvSpPr>
        <p:spPr>
          <a:xfrm>
            <a:off x="566928" y="5870448"/>
            <a:ext cx="10881360" cy="329184"/>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Where a claim has a limit, the limit is on the slide. Your security review will find it anyway; better it finds we already said so.</a:t>
            </a:r>
            <a:endParaRPr lang="en-US" sz="1200" dirty="0"/>
          </a:p>
        </p:txBody>
      </p:sp>
      <p:sp>
        <p:nvSpPr>
          <p:cNvPr id="26"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7"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DEPLOYMENT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It runs inside your perimeter</a:t>
            </a:r>
            <a:endParaRPr lang="en-US" sz="3400" dirty="0"/>
          </a:p>
        </p:txBody>
      </p:sp>
      <p:sp>
        <p:nvSpPr>
          <p:cNvPr id="4" name="Text 2"/>
          <p:cNvSpPr txBox="1"/>
          <p:nvPr/>
        </p:nvSpPr>
        <p:spPr>
          <a:xfrm>
            <a:off x="566928" y="1664208"/>
            <a:ext cx="8686800" cy="640080"/>
          </a:xfrm>
          <a:prstGeom prst="rect">
            <a:avLst/>
          </a:prstGeom>
          <a:noFill/>
          <a:ln/>
        </p:spPr>
        <p:txBody>
          <a:bodyPr wrap="square" lIns="0" tIns="0" rIns="0" bIns="0" rtlCol="0" anchor="ctr"/>
          <a:lstStyle/>
          <a:p>
            <a:pPr indent="0" marL="0">
              <a:lnSpc>
                <a:spcPts val="2000"/>
              </a:lnSpc>
              <a:buNone/>
            </a:pPr>
            <a:r>
              <a:rPr lang="en-US" sz="1400" dirty="0">
                <a:solidFill>
                  <a:srgbClr val="9AA3BC"/>
                </a:solidFill>
                <a:latin typeface="Calibri" pitchFamily="34" charset="0"/>
                <a:ea typeface="Calibri" pitchFamily="34" charset="-122"/>
                <a:cs typeface="Calibri" pitchFamily="34" charset="-120"/>
              </a:rPr>
              <a:t>No vendor cloud, no data leaving your network, no per-decision metering. Two supported paths, each with a committed smoke test that proves the install rather than describing it.</a:t>
            </a:r>
            <a:endParaRPr lang="en-US" sz="1400" dirty="0"/>
          </a:p>
        </p:txBody>
      </p:sp>
      <p:sp>
        <p:nvSpPr>
          <p:cNvPr id="5" name="Shape 3"/>
          <p:cNvSpPr/>
          <p:nvPr/>
        </p:nvSpPr>
        <p:spPr>
          <a:xfrm>
            <a:off x="56692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788920"/>
            <a:ext cx="493776" cy="493776"/>
          </a:xfrm>
          <a:prstGeom prst="ellipse">
            <a:avLst/>
          </a:prstGeom>
          <a:solidFill>
            <a:srgbClr val="635BFF"/>
          </a:solidFill>
          <a:ln w="12700">
            <a:solidFill>
              <a:srgbClr val="635BFF"/>
            </a:solidFill>
            <a:prstDash val="solid"/>
          </a:ln>
        </p:spPr>
      </p:sp>
      <p:pic>
        <p:nvPicPr>
          <p:cNvPr id="7" name="Image 0" descr="preencoded.png">    </p:cNvPr>
          <p:cNvPicPr>
            <a:picLocks noChangeAspect="1"/>
          </p:cNvPicPr>
          <p:nvPr/>
        </p:nvPicPr>
        <p:blipFill>
          <a:blip r:embed="rId1"/>
          <a:stretch>
            <a:fillRect/>
          </a:stretch>
        </p:blipFill>
        <p:spPr>
          <a:xfrm>
            <a:off x="1069848" y="2907792"/>
            <a:ext cx="256032" cy="256032"/>
          </a:xfrm>
          <a:prstGeom prst="rect">
            <a:avLst/>
          </a:prstGeom>
        </p:spPr>
      </p:pic>
      <p:sp>
        <p:nvSpPr>
          <p:cNvPr id="8" name="Text 5"/>
          <p:cNvSpPr txBox="1"/>
          <p:nvPr/>
        </p:nvSpPr>
        <p:spPr>
          <a:xfrm>
            <a:off x="157276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Docker Compose</a:t>
            </a:r>
            <a:endParaRPr lang="en-US" sz="1900" dirty="0"/>
          </a:p>
        </p:txBody>
      </p:sp>
      <p:sp>
        <p:nvSpPr>
          <p:cNvPr id="9" name="Text 6"/>
          <p:cNvSpPr txBox="1"/>
          <p:nvPr/>
        </p:nvSpPr>
        <p:spPr>
          <a:xfrm>
            <a:off x="381304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up</a:t>
            </a:r>
            <a:endParaRPr lang="en-US" sz="1300" dirty="0"/>
          </a:p>
        </p:txBody>
      </p:sp>
      <p:sp>
        <p:nvSpPr>
          <p:cNvPr id="10" name="Text 7"/>
          <p:cNvSpPr txBox="1"/>
          <p:nvPr/>
        </p:nvSpPr>
        <p:spPr>
          <a:xfrm>
            <a:off x="97840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API, dashboard, worker, PostgreSQL and Redis</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One command from clone to a decision</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14-check smoke test included</a:t>
            </a:r>
            <a:endParaRPr lang="en-US" sz="1200" dirty="0"/>
          </a:p>
        </p:txBody>
      </p:sp>
      <p:sp>
        <p:nvSpPr>
          <p:cNvPr id="11" name="Shape 8"/>
          <p:cNvSpPr/>
          <p:nvPr/>
        </p:nvSpPr>
        <p:spPr>
          <a:xfrm>
            <a:off x="619048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6574536" y="2788920"/>
            <a:ext cx="493776" cy="493776"/>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6693408" y="2907792"/>
            <a:ext cx="256032" cy="256032"/>
          </a:xfrm>
          <a:prstGeom prst="rect">
            <a:avLst/>
          </a:prstGeom>
        </p:spPr>
      </p:pic>
      <p:sp>
        <p:nvSpPr>
          <p:cNvPr id="14" name="Text 10"/>
          <p:cNvSpPr txBox="1"/>
          <p:nvPr/>
        </p:nvSpPr>
        <p:spPr>
          <a:xfrm>
            <a:off x="719632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Kubernetes</a:t>
            </a:r>
            <a:endParaRPr lang="en-US" sz="1900" dirty="0"/>
          </a:p>
        </p:txBody>
      </p:sp>
      <p:sp>
        <p:nvSpPr>
          <p:cNvPr id="15" name="Text 11"/>
          <p:cNvSpPr txBox="1"/>
          <p:nvPr/>
        </p:nvSpPr>
        <p:spPr>
          <a:xfrm>
            <a:off x="943660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k8s-up</a:t>
            </a:r>
            <a:endParaRPr lang="en-US" sz="1300" dirty="0"/>
          </a:p>
        </p:txBody>
      </p:sp>
      <p:sp>
        <p:nvSpPr>
          <p:cNvPr id="16" name="Text 12"/>
          <p:cNvSpPr txBox="1"/>
          <p:nvPr/>
        </p:nvSpPr>
        <p:spPr>
          <a:xfrm>
            <a:off x="660196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 real Helm chart, installed and rolled out</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Migrations as a pre-install hook</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16-check smoke test included</a:t>
            </a:r>
            <a:endParaRPr lang="en-US" sz="1200" dirty="0"/>
          </a:p>
        </p:txBody>
      </p:sp>
      <p:sp>
        <p:nvSpPr>
          <p:cNvPr id="17" name="Text 13"/>
          <p:cNvSpPr txBox="1"/>
          <p:nvPr/>
        </p:nvSpPr>
        <p:spPr>
          <a:xfrm>
            <a:off x="566928"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keys</a:t>
            </a:r>
            <a:endParaRPr lang="en-US" sz="1400" dirty="0"/>
          </a:p>
        </p:txBody>
      </p:sp>
      <p:sp>
        <p:nvSpPr>
          <p:cNvPr id="18" name="Text 14"/>
          <p:cNvSpPr txBox="1"/>
          <p:nvPr/>
        </p:nvSpPr>
        <p:spPr>
          <a:xfrm>
            <a:off x="566928"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AI features are bring-your-own-key and off unless configured.</a:t>
            </a:r>
            <a:endParaRPr lang="en-US" sz="1150" dirty="0"/>
          </a:p>
        </p:txBody>
      </p:sp>
      <p:sp>
        <p:nvSpPr>
          <p:cNvPr id="19" name="Text 15"/>
          <p:cNvSpPr txBox="1"/>
          <p:nvPr/>
        </p:nvSpPr>
        <p:spPr>
          <a:xfrm>
            <a:off x="4251960"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data</a:t>
            </a:r>
            <a:endParaRPr lang="en-US" sz="1400" dirty="0"/>
          </a:p>
        </p:txBody>
      </p:sp>
      <p:sp>
        <p:nvSpPr>
          <p:cNvPr id="20" name="Text 16"/>
          <p:cNvSpPr txBox="1"/>
          <p:nvPr/>
        </p:nvSpPr>
        <p:spPr>
          <a:xfrm>
            <a:off x="4251960"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Outbound calls are SSRF-guarded with IP pinning, per connector.</a:t>
            </a:r>
            <a:endParaRPr lang="en-US" sz="1150" dirty="0"/>
          </a:p>
        </p:txBody>
      </p:sp>
      <p:sp>
        <p:nvSpPr>
          <p:cNvPr id="21" name="Text 17"/>
          <p:cNvSpPr txBox="1"/>
          <p:nvPr/>
        </p:nvSpPr>
        <p:spPr>
          <a:xfrm>
            <a:off x="7936992"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terms</a:t>
            </a:r>
            <a:endParaRPr lang="en-US" sz="1400" dirty="0"/>
          </a:p>
        </p:txBody>
      </p:sp>
      <p:sp>
        <p:nvSpPr>
          <p:cNvPr id="22" name="Text 18"/>
          <p:cNvSpPr txBox="1"/>
          <p:nvPr/>
        </p:nvSpPr>
        <p:spPr>
          <a:xfrm>
            <a:off x="7936992"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Apache 2.0 licensed. No runtime phone-home, no seat lock-in.</a:t>
            </a:r>
            <a:endParaRPr lang="en-US" sz="1150" dirty="0"/>
          </a:p>
        </p:txBody>
      </p:sp>
      <p:sp>
        <p:nvSpPr>
          <p:cNvPr id="24"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5"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STRAIGHT ANSWERS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What is shipped, and what is not</a:t>
            </a:r>
            <a:endParaRPr lang="en-US" sz="3400" dirty="0"/>
          </a:p>
        </p:txBody>
      </p:sp>
      <p:sp>
        <p:nvSpPr>
          <p:cNvPr id="4" name="Text 2"/>
          <p:cNvSpPr txBox="1"/>
          <p:nvPr/>
        </p:nvSpPr>
        <p:spPr>
          <a:xfrm>
            <a:off x="566928" y="1645920"/>
            <a:ext cx="10881360" cy="320040"/>
          </a:xfrm>
          <a:prstGeom prst="rect">
            <a:avLst/>
          </a:prstGeom>
          <a:noFill/>
          <a:ln/>
        </p:spPr>
        <p:txBody>
          <a:bodyPr wrap="square" lIns="0" tIns="0" rIns="0" bIns="0" rtlCol="0" anchor="ctr"/>
          <a:lstStyle/>
          <a:p>
            <a:pPr indent="0" marL="0">
              <a:buNone/>
            </a:pPr>
            <a:r>
              <a:rPr lang="en-US" sz="1350" dirty="0">
                <a:solidFill>
                  <a:srgbClr val="4F566B"/>
                </a:solidFill>
                <a:latin typeface="Calibri" pitchFamily="34" charset="0"/>
                <a:ea typeface="Calibri" pitchFamily="34" charset="-122"/>
                <a:cs typeface="Calibri" pitchFamily="34" charset="-120"/>
              </a:rPr>
              <a:t>You are going to run a technical evaluation. Here is the line we draw, before you find it.</a:t>
            </a:r>
            <a:endParaRPr lang="en-US" sz="1350" dirty="0"/>
          </a:p>
        </p:txBody>
      </p:sp>
      <p:sp>
        <p:nvSpPr>
          <p:cNvPr id="5" name="Shape 3"/>
          <p:cNvSpPr/>
          <p:nvPr/>
        </p:nvSpPr>
        <p:spPr>
          <a:xfrm>
            <a:off x="56692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395728"/>
            <a:ext cx="384048" cy="384048"/>
          </a:xfrm>
          <a:prstGeom prst="ellipse">
            <a:avLst/>
          </a:prstGeom>
          <a:solidFill>
            <a:srgbClr val="0E9F6E"/>
          </a:solidFill>
          <a:ln w="12700">
            <a:solidFill>
              <a:srgbClr val="0E9F6E"/>
            </a:solidFill>
            <a:prstDash val="solid"/>
          </a:ln>
        </p:spPr>
      </p:sp>
      <p:sp>
        <p:nvSpPr>
          <p:cNvPr id="7" name="Text 5"/>
          <p:cNvSpPr txBox="1"/>
          <p:nvPr/>
        </p:nvSpPr>
        <p:spPr>
          <a:xfrm>
            <a:off x="148132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Shipped and tested</a:t>
            </a:r>
            <a:endParaRPr lang="en-US" sz="1900" dirty="0"/>
          </a:p>
        </p:txBody>
      </p:sp>
      <p:sp>
        <p:nvSpPr>
          <p:cNvPr id="8" name="Text 6"/>
          <p:cNvSpPr txBox="1"/>
          <p:nvPr/>
        </p:nvSpPr>
        <p:spPr>
          <a:xfrm>
            <a:off x="978408"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21 of 22 capability rows, each citing evidence in code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Five engines agreeing on a generated corpus</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Durable decision delivery with a dead-letter path</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Tamper-evident audit chain, RBAC, tenant isolation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232 Excel functions server-side (152 in the browser, 32 on device)</a:t>
            </a:r>
            <a:endParaRPr lang="en-US" sz="1200" dirty="0"/>
          </a:p>
        </p:txBody>
      </p:sp>
      <p:sp>
        <p:nvSpPr>
          <p:cNvPr id="9" name="Shape 7"/>
          <p:cNvSpPr/>
          <p:nvPr/>
        </p:nvSpPr>
        <p:spPr>
          <a:xfrm>
            <a:off x="619048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8"/>
          <p:cNvSpPr/>
          <p:nvPr/>
        </p:nvSpPr>
        <p:spPr>
          <a:xfrm>
            <a:off x="6574536" y="2395728"/>
            <a:ext cx="384048" cy="384048"/>
          </a:xfrm>
          <a:prstGeom prst="ellipse">
            <a:avLst/>
          </a:prstGeom>
          <a:solidFill>
            <a:srgbClr val="D97706"/>
          </a:solidFill>
          <a:ln w="12700">
            <a:solidFill>
              <a:srgbClr val="D97706"/>
            </a:solidFill>
            <a:prstDash val="solid"/>
          </a:ln>
        </p:spPr>
      </p:sp>
      <p:sp>
        <p:nvSpPr>
          <p:cNvPr id="11" name="Text 9"/>
          <p:cNvSpPr txBox="1"/>
          <p:nvPr/>
        </p:nvSpPr>
        <p:spPr>
          <a:xfrm>
            <a:off x="710488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Not yet, and we will say so</a:t>
            </a:r>
            <a:endParaRPr lang="en-US" sz="1900" dirty="0"/>
          </a:p>
        </p:txBody>
      </p:sp>
      <p:sp>
        <p:nvSpPr>
          <p:cNvPr id="12" name="Text 10"/>
          <p:cNvSpPr txBox="1"/>
          <p:nvPr/>
        </p:nvSpPr>
        <p:spPr>
          <a:xfrm>
            <a:off x="6583680"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exactly-once delivery — at-least-once with idempotent consumption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an immutable audit log — tamper-evident, which is a detection guarantee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hosted CI today; the evidence is a committed, regenerable test report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Apache 2.0 licensed, but the repository is not public yet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 latency optimisation measured at 48% is held back until it is proven correct</a:t>
            </a:r>
            <a:endParaRPr lang="en-US" sz="1200" dirty="0"/>
          </a:p>
        </p:txBody>
      </p:sp>
      <p:sp>
        <p:nvSpPr>
          <p:cNvPr id="13" name="Shape 11"/>
          <p:cNvSpPr/>
          <p:nvPr/>
        </p:nvSpPr>
        <p:spPr>
          <a:xfrm>
            <a:off x="566928" y="5449824"/>
            <a:ext cx="10863072" cy="749808"/>
          </a:xfrm>
          <a:prstGeom prst="roundRect">
            <a:avLst>
              <a:gd name="adj" fmla="val 12195"/>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4" name="Text 12"/>
          <p:cNvSpPr txBox="1"/>
          <p:nvPr/>
        </p:nvSpPr>
        <p:spPr>
          <a:xfrm>
            <a:off x="978408" y="5522976"/>
            <a:ext cx="10058400" cy="603504"/>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A vendor who cannot tell you what their product does not do has not tested it hard enough to know.</a:t>
            </a:r>
            <a:endParaRPr lang="en-US" sz="1400" dirty="0"/>
          </a:p>
        </p:txBody>
      </p:sp>
      <p:sp>
        <p:nvSpPr>
          <p:cNvPr id="16" name="Text 1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17" name="Text 1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HAPPENS NEXT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pilot is three afternoons</a:t>
            </a:r>
            <a:endParaRPr lang="en-US" sz="3400" dirty="0"/>
          </a:p>
        </p:txBody>
      </p:sp>
      <p:sp>
        <p:nvSpPr>
          <p:cNvPr id="4" name="Shape 2"/>
          <p:cNvSpPr/>
          <p:nvPr/>
        </p:nvSpPr>
        <p:spPr>
          <a:xfrm>
            <a:off x="566928"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76272"/>
            <a:ext cx="566928" cy="566928"/>
          </a:xfrm>
          <a:prstGeom prst="ellipse">
            <a:avLst/>
          </a:prstGeom>
          <a:solidFill>
            <a:srgbClr val="635BFF"/>
          </a:solidFill>
          <a:ln w="12700">
            <a:solidFill>
              <a:srgbClr val="635BFF"/>
            </a:solidFill>
            <a:prstDash val="solid"/>
          </a:ln>
        </p:spPr>
      </p:sp>
      <p:sp>
        <p:nvSpPr>
          <p:cNvPr id="6" name="Text 4"/>
          <p:cNvSpPr txBox="1"/>
          <p:nvPr/>
        </p:nvSpPr>
        <p:spPr>
          <a:xfrm>
            <a:off x="950976"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1</a:t>
            </a:r>
            <a:endParaRPr lang="en-US" sz="2100" dirty="0"/>
          </a:p>
        </p:txBody>
      </p:sp>
      <p:sp>
        <p:nvSpPr>
          <p:cNvPr id="7" name="Text 5"/>
          <p:cNvSpPr txBox="1"/>
          <p:nvPr/>
        </p:nvSpPr>
        <p:spPr>
          <a:xfrm>
            <a:off x="950976"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one</a:t>
            </a:r>
            <a:endParaRPr lang="en-US" sz="1000" dirty="0"/>
          </a:p>
        </p:txBody>
      </p:sp>
      <p:sp>
        <p:nvSpPr>
          <p:cNvPr id="8" name="Text 6"/>
          <p:cNvSpPr txBox="1"/>
          <p:nvPr/>
        </p:nvSpPr>
        <p:spPr>
          <a:xfrm>
            <a:off x="950976"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Stand it up</a:t>
            </a:r>
            <a:endParaRPr lang="en-US" sz="1800" dirty="0"/>
          </a:p>
        </p:txBody>
      </p:sp>
      <p:sp>
        <p:nvSpPr>
          <p:cNvPr id="9" name="Text 7"/>
          <p:cNvSpPr txBox="1"/>
          <p:nvPr/>
        </p:nvSpPr>
        <p:spPr>
          <a:xfrm>
            <a:off x="950976"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One command on a laptop or a VM inside your network. Nothing leaves it.</a:t>
            </a:r>
            <a:endParaRPr lang="en-US" sz="1150" dirty="0"/>
          </a:p>
        </p:txBody>
      </p:sp>
      <p:sp>
        <p:nvSpPr>
          <p:cNvPr id="10" name="Shape 8"/>
          <p:cNvSpPr/>
          <p:nvPr/>
        </p:nvSpPr>
        <p:spPr>
          <a:xfrm>
            <a:off x="4251960"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1" name="Shape 9"/>
          <p:cNvSpPr/>
          <p:nvPr/>
        </p:nvSpPr>
        <p:spPr>
          <a:xfrm>
            <a:off x="4636008" y="2176272"/>
            <a:ext cx="566928" cy="566928"/>
          </a:xfrm>
          <a:prstGeom prst="ellipse">
            <a:avLst/>
          </a:prstGeom>
          <a:solidFill>
            <a:srgbClr val="635BFF"/>
          </a:solidFill>
          <a:ln w="12700">
            <a:solidFill>
              <a:srgbClr val="635BFF"/>
            </a:solidFill>
            <a:prstDash val="solid"/>
          </a:ln>
        </p:spPr>
      </p:sp>
      <p:sp>
        <p:nvSpPr>
          <p:cNvPr id="12" name="Text 10"/>
          <p:cNvSpPr txBox="1"/>
          <p:nvPr/>
        </p:nvSpPr>
        <p:spPr>
          <a:xfrm>
            <a:off x="4636008"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2</a:t>
            </a:r>
            <a:endParaRPr lang="en-US" sz="2100" dirty="0"/>
          </a:p>
        </p:txBody>
      </p:sp>
      <p:sp>
        <p:nvSpPr>
          <p:cNvPr id="13" name="Text 11"/>
          <p:cNvSpPr txBox="1"/>
          <p:nvPr/>
        </p:nvSpPr>
        <p:spPr>
          <a:xfrm>
            <a:off x="4636008"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two</a:t>
            </a:r>
            <a:endParaRPr lang="en-US" sz="1000" dirty="0"/>
          </a:p>
        </p:txBody>
      </p:sp>
      <p:sp>
        <p:nvSpPr>
          <p:cNvPr id="14" name="Text 12"/>
          <p:cNvSpPr txBox="1"/>
          <p:nvPr/>
        </p:nvSpPr>
        <p:spPr>
          <a:xfrm>
            <a:off x="4636008"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Bring one policy</a:t>
            </a:r>
            <a:endParaRPr lang="en-US" sz="1800" dirty="0"/>
          </a:p>
        </p:txBody>
      </p:sp>
      <p:sp>
        <p:nvSpPr>
          <p:cNvPr id="15" name="Text 13"/>
          <p:cNvSpPr txBox="1"/>
          <p:nvPr/>
        </p:nvSpPr>
        <p:spPr>
          <a:xfrm>
            <a:off x="4636008"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Rebuild a live policy you already run. Replay it over your recorded decisions and compare outcomes.</a:t>
            </a:r>
            <a:endParaRPr lang="en-US" sz="1150" dirty="0"/>
          </a:p>
        </p:txBody>
      </p:sp>
      <p:sp>
        <p:nvSpPr>
          <p:cNvPr id="16" name="Shape 14"/>
          <p:cNvSpPr/>
          <p:nvPr/>
        </p:nvSpPr>
        <p:spPr>
          <a:xfrm>
            <a:off x="7936992"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7" name="Shape 15"/>
          <p:cNvSpPr/>
          <p:nvPr/>
        </p:nvSpPr>
        <p:spPr>
          <a:xfrm>
            <a:off x="8321040" y="2176272"/>
            <a:ext cx="566928" cy="566928"/>
          </a:xfrm>
          <a:prstGeom prst="ellipse">
            <a:avLst/>
          </a:prstGeom>
          <a:solidFill>
            <a:srgbClr val="635BFF"/>
          </a:solidFill>
          <a:ln w="12700">
            <a:solidFill>
              <a:srgbClr val="635BFF"/>
            </a:solidFill>
            <a:prstDash val="solid"/>
          </a:ln>
        </p:spPr>
      </p:sp>
      <p:sp>
        <p:nvSpPr>
          <p:cNvPr id="18" name="Text 16"/>
          <p:cNvSpPr txBox="1"/>
          <p:nvPr/>
        </p:nvSpPr>
        <p:spPr>
          <a:xfrm>
            <a:off x="8321040"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3</a:t>
            </a:r>
            <a:endParaRPr lang="en-US" sz="2100" dirty="0"/>
          </a:p>
        </p:txBody>
      </p:sp>
      <p:sp>
        <p:nvSpPr>
          <p:cNvPr id="19" name="Text 17"/>
          <p:cNvSpPr txBox="1"/>
          <p:nvPr/>
        </p:nvSpPr>
        <p:spPr>
          <a:xfrm>
            <a:off x="8321040"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three</a:t>
            </a:r>
            <a:endParaRPr lang="en-US" sz="1000" dirty="0"/>
          </a:p>
        </p:txBody>
      </p:sp>
      <p:sp>
        <p:nvSpPr>
          <p:cNvPr id="20" name="Text 18"/>
          <p:cNvSpPr txBox="1"/>
          <p:nvPr/>
        </p:nvSpPr>
        <p:spPr>
          <a:xfrm>
            <a:off x="8321040"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Change it</a:t>
            </a:r>
            <a:endParaRPr lang="en-US" sz="1800" dirty="0"/>
          </a:p>
        </p:txBody>
      </p:sp>
      <p:sp>
        <p:nvSpPr>
          <p:cNvPr id="21" name="Text 19"/>
          <p:cNvSpPr txBox="1"/>
          <p:nvPr/>
        </p:nvSpPr>
        <p:spPr>
          <a:xfrm>
            <a:off x="8321040"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Move a threshold, promote it through uat, and read the audit trail the change produced.</a:t>
            </a:r>
            <a:endParaRPr lang="en-US" sz="1150" dirty="0"/>
          </a:p>
        </p:txBody>
      </p:sp>
      <p:sp>
        <p:nvSpPr>
          <p:cNvPr id="22" name="Text 20"/>
          <p:cNvSpPr txBox="1"/>
          <p:nvPr/>
        </p:nvSpPr>
        <p:spPr>
          <a:xfrm>
            <a:off x="566928" y="4681728"/>
            <a:ext cx="10881360" cy="320040"/>
          </a:xfrm>
          <a:prstGeom prst="rect">
            <a:avLst/>
          </a:prstGeom>
          <a:noFill/>
          <a:ln/>
        </p:spPr>
        <p:txBody>
          <a:bodyPr wrap="square" lIns="0" tIns="0" rIns="0" bIns="0" rtlCol="0" anchor="ctr"/>
          <a:lstStyle/>
          <a:p>
            <a:pPr indent="0" marL="0">
              <a:buNone/>
            </a:pPr>
            <a:r>
              <a:rPr lang="en-US" sz="1150" b="1" spc="200" kern="0" dirty="0">
                <a:solidFill>
                  <a:srgbClr val="635BFF"/>
                </a:solidFill>
                <a:latin typeface="Calibri" pitchFamily="34" charset="0"/>
                <a:ea typeface="Calibri" pitchFamily="34" charset="-122"/>
                <a:cs typeface="Calibri" pitchFamily="34" charset="-120"/>
              </a:rPr>
              <a:t>The question a pilot answers</a:t>
            </a:r>
            <a:endParaRPr lang="en-US" sz="1150" dirty="0"/>
          </a:p>
        </p:txBody>
      </p:sp>
      <p:sp>
        <p:nvSpPr>
          <p:cNvPr id="23" name="Text 21"/>
          <p:cNvSpPr txBox="1"/>
          <p:nvPr/>
        </p:nvSpPr>
        <p:spPr>
          <a:xfrm>
            <a:off x="566928" y="5029200"/>
            <a:ext cx="10607040" cy="1097280"/>
          </a:xfrm>
          <a:prstGeom prst="rect">
            <a:avLst/>
          </a:prstGeom>
          <a:noFill/>
          <a:ln/>
        </p:spPr>
        <p:txBody>
          <a:bodyPr wrap="square" lIns="0" tIns="0" rIns="0" bIns="0" rtlCol="0" anchor="ctr"/>
          <a:lstStyle/>
          <a:p>
            <a:pPr indent="0" marL="0">
              <a:lnSpc>
                <a:spcPts val="3200"/>
              </a:lnSpc>
              <a:buNone/>
            </a:pPr>
            <a:r>
              <a:rPr lang="en-US" sz="2400" b="1" dirty="0">
                <a:solidFill>
                  <a:srgbClr val="FFFFFF"/>
                </a:solidFill>
                <a:latin typeface="Cambria" pitchFamily="34" charset="0"/>
                <a:ea typeface="Cambria" pitchFamily="34" charset="-122"/>
                <a:cs typeface="Cambria" pitchFamily="34" charset="-120"/>
              </a:rPr>
              <a:t>Can your risk team change a live policy this week — and prove, months later, exactly why one applicant got the answer they got?</a:t>
            </a:r>
            <a:endParaRPr lang="en-US" sz="2400" dirty="0"/>
          </a:p>
        </p:txBody>
      </p:sp>
      <p:sp>
        <p:nvSpPr>
          <p:cNvPr id="25" name="Text 22"/>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6" name="Text 23"/>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RuleMind AI</dc:title>
  <dc:subject>PptxGenJS Presentation</dc:subject>
  <dc:creator>RuleMind AI</dc:creator>
  <cp:lastModifiedBy>RuleMind AI</cp:lastModifiedBy>
  <cp:revision>1</cp:revision>
  <dcterms:created xsi:type="dcterms:W3CDTF">2026-09-14T18:17:54Z</dcterms:created>
  <dcterms:modified xsi:type="dcterms:W3CDTF">2026-09-14T18:17:54Z</dcterms:modified>
</cp:coreProperties>
</file>