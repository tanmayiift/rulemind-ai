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1A2E"/>
                </a:solidFill>
                <a:latin typeface="Calibri"/>
              </a:defRPr>
            </a:pPr>
            <a:r>
              <a:rPr sz="1200" b="0" i="0" u="none" strike="noStrike">
                <a:solidFill>
                  <a:srgbClr val="141A2E"/>
                </a:solidFill>
                <a:latin typeface="Calibri"/>
              </a:rPr>
              <a:t>Tests by lane — every one passing</a:t>
            </a:r>
          </a:p>
        </c:rich>
      </c:tx>
      <c:layout/>
      <c:overlay val="0"/>
    </c:title>
    <c:autoTitleDeleted val="0"/>
    <c:plotArea>
      <c:layout/>
      <c:barChart>
        <c:barDir val="bar"/>
        <c:grouping val="clustered"/>
        <c:varyColors val="0"/>
        <c:ser>
          <c:idx val="0"/>
          <c:order val="0"/>
          <c:tx>
            <c:strRef>
              <c:f>Sheet1!$B$1</c:f>
              <c:strCache>
                <c:ptCount val="1"/>
                <c:pt idx="0">
                  <c:v>Tests</c:v>
                </c:pt>
              </c:strCache>
            </c:strRef>
          </c:tx>
          <c:spPr>
            <a:solidFill>
              <a:srgbClr val="635BFF"/>
            </a:solidFill>
            <a:effectLst/>
          </c:spPr>
          <c:invertIfNegative val="0"/>
          <c:dLbls>
            <c:numFmt formatCode="#,##0" sourceLinked="0"/>
            <c:txPr>
              <a:bodyPr/>
              <a:lstStyle/>
              <a:p>
                <a:pPr>
                  <a:defRPr b="0" i="0" strike="noStrike" sz="900" u="none">
                    <a:solidFill>
                      <a:srgbClr val="4F566B"/>
                    </a:solidFill>
                    <a:latin typeface="Calibri"/>
                  </a:defRPr>
                </a:pPr>
              </a:p>
            </c:txPr>
            <c:showLegendKey val="0"/>
            <c:showVal val="1"/>
            <c:showCatName val="0"/>
            <c:showSerName val="0"/>
            <c:showPercent val="0"/>
            <c:showBubbleSize val="0"/>
            <c:showLeaderLines val="0"/>
          </c:dLbls>
          <c:cat>
            <c:multiLvlStrRef>
              <c:f>Sheet1!$A$2:$A$8</c:f>
              <c:multiLvlStrCache>
                <c:ptCount val="7"/>
                <c:lvl>
                  <c:pt idx="0">
                    <c:v>Python SQLite</c:v>
                  </c:pt>
                  <c:pt idx="1">
                    <c:v>Python Postgres</c:v>
                  </c:pt>
                  <c:pt idx="2">
                    <c:v>Vitest</c:v>
                  </c:pt>
                  <c:pt idx="3">
                    <c:v>Flutter</c:v>
                  </c:pt>
                  <c:pt idx="4">
                    <c:v>Playwright</c:v>
                  </c:pt>
                  <c:pt idx="5">
                    <c:v>Kotlin</c:v>
                  </c:pt>
                  <c:pt idx="6">
                    <c:v>Rust</c:v>
                  </c:pt>
                </c:lvl>
              </c:multiLvlStrCache>
            </c:multiLvlStrRef>
          </c:cat>
          <c:val>
            <c:numRef>
              <c:f>Sheet1!$B$2:$B$8</c:f>
              <c:numCache>
                <c:formatCode>General</c:formatCode>
                <c:ptCount val="7"/>
                <c:pt idx="0">
                  <c:v>1920</c:v>
                </c:pt>
                <c:pt idx="1">
                  <c:v>1920</c:v>
                </c:pt>
                <c:pt idx="2">
                  <c:v>462</c:v>
                </c:pt>
                <c:pt idx="3">
                  <c:v>163</c:v>
                </c:pt>
                <c:pt idx="4">
                  <c:v>68</c:v>
                </c:pt>
                <c:pt idx="5">
                  <c:v>46</c:v>
                </c:pt>
                <c:pt idx="6">
                  <c:v>29</c:v>
                </c:pt>
              </c:numCache>
            </c:numRef>
          </c:val>
        </c:ser>
        <c:dLbls>
          <c:numFmt formatCode="#,##0" sourceLinked="0"/>
          <c:txPr>
            <a:bodyPr/>
            <a:lstStyle/>
            <a:p>
              <a:pPr>
                <a:defRPr b="0" i="0" strike="noStrike" sz="900" u="none">
                  <a:solidFill>
                    <a:srgbClr val="4F566B"/>
                  </a:solidFill>
                  <a:latin typeface="Calibri"/>
                </a:defRPr>
              </a:pPr>
            </a:p>
          </c:txPr>
          <c:showLegendKey val="0"/>
          <c:showVal val="1"/>
          <c:showCatName val="0"/>
          <c:showSerName val="0"/>
          <c:showPercent val="0"/>
          <c:showBubbleSize val="0"/>
          <c:showLeaderLines val="0"/>
        </c:dLbls>
        <c:gapWidth val="42"/>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F566B"/>
                </a:solidFill>
                <a:latin typeface="Calibri"/>
              </a:defRPr>
            </a:pPr>
            <a:endParaRPr lang="en-US"/>
          </a:p>
        </c:txPr>
        <c:crossAx val="2094734552"/>
        <c:crosses val="autoZero"/>
        <c:auto val="1"/>
        <c:lblAlgn val="ctr"/>
        <c:noMultiLvlLbl val="1"/>
      </c:catAx>
      <c:valAx>
        <c:axId val="2094734552"/>
        <c:scaling>
          <c:orientation val="minMax"/>
          <c:max val="2200"/>
        </c:scaling>
        <c:delete val="0"/>
        <c:axPos val="b"/>
        <c:majorGridlines>
          <c:spPr>
            <a:ln w="12700" cap="flat">
              <a:solidFill>
                <a:srgbClr val="E3E8F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9AA3BC"/>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1A2E"/>
                </a:solidFill>
                <a:latin typeface="Calibri"/>
              </a:defRPr>
            </a:pPr>
            <a:r>
              <a:rPr sz="1200" b="0" i="0" u="none" strike="noStrike">
                <a:solidFill>
                  <a:srgbClr val="141A2E"/>
                </a:solidFill>
                <a:latin typeface="Calibri"/>
              </a:rPr>
              <a:t>Throughput scales with concurrency</a:t>
            </a:r>
          </a:p>
        </c:rich>
      </c:tx>
      <c:layout/>
      <c:overlay val="0"/>
    </c:title>
    <c:autoTitleDeleted val="0"/>
    <c:plotArea>
      <c:layout/>
      <c:barChart>
        <c:barDir val="col"/>
        <c:grouping val="clustered"/>
        <c:varyColors val="0"/>
        <c:ser>
          <c:idx val="0"/>
          <c:order val="0"/>
          <c:tx>
            <c:strRef>
              <c:f>Sheet1!$B$1</c:f>
              <c:strCache>
                <c:ptCount val="1"/>
                <c:pt idx="0">
                  <c:v>Decisions / second</c:v>
                </c:pt>
              </c:strCache>
            </c:strRef>
          </c:tx>
          <c:spPr>
            <a:solidFill>
              <a:srgbClr val="635BFF"/>
            </a:solidFill>
            <a:effectLst/>
          </c:spPr>
          <c:invertIfNegative val="0"/>
          <c:dLbls>
            <c:numFmt formatCode="#,##0" sourceLinked="0"/>
            <c:txPr>
              <a:bodyPr/>
              <a:lstStyle/>
              <a:p>
                <a:pPr>
                  <a:defRPr b="0" i="0" strike="noStrike" sz="1000" u="none">
                    <a:solidFill>
                      <a:srgbClr val="4F566B"/>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 client</c:v>
                  </c:pt>
                  <c:pt idx="1">
                    <c:v>4 clients</c:v>
                  </c:pt>
                  <c:pt idx="2">
                    <c:v>16 clients</c:v>
                  </c:pt>
                </c:lvl>
              </c:multiLvlStrCache>
            </c:multiLvlStrRef>
          </c:cat>
          <c:val>
            <c:numRef>
              <c:f>Sheet1!$B$2:$B$4</c:f>
              <c:numCache>
                <c:formatCode>General</c:formatCode>
                <c:ptCount val="3"/>
                <c:pt idx="0">
                  <c:v>49.2</c:v>
                </c:pt>
                <c:pt idx="1">
                  <c:v>103.1</c:v>
                </c:pt>
                <c:pt idx="2">
                  <c:v>117.5</c:v>
                </c:pt>
              </c:numCache>
            </c:numRef>
          </c:val>
        </c:ser>
        <c:dLbls>
          <c:numFmt formatCode="#,##0" sourceLinked="0"/>
          <c:txPr>
            <a:bodyPr/>
            <a:lstStyle/>
            <a:p>
              <a:pPr>
                <a:defRPr b="0" i="0" strike="noStrike" sz="1000" u="none">
                  <a:solidFill>
                    <a:srgbClr val="4F566B"/>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F566B"/>
                </a:solidFill>
                <a:latin typeface="Calibri"/>
              </a:defRPr>
            </a:pPr>
            <a:endParaRPr lang="en-US"/>
          </a:p>
        </c:txPr>
        <c:crossAx val="2094734552"/>
        <c:crosses val="autoZero"/>
        <c:auto val="1"/>
        <c:lblAlgn val="ctr"/>
        <c:noMultiLvlLbl val="1"/>
      </c:catAx>
      <c:valAx>
        <c:axId val="2094734552"/>
        <c:scaling>
          <c:orientation val="minMax"/>
          <c:max val="140"/>
        </c:scaling>
        <c:delete val="0"/>
        <c:axPos val="l"/>
        <c:majorGridlines>
          <c:spPr>
            <a:ln w="12700" cap="flat">
              <a:solidFill>
                <a:srgbClr val="E3E8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AA3BC"/>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RuleMind is a decisioning engine: the layer that turns data about an applicant into approve / review / reject, with the reasoning recorded. Two audiences in the room — the risk lead who wants to change policy this week, and the person who has to answer the regulator. Every number in this deck is generated from the repository, not typed.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this slide — it is the one the buyer recognises. The second cost is usually the one that unlocks budget: audit failures are expensive in a way that slow releases are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the product in one line. Emphasise step 1: source-agnostic means we do not sell you a bureau integration — you bring whatever you already pay for.
On step 5, say REASONING, not 'policy version'. A server-side decision records what actually happened — the payload, the variables computed, every rule result, the scorecard breakdown and the step trace — but it does NOT pin a policy version (bundle_hash is null for API decisions; it is populated only for on-device ones). That is the honest answer and it is also the better one: a stored trace is stronger evidence than a pointer to configuration that may have changed since. If a buyer asks specifically for version pinning on server decisions, it is a roadmap item, not a shipped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line is the point of the slide. Every capability here is authored, not deployed, and every one leaves an audit trail naming who did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technical differentiator and the hardest thing in the product. Most vendors have one engine and an SDK that approximates it. Divergence between them is the classic source of disputed decisions.
BE PRECISE IF PRESSED — the corpora do not all cover all five. The OPERATOR contract (12 operators, 90 cases) is the one that runs through all five engines. The 600-condition stress rule x 135 cases runs through Python, Rust, Kotlin and Dart — not TypeScript, whose job is browser preview. Scorecards (173 cases) run through Python, TypeScript, Kotlin and Dart. Say 'every engine is held to a shared generated corpus', which is true, rather than 'every corpus runs on every engine', which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fourth bullet out loud: TEST_RESULTS.md is committed to the repository and regenerated by `make test-all` from the runners' own output. Your engineers can reproduce this number on their own hardware in one command — that is the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if asked: 19.78 ms is p50 at concurrency 1; 117.5 rps is at concurrency 16. These are different rows of the same table. The honest framing is a laptop floor — do not extrapolate to production sizing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tamper-evident wording is deliberate and worth calling out unprompted — it buys credibility for everything else on the slide. Same for at-least-once: we do not claim exactly-once delivery, we claim you never lose an event and redelivery does not double-log.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regulated buyer this slide often outranks the feature slides. Apache 2.0 licensed is accurate; the repository is not public today, so do not say 'open source' as a present fact.
Do NOT say 'no data leaves your network' — connectors call the data sources the customer configures, which is the entire point of a bureau integration, and the AI features call the provider whose key they supplied. What is true is that WE receive nothing: no telemetry, no metering, no licence check. Every outbound call is one they chose, and the bottom row of this slide says how those are guarded.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wins deals with technical buyers. Every item on the right is a real, current limitation taken from the repository's own notes — not a softened version.
On the optimisation: COMPUTE_ONLY_USED_VARS computes only the variables a policy can actually reach — 92.8% less work on the serving path, 76.0% on the full path, measured in-process with alternating arms. It IS proven correct: both decision paths produce identical outcomes and identical computed-variable sets, mutation-checked in both directions, with the full 1,928-test suite green twice with it on. It stays off by default for one reason, and it is not correctness: it shrinks the recorded variable set from the whole catalog to what the policy read. That is a change to YOUR audit surface, so it is your decision to make, not a default we impose.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question, not on a feature. If they can answer yes today with what they have, they do not need us — and saying that is what makes the rest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2E"/>
        </a:solidFill>
      </p:bgPr>
    </p:bg>
    <p:spTree>
      <p:nvGrpSpPr>
        <p:cNvPr id="1" name=""/>
        <p:cNvGrpSpPr/>
        <p:nvPr/>
      </p:nvGrpSpPr>
      <p:grpSpPr>
        <a:xfrm>
          <a:off x="0" y="0"/>
          <a:ext cx="0" cy="0"/>
          <a:chOff x="0" y="0"/>
          <a:chExt cx="0" cy="0"/>
        </a:xfrm>
      </p:grpSpPr>
      <p:sp>
        <p:nvSpPr>
          <p:cNvPr id="2" name="Shape 0"/>
          <p:cNvSpPr/>
          <p:nvPr/>
        </p:nvSpPr>
        <p:spPr>
          <a:xfrm>
            <a:off x="566928" y="960120"/>
            <a:ext cx="274320" cy="274320"/>
          </a:xfrm>
          <a:prstGeom prst="ellipse">
            <a:avLst/>
          </a:prstGeom>
          <a:solidFill>
            <a:srgbClr val="0E9F6E"/>
          </a:solidFill>
          <a:ln w="12700">
            <a:solidFill>
              <a:srgbClr val="0E9F6E"/>
            </a:solidFill>
            <a:prstDash val="solid"/>
          </a:ln>
        </p:spPr>
      </p:sp>
      <p:sp>
        <p:nvSpPr>
          <p:cNvPr id="3" name="Text 1"/>
          <p:cNvSpPr txBox="1"/>
          <p:nvPr/>
        </p:nvSpPr>
        <p:spPr>
          <a:xfrm>
            <a:off x="932688" y="969264"/>
            <a:ext cx="1005840" cy="274320"/>
          </a:xfrm>
          <a:prstGeom prst="rect">
            <a:avLst/>
          </a:prstGeom>
          <a:noFill/>
          <a:ln/>
        </p:spPr>
        <p:txBody>
          <a:bodyPr wrap="square" lIns="0" tIns="0" rIns="0" bIns="0" rtlCol="0" anchor="ctr"/>
          <a:lstStyle/>
          <a:p>
            <a:pPr indent="0" marL="0">
              <a:buNone/>
            </a:pPr>
            <a:r>
              <a:rPr lang="en-US" sz="1100" dirty="0">
                <a:solidFill>
                  <a:srgbClr val="9AA3BC"/>
                </a:solidFill>
                <a:latin typeface="Calibri" pitchFamily="34" charset="0"/>
                <a:ea typeface="Calibri" pitchFamily="34" charset="-122"/>
                <a:cs typeface="Calibri" pitchFamily="34" charset="-120"/>
              </a:rPr>
              <a:t>approve</a:t>
            </a:r>
            <a:endParaRPr lang="en-US" sz="1100" dirty="0"/>
          </a:p>
        </p:txBody>
      </p:sp>
      <p:sp>
        <p:nvSpPr>
          <p:cNvPr id="4" name="Shape 2"/>
          <p:cNvSpPr/>
          <p:nvPr/>
        </p:nvSpPr>
        <p:spPr>
          <a:xfrm>
            <a:off x="1938528" y="960120"/>
            <a:ext cx="274320" cy="274320"/>
          </a:xfrm>
          <a:prstGeom prst="ellipse">
            <a:avLst/>
          </a:prstGeom>
          <a:solidFill>
            <a:srgbClr val="D97706"/>
          </a:solidFill>
          <a:ln w="12700">
            <a:solidFill>
              <a:srgbClr val="D97706"/>
            </a:solidFill>
            <a:prstDash val="solid"/>
          </a:ln>
        </p:spPr>
      </p:sp>
      <p:sp>
        <p:nvSpPr>
          <p:cNvPr id="5" name="Text 3"/>
          <p:cNvSpPr txBox="1"/>
          <p:nvPr/>
        </p:nvSpPr>
        <p:spPr>
          <a:xfrm>
            <a:off x="2304288" y="969264"/>
            <a:ext cx="1005840" cy="274320"/>
          </a:xfrm>
          <a:prstGeom prst="rect">
            <a:avLst/>
          </a:prstGeom>
          <a:noFill/>
          <a:ln/>
        </p:spPr>
        <p:txBody>
          <a:bodyPr wrap="square" lIns="0" tIns="0" rIns="0" bIns="0" rtlCol="0" anchor="ctr"/>
          <a:lstStyle/>
          <a:p>
            <a:pPr indent="0" marL="0">
              <a:buNone/>
            </a:pPr>
            <a:r>
              <a:rPr lang="en-US" sz="1100" dirty="0">
                <a:solidFill>
                  <a:srgbClr val="9AA3BC"/>
                </a:solidFill>
                <a:latin typeface="Calibri" pitchFamily="34" charset="0"/>
                <a:ea typeface="Calibri" pitchFamily="34" charset="-122"/>
                <a:cs typeface="Calibri" pitchFamily="34" charset="-120"/>
              </a:rPr>
              <a:t>review</a:t>
            </a:r>
            <a:endParaRPr lang="en-US" sz="1100" dirty="0"/>
          </a:p>
        </p:txBody>
      </p:sp>
      <p:sp>
        <p:nvSpPr>
          <p:cNvPr id="6" name="Shape 4"/>
          <p:cNvSpPr/>
          <p:nvPr/>
        </p:nvSpPr>
        <p:spPr>
          <a:xfrm>
            <a:off x="3310128" y="960120"/>
            <a:ext cx="274320" cy="274320"/>
          </a:xfrm>
          <a:prstGeom prst="ellipse">
            <a:avLst/>
          </a:prstGeom>
          <a:solidFill>
            <a:srgbClr val="DC2626"/>
          </a:solidFill>
          <a:ln w="12700">
            <a:solidFill>
              <a:srgbClr val="DC2626"/>
            </a:solidFill>
            <a:prstDash val="solid"/>
          </a:ln>
        </p:spPr>
      </p:sp>
      <p:sp>
        <p:nvSpPr>
          <p:cNvPr id="7" name="Text 5"/>
          <p:cNvSpPr txBox="1"/>
          <p:nvPr/>
        </p:nvSpPr>
        <p:spPr>
          <a:xfrm>
            <a:off x="3675888" y="969264"/>
            <a:ext cx="1005840" cy="274320"/>
          </a:xfrm>
          <a:prstGeom prst="rect">
            <a:avLst/>
          </a:prstGeom>
          <a:noFill/>
          <a:ln/>
        </p:spPr>
        <p:txBody>
          <a:bodyPr wrap="square" lIns="0" tIns="0" rIns="0" bIns="0" rtlCol="0" anchor="ctr"/>
          <a:lstStyle/>
          <a:p>
            <a:pPr indent="0" marL="0">
              <a:buNone/>
            </a:pPr>
            <a:r>
              <a:rPr lang="en-US" sz="1100" dirty="0">
                <a:solidFill>
                  <a:srgbClr val="9AA3BC"/>
                </a:solidFill>
                <a:latin typeface="Calibri" pitchFamily="34" charset="0"/>
                <a:ea typeface="Calibri" pitchFamily="34" charset="-122"/>
                <a:cs typeface="Calibri" pitchFamily="34" charset="-120"/>
              </a:rPr>
              <a:t>reject</a:t>
            </a:r>
            <a:endParaRPr lang="en-US" sz="1100" dirty="0"/>
          </a:p>
        </p:txBody>
      </p:sp>
      <p:sp>
        <p:nvSpPr>
          <p:cNvPr id="8" name="Text 6"/>
          <p:cNvSpPr txBox="1"/>
          <p:nvPr/>
        </p:nvSpPr>
        <p:spPr>
          <a:xfrm>
            <a:off x="566928" y="1828800"/>
            <a:ext cx="10515600" cy="100584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RuleMind AI</a:t>
            </a:r>
            <a:endParaRPr lang="en-US" sz="6000" dirty="0"/>
          </a:p>
        </p:txBody>
      </p:sp>
      <p:sp>
        <p:nvSpPr>
          <p:cNvPr id="9" name="Text 7"/>
          <p:cNvSpPr txBox="1"/>
          <p:nvPr/>
        </p:nvSpPr>
        <p:spPr>
          <a:xfrm>
            <a:off x="566928" y="2880360"/>
            <a:ext cx="9601200" cy="548640"/>
          </a:xfrm>
          <a:prstGeom prst="rect">
            <a:avLst/>
          </a:prstGeom>
          <a:noFill/>
          <a:ln/>
        </p:spPr>
        <p:txBody>
          <a:bodyPr wrap="square" lIns="0" tIns="0" rIns="0" bIns="0" rtlCol="0" anchor="ctr"/>
          <a:lstStyle/>
          <a:p>
            <a:pPr indent="0" marL="0">
              <a:buNone/>
            </a:pPr>
            <a:r>
              <a:rPr lang="en-US" sz="2500" dirty="0">
                <a:solidFill>
                  <a:srgbClr val="635BFF"/>
                </a:solidFill>
                <a:latin typeface="Cambria" pitchFamily="34" charset="0"/>
                <a:ea typeface="Cambria" pitchFamily="34" charset="-122"/>
                <a:cs typeface="Cambria" pitchFamily="34" charset="-120"/>
              </a:rPr>
              <a:t>The decisioning engine your risk team can actually change</a:t>
            </a:r>
            <a:endParaRPr lang="en-US" sz="2500" dirty="0"/>
          </a:p>
        </p:txBody>
      </p:sp>
      <p:sp>
        <p:nvSpPr>
          <p:cNvPr id="10" name="Text 8"/>
          <p:cNvSpPr txBox="1"/>
          <p:nvPr/>
        </p:nvSpPr>
        <p:spPr>
          <a:xfrm>
            <a:off x="566928" y="3611880"/>
            <a:ext cx="7863840" cy="914400"/>
          </a:xfrm>
          <a:prstGeom prst="rect">
            <a:avLst/>
          </a:prstGeom>
          <a:noFill/>
          <a:ln/>
        </p:spPr>
        <p:txBody>
          <a:bodyPr wrap="square" lIns="0" tIns="0" rIns="0" bIns="0" rtlCol="0" anchor="ctr"/>
          <a:lstStyle/>
          <a:p>
            <a:pPr indent="0" marL="0">
              <a:lnSpc>
                <a:spcPts val="2300"/>
              </a:lnSpc>
              <a:buNone/>
            </a:pPr>
            <a:r>
              <a:rPr lang="en-US" sz="1500" dirty="0">
                <a:solidFill>
                  <a:srgbClr val="9AA3BC"/>
                </a:solidFill>
                <a:latin typeface="Calibri" pitchFamily="34" charset="0"/>
                <a:ea typeface="Calibri" pitchFamily="34" charset="-122"/>
                <a:cs typeface="Calibri" pitchFamily="34" charset="-120"/>
              </a:rPr>
              <a:t>Author rules, scorecards and policies over any JSON source. Promote dev → uat → prod with an audit trail that answers “why” about a decision from eight months ago. Runs entirely inside your perimeter.</a:t>
            </a:r>
            <a:endParaRPr lang="en-US" sz="1500" dirty="0"/>
          </a:p>
        </p:txBody>
      </p:sp>
      <p:sp>
        <p:nvSpPr>
          <p:cNvPr id="11" name="Text 9"/>
          <p:cNvSpPr txBox="1"/>
          <p:nvPr/>
        </p:nvSpPr>
        <p:spPr>
          <a:xfrm>
            <a:off x="566928" y="4983480"/>
            <a:ext cx="2560320" cy="530352"/>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4,608</a:t>
            </a:r>
            <a:endParaRPr lang="en-US" sz="3200" dirty="0"/>
          </a:p>
        </p:txBody>
      </p:sp>
      <p:sp>
        <p:nvSpPr>
          <p:cNvPr id="12" name="Text 10"/>
          <p:cNvSpPr txBox="1"/>
          <p:nvPr/>
        </p:nvSpPr>
        <p:spPr>
          <a:xfrm>
            <a:off x="566928" y="5504688"/>
            <a:ext cx="2514600" cy="502920"/>
          </a:xfrm>
          <a:prstGeom prst="rect">
            <a:avLst/>
          </a:prstGeom>
          <a:noFill/>
          <a:ln/>
        </p:spPr>
        <p:txBody>
          <a:bodyPr wrap="square" lIns="0" tIns="0" rIns="0" bIns="0" rtlCol="0" anchor="ctr"/>
          <a:lstStyle/>
          <a:p>
            <a:pPr indent="0" marL="0">
              <a:lnSpc>
                <a:spcPts val="1500"/>
              </a:lnSpc>
              <a:buNone/>
            </a:pPr>
            <a:r>
              <a:rPr lang="en-US" sz="1100" dirty="0">
                <a:solidFill>
                  <a:srgbClr val="9AA3BC"/>
                </a:solidFill>
                <a:latin typeface="Calibri" pitchFamily="34" charset="0"/>
                <a:ea typeface="Calibri" pitchFamily="34" charset="-122"/>
                <a:cs typeface="Calibri" pitchFamily="34" charset="-120"/>
              </a:rPr>
              <a:t>tests, 11 lanes, all green</a:t>
            </a:r>
            <a:endParaRPr lang="en-US" sz="1100" dirty="0"/>
          </a:p>
        </p:txBody>
      </p:sp>
      <p:sp>
        <p:nvSpPr>
          <p:cNvPr id="13" name="Text 11"/>
          <p:cNvSpPr txBox="1"/>
          <p:nvPr/>
        </p:nvSpPr>
        <p:spPr>
          <a:xfrm>
            <a:off x="3310128" y="4983480"/>
            <a:ext cx="2560320" cy="530352"/>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5</a:t>
            </a:r>
            <a:endParaRPr lang="en-US" sz="3200" dirty="0"/>
          </a:p>
        </p:txBody>
      </p:sp>
      <p:sp>
        <p:nvSpPr>
          <p:cNvPr id="14" name="Text 12"/>
          <p:cNvSpPr txBox="1"/>
          <p:nvPr/>
        </p:nvSpPr>
        <p:spPr>
          <a:xfrm>
            <a:off x="3310128" y="5504688"/>
            <a:ext cx="2514600" cy="502920"/>
          </a:xfrm>
          <a:prstGeom prst="rect">
            <a:avLst/>
          </a:prstGeom>
          <a:noFill/>
          <a:ln/>
        </p:spPr>
        <p:txBody>
          <a:bodyPr wrap="square" lIns="0" tIns="0" rIns="0" bIns="0" rtlCol="0" anchor="ctr"/>
          <a:lstStyle/>
          <a:p>
            <a:pPr indent="0" marL="0">
              <a:lnSpc>
                <a:spcPts val="1500"/>
              </a:lnSpc>
              <a:buNone/>
            </a:pPr>
            <a:r>
              <a:rPr lang="en-US" sz="1100" dirty="0">
                <a:solidFill>
                  <a:srgbClr val="9AA3BC"/>
                </a:solidFill>
                <a:latin typeface="Calibri" pitchFamily="34" charset="0"/>
                <a:ea typeface="Calibri" pitchFamily="34" charset="-122"/>
                <a:cs typeface="Calibri" pitchFamily="34" charset="-120"/>
              </a:rPr>
              <a:t>language engines, held to one corpus</a:t>
            </a:r>
            <a:endParaRPr lang="en-US" sz="1100" dirty="0"/>
          </a:p>
        </p:txBody>
      </p:sp>
      <p:sp>
        <p:nvSpPr>
          <p:cNvPr id="15" name="Text 13"/>
          <p:cNvSpPr txBox="1"/>
          <p:nvPr/>
        </p:nvSpPr>
        <p:spPr>
          <a:xfrm>
            <a:off x="6053328" y="4983480"/>
            <a:ext cx="2560320" cy="530352"/>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19.8 ms</a:t>
            </a:r>
            <a:endParaRPr lang="en-US" sz="3200" dirty="0"/>
          </a:p>
        </p:txBody>
      </p:sp>
      <p:sp>
        <p:nvSpPr>
          <p:cNvPr id="16" name="Text 14"/>
          <p:cNvSpPr txBox="1"/>
          <p:nvPr/>
        </p:nvSpPr>
        <p:spPr>
          <a:xfrm>
            <a:off x="6053328" y="5504688"/>
            <a:ext cx="2514600" cy="502920"/>
          </a:xfrm>
          <a:prstGeom prst="rect">
            <a:avLst/>
          </a:prstGeom>
          <a:noFill/>
          <a:ln/>
        </p:spPr>
        <p:txBody>
          <a:bodyPr wrap="square" lIns="0" tIns="0" rIns="0" bIns="0" rtlCol="0" anchor="ctr"/>
          <a:lstStyle/>
          <a:p>
            <a:pPr indent="0" marL="0">
              <a:lnSpc>
                <a:spcPts val="1500"/>
              </a:lnSpc>
              <a:buNone/>
            </a:pPr>
            <a:r>
              <a:rPr lang="en-US" sz="1100" dirty="0">
                <a:solidFill>
                  <a:srgbClr val="9AA3BC"/>
                </a:solidFill>
                <a:latin typeface="Calibri" pitchFamily="34" charset="0"/>
                <a:ea typeface="Calibri" pitchFamily="34" charset="-122"/>
                <a:cs typeface="Calibri" pitchFamily="34" charset="-120"/>
              </a:rPr>
              <a:t>median decision, measured</a:t>
            </a:r>
            <a:endParaRPr lang="en-US" sz="1100" dirty="0"/>
          </a:p>
        </p:txBody>
      </p:sp>
      <p:sp>
        <p:nvSpPr>
          <p:cNvPr id="17" name="Text 15"/>
          <p:cNvSpPr txBox="1"/>
          <p:nvPr/>
        </p:nvSpPr>
        <p:spPr>
          <a:xfrm>
            <a:off x="8796528" y="4983480"/>
            <a:ext cx="2560320" cy="530352"/>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0</a:t>
            </a:r>
            <a:endParaRPr lang="en-US" sz="3200" dirty="0"/>
          </a:p>
        </p:txBody>
      </p:sp>
      <p:sp>
        <p:nvSpPr>
          <p:cNvPr id="18" name="Text 16"/>
          <p:cNvSpPr txBox="1"/>
          <p:nvPr/>
        </p:nvSpPr>
        <p:spPr>
          <a:xfrm>
            <a:off x="8796528" y="5504688"/>
            <a:ext cx="2514600" cy="502920"/>
          </a:xfrm>
          <a:prstGeom prst="rect">
            <a:avLst/>
          </a:prstGeom>
          <a:noFill/>
          <a:ln/>
        </p:spPr>
        <p:txBody>
          <a:bodyPr wrap="square" lIns="0" tIns="0" rIns="0" bIns="0" rtlCol="0" anchor="ctr"/>
          <a:lstStyle/>
          <a:p>
            <a:pPr indent="0" marL="0">
              <a:lnSpc>
                <a:spcPts val="1500"/>
              </a:lnSpc>
              <a:buNone/>
            </a:pPr>
            <a:r>
              <a:rPr lang="en-US" sz="1100" dirty="0">
                <a:solidFill>
                  <a:srgbClr val="9AA3BC"/>
                </a:solidFill>
                <a:latin typeface="Calibri" pitchFamily="34" charset="0"/>
                <a:ea typeface="Calibri" pitchFamily="34" charset="-122"/>
                <a:cs typeface="Calibri" pitchFamily="34" charset="-120"/>
              </a:rPr>
              <a:t>phone-home, metering or licence calls</a:t>
            </a:r>
            <a:endParaRPr lang="en-US" sz="1100" dirty="0"/>
          </a:p>
        </p:txBody>
      </p:sp>
      <p:sp>
        <p:nvSpPr>
          <p:cNvPr id="20" name="Text 17"/>
          <p:cNvSpPr txBox="1"/>
          <p:nvPr/>
        </p:nvSpPr>
        <p:spPr>
          <a:xfrm>
            <a:off x="566928" y="6291072"/>
            <a:ext cx="2743200" cy="256032"/>
          </a:xfrm>
          <a:prstGeom prst="rect">
            <a:avLst/>
          </a:prstGeom>
          <a:noFill/>
          <a:ln/>
        </p:spPr>
        <p:txBody>
          <a:bodyPr wrap="square" lIns="0" tIns="0" rIns="0" bIns="0" rtlCol="0" anchor="ctr"/>
          <a:lstStyle/>
          <a:p>
            <a:pPr indent="0" marL="0">
              <a:buNone/>
            </a:pPr>
            <a:r>
              <a:rPr lang="en-US" sz="900" dirty="0">
                <a:solidFill>
                  <a:srgbClr val="9AA3BC"/>
                </a:solidFill>
                <a:latin typeface="Calibri" pitchFamily="34" charset="0"/>
                <a:ea typeface="Calibri" pitchFamily="34" charset="-122"/>
                <a:cs typeface="Calibri" pitchFamily="34" charset="-120"/>
              </a:rPr>
              <a:t>RuleMind AI</a:t>
            </a:r>
            <a:endParaRPr lang="en-US" sz="900" dirty="0"/>
          </a:p>
        </p:txBody>
      </p:sp>
      <p:sp>
        <p:nvSpPr>
          <p:cNvPr id="21" name="Text 18"/>
          <p:cNvSpPr txBox="1"/>
          <p:nvPr/>
        </p:nvSpPr>
        <p:spPr>
          <a:xfrm>
            <a:off x="10710367" y="6291072"/>
            <a:ext cx="914400" cy="256032"/>
          </a:xfrm>
          <a:prstGeom prst="rect">
            <a:avLst/>
          </a:prstGeom>
          <a:noFill/>
          <a:ln/>
        </p:spPr>
        <p:txBody>
          <a:bodyPr wrap="square" lIns="0" tIns="0" rIns="0" bIns="0" rtlCol="0" anchor="ctr"/>
          <a:lstStyle/>
          <a:p>
            <a:pPr algn="r" indent="0" marL="0">
              <a:buNone/>
            </a:pPr>
            <a:r>
              <a:rPr lang="en-US" sz="900" dirty="0">
                <a:solidFill>
                  <a:srgbClr val="9AA3BC"/>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66928" y="420624"/>
            <a:ext cx="10515600" cy="274320"/>
          </a:xfrm>
          <a:prstGeom prst="rect">
            <a:avLst/>
          </a:prstGeom>
          <a:noFill/>
          <a:ln/>
        </p:spPr>
        <p:txBody>
          <a:bodyPr wrap="square" lIns="0" tIns="0" rIns="0" bIns="0" rtlCol="0" anchor="ctr"/>
          <a:lstStyle/>
          <a:p>
            <a:pPr indent="0" marL="0">
              <a:buNone/>
            </a:pPr>
            <a:r>
              <a:rPr lang="en-US" sz="1200" b="1" spc="220" kern="0" dirty="0">
                <a:solidFill>
                  <a:srgbClr val="635BFF"/>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66928" y="731520"/>
            <a:ext cx="10881360" cy="822960"/>
          </a:xfrm>
          <a:prstGeom prst="rect">
            <a:avLst/>
          </a:prstGeom>
          <a:noFill/>
          <a:ln/>
        </p:spPr>
        <p:txBody>
          <a:bodyPr wrap="square" lIns="0" tIns="0" rIns="0" bIns="0" rtlCol="0" anchor="ctr"/>
          <a:lstStyle/>
          <a:p>
            <a:pPr indent="0" marL="0">
              <a:buNone/>
            </a:pPr>
            <a:r>
              <a:rPr lang="en-US" sz="3400" b="1" dirty="0">
                <a:solidFill>
                  <a:srgbClr val="141A2E"/>
                </a:solidFill>
                <a:latin typeface="Cambria" pitchFamily="34" charset="0"/>
                <a:ea typeface="Cambria" pitchFamily="34" charset="-122"/>
                <a:cs typeface="Cambria" pitchFamily="34" charset="-120"/>
              </a:rPr>
              <a:t>Two costs every risk team pays</a:t>
            </a:r>
            <a:endParaRPr lang="en-US" sz="3400" dirty="0"/>
          </a:p>
        </p:txBody>
      </p:sp>
      <p:sp>
        <p:nvSpPr>
          <p:cNvPr id="4" name="Shape 2"/>
          <p:cNvSpPr/>
          <p:nvPr/>
        </p:nvSpPr>
        <p:spPr>
          <a:xfrm>
            <a:off x="566928" y="1755648"/>
            <a:ext cx="5230368" cy="3291840"/>
          </a:xfrm>
          <a:prstGeom prst="roundRect">
            <a:avLst>
              <a:gd name="adj" fmla="val 2778"/>
            </a:avLst>
          </a:prstGeom>
          <a:solidFill>
            <a:srgbClr val="FFFFFF"/>
          </a:solidFill>
          <a:ln w="12700">
            <a:solidFill>
              <a:srgbClr val="E3E8F2"/>
            </a:solidFill>
            <a:prstDash val="solid"/>
          </a:ln>
          <a:effectLst>
            <a:outerShdw sx="100000" sy="100000" kx="0" ky="0" algn="bl" rotWithShape="0" blurRad="127000" dist="25400" dir="5400000">
              <a:srgbClr val="0B1020">
                <a:alpha val="7000"/>
              </a:srgbClr>
            </a:outerShdw>
          </a:effectLst>
        </p:spPr>
      </p:sp>
      <p:sp>
        <p:nvSpPr>
          <p:cNvPr id="5" name="Shape 3"/>
          <p:cNvSpPr/>
          <p:nvPr/>
        </p:nvSpPr>
        <p:spPr>
          <a:xfrm>
            <a:off x="950976" y="2103120"/>
            <a:ext cx="585216" cy="585216"/>
          </a:xfrm>
          <a:prstGeom prst="ellipse">
            <a:avLst/>
          </a:prstGeom>
          <a:solidFill>
            <a:srgbClr val="DC2626"/>
          </a:solidFill>
          <a:ln w="12700">
            <a:solidFill>
              <a:srgbClr val="DC2626"/>
            </a:solidFill>
            <a:prstDash val="solid"/>
          </a:ln>
        </p:spPr>
      </p:sp>
      <p:pic>
        <p:nvPicPr>
          <p:cNvPr id="6" name="Image 0" descr="preencoded.png">    </p:cNvPr>
          <p:cNvPicPr>
            <a:picLocks noChangeAspect="1"/>
          </p:cNvPicPr>
          <p:nvPr/>
        </p:nvPicPr>
        <p:blipFill>
          <a:blip r:embed="rId1"/>
          <a:stretch>
            <a:fillRect/>
          </a:stretch>
        </p:blipFill>
        <p:spPr>
          <a:xfrm>
            <a:off x="1097280" y="2249424"/>
            <a:ext cx="292608" cy="292608"/>
          </a:xfrm>
          <a:prstGeom prst="rect">
            <a:avLst/>
          </a:prstGeom>
        </p:spPr>
      </p:pic>
      <p:sp>
        <p:nvSpPr>
          <p:cNvPr id="7" name="Text 4"/>
          <p:cNvSpPr txBox="1"/>
          <p:nvPr/>
        </p:nvSpPr>
        <p:spPr>
          <a:xfrm>
            <a:off x="950976" y="2852928"/>
            <a:ext cx="4480560" cy="685800"/>
          </a:xfrm>
          <a:prstGeom prst="rect">
            <a:avLst/>
          </a:prstGeom>
          <a:noFill/>
          <a:ln/>
        </p:spPr>
        <p:txBody>
          <a:bodyPr wrap="square" lIns="0" tIns="0" rIns="0" bIns="0" rtlCol="0" anchor="ctr"/>
          <a:lstStyle/>
          <a:p>
            <a:pPr indent="0" marL="0">
              <a:lnSpc>
                <a:spcPts val="2500"/>
              </a:lnSpc>
              <a:buNone/>
            </a:pPr>
            <a:r>
              <a:rPr lang="en-US" sz="1900" b="1" dirty="0">
                <a:solidFill>
                  <a:srgbClr val="141A2E"/>
                </a:solidFill>
                <a:latin typeface="Cambria" pitchFamily="34" charset="0"/>
                <a:ea typeface="Cambria" pitchFamily="34" charset="-122"/>
                <a:cs typeface="Cambria" pitchFamily="34" charset="-120"/>
              </a:rPr>
              <a:t>A policy change waits on an engineering release</a:t>
            </a:r>
            <a:endParaRPr lang="en-US" sz="1900" dirty="0"/>
          </a:p>
        </p:txBody>
      </p:sp>
      <p:sp>
        <p:nvSpPr>
          <p:cNvPr id="8" name="Text 5"/>
          <p:cNvSpPr txBox="1"/>
          <p:nvPr/>
        </p:nvSpPr>
        <p:spPr>
          <a:xfrm>
            <a:off x="950976" y="3566160"/>
            <a:ext cx="4480560" cy="960120"/>
          </a:xfrm>
          <a:prstGeom prst="rect">
            <a:avLst/>
          </a:prstGeom>
          <a:noFill/>
          <a:ln/>
        </p:spPr>
        <p:txBody>
          <a:bodyPr wrap="square" lIns="0" tIns="0" rIns="0" bIns="0" rtlCol="0" anchor="ctr"/>
          <a:lstStyle/>
          <a:p>
            <a:pPr indent="0" marL="0">
              <a:lnSpc>
                <a:spcPts val="2000"/>
              </a:lnSpc>
              <a:buNone/>
            </a:pPr>
            <a:r>
              <a:rPr lang="en-US" sz="1300" dirty="0">
                <a:solidFill>
                  <a:srgbClr val="4F566B"/>
                </a:solidFill>
                <a:latin typeface="Calibri" pitchFamily="34" charset="0"/>
                <a:ea typeface="Calibri" pitchFamily="34" charset="-122"/>
                <a:cs typeface="Calibri" pitchFamily="34" charset="-120"/>
              </a:rPr>
              <a:t>The threshold is a constant in application code. Moving it from 700 to 690 means a ticket, a sprint, a deploy and a rollback plan. So the credit team stops asking, and policy drifts away from the market it was written for.</a:t>
            </a:r>
            <a:endParaRPr lang="en-US" sz="1300" dirty="0"/>
          </a:p>
        </p:txBody>
      </p:sp>
      <p:sp>
        <p:nvSpPr>
          <p:cNvPr id="9" name="Text 6"/>
          <p:cNvSpPr txBox="1"/>
          <p:nvPr/>
        </p:nvSpPr>
        <p:spPr>
          <a:xfrm>
            <a:off x="950976" y="4599432"/>
            <a:ext cx="4480560" cy="347472"/>
          </a:xfrm>
          <a:prstGeom prst="rect">
            <a:avLst/>
          </a:prstGeom>
          <a:noFill/>
          <a:ln/>
        </p:spPr>
        <p:txBody>
          <a:bodyPr wrap="square" lIns="0" tIns="0" rIns="0" bIns="0" rtlCol="0" anchor="ctr"/>
          <a:lstStyle/>
          <a:p>
            <a:pPr indent="0" marL="0">
              <a:buNone/>
            </a:pPr>
            <a:r>
              <a:rPr lang="en-US" sz="1250" b="1" i="1" dirty="0">
                <a:solidFill>
                  <a:srgbClr val="DC2626"/>
                </a:solidFill>
                <a:latin typeface="Calibri" pitchFamily="34" charset="0"/>
                <a:ea typeface="Calibri" pitchFamily="34" charset="-122"/>
                <a:cs typeface="Calibri" pitchFamily="34" charset="-120"/>
              </a:rPr>
              <a:t>Risk moves at the speed of the release train, not the market.</a:t>
            </a:r>
            <a:endParaRPr lang="en-US" sz="1250" dirty="0"/>
          </a:p>
        </p:txBody>
      </p:sp>
      <p:sp>
        <p:nvSpPr>
          <p:cNvPr id="10" name="Shape 7"/>
          <p:cNvSpPr/>
          <p:nvPr/>
        </p:nvSpPr>
        <p:spPr>
          <a:xfrm>
            <a:off x="6190488" y="1755648"/>
            <a:ext cx="5230368" cy="3291840"/>
          </a:xfrm>
          <a:prstGeom prst="roundRect">
            <a:avLst>
              <a:gd name="adj" fmla="val 2778"/>
            </a:avLst>
          </a:prstGeom>
          <a:solidFill>
            <a:srgbClr val="FFFFFF"/>
          </a:solidFill>
          <a:ln w="12700">
            <a:solidFill>
              <a:srgbClr val="E3E8F2"/>
            </a:solidFill>
            <a:prstDash val="solid"/>
          </a:ln>
          <a:effectLst>
            <a:outerShdw sx="100000" sy="100000" kx="0" ky="0" algn="bl" rotWithShape="0" blurRad="127000" dist="25400" dir="5400000">
              <a:srgbClr val="0B1020">
                <a:alpha val="7000"/>
              </a:srgbClr>
            </a:outerShdw>
          </a:effectLst>
        </p:spPr>
      </p:sp>
      <p:sp>
        <p:nvSpPr>
          <p:cNvPr id="11" name="Shape 8"/>
          <p:cNvSpPr/>
          <p:nvPr/>
        </p:nvSpPr>
        <p:spPr>
          <a:xfrm>
            <a:off x="6574536" y="2103120"/>
            <a:ext cx="585216" cy="585216"/>
          </a:xfrm>
          <a:prstGeom prst="ellipse">
            <a:avLst/>
          </a:prstGeom>
          <a:solidFill>
            <a:srgbClr val="D97706"/>
          </a:solidFill>
          <a:ln w="12700">
            <a:solidFill>
              <a:srgbClr val="D97706"/>
            </a:solidFill>
            <a:prstDash val="solid"/>
          </a:ln>
        </p:spPr>
      </p:sp>
      <p:pic>
        <p:nvPicPr>
          <p:cNvPr id="12" name="Image 1" descr="preencoded.png">    </p:cNvPr>
          <p:cNvPicPr>
            <a:picLocks noChangeAspect="1"/>
          </p:cNvPicPr>
          <p:nvPr/>
        </p:nvPicPr>
        <p:blipFill>
          <a:blip r:embed="rId2"/>
          <a:stretch>
            <a:fillRect/>
          </a:stretch>
        </p:blipFill>
        <p:spPr>
          <a:xfrm>
            <a:off x="6720840" y="2249424"/>
            <a:ext cx="292608" cy="292608"/>
          </a:xfrm>
          <a:prstGeom prst="rect">
            <a:avLst/>
          </a:prstGeom>
        </p:spPr>
      </p:pic>
      <p:sp>
        <p:nvSpPr>
          <p:cNvPr id="13" name="Text 9"/>
          <p:cNvSpPr txBox="1"/>
          <p:nvPr/>
        </p:nvSpPr>
        <p:spPr>
          <a:xfrm>
            <a:off x="6574536" y="2852928"/>
            <a:ext cx="4480560" cy="685800"/>
          </a:xfrm>
          <a:prstGeom prst="rect">
            <a:avLst/>
          </a:prstGeom>
          <a:noFill/>
          <a:ln/>
        </p:spPr>
        <p:txBody>
          <a:bodyPr wrap="square" lIns="0" tIns="0" rIns="0" bIns="0" rtlCol="0" anchor="ctr"/>
          <a:lstStyle/>
          <a:p>
            <a:pPr indent="0" marL="0">
              <a:lnSpc>
                <a:spcPts val="2500"/>
              </a:lnSpc>
              <a:buNone/>
            </a:pPr>
            <a:r>
              <a:rPr lang="en-US" sz="1900" b="1" dirty="0">
                <a:solidFill>
                  <a:srgbClr val="141A2E"/>
                </a:solidFill>
                <a:latin typeface="Cambria" pitchFamily="34" charset="0"/>
                <a:ea typeface="Cambria" pitchFamily="34" charset="-122"/>
                <a:cs typeface="Cambria" pitchFamily="34" charset="-120"/>
              </a:rPr>
              <a:t>Eight months later, the regulator asks why</a:t>
            </a:r>
            <a:endParaRPr lang="en-US" sz="1900" dirty="0"/>
          </a:p>
        </p:txBody>
      </p:sp>
      <p:sp>
        <p:nvSpPr>
          <p:cNvPr id="14" name="Text 10"/>
          <p:cNvSpPr txBox="1"/>
          <p:nvPr/>
        </p:nvSpPr>
        <p:spPr>
          <a:xfrm>
            <a:off x="6574536" y="3566160"/>
            <a:ext cx="4480560" cy="960120"/>
          </a:xfrm>
          <a:prstGeom prst="rect">
            <a:avLst/>
          </a:prstGeom>
          <a:noFill/>
          <a:ln/>
        </p:spPr>
        <p:txBody>
          <a:bodyPr wrap="square" lIns="0" tIns="0" rIns="0" bIns="0" rtlCol="0" anchor="ctr"/>
          <a:lstStyle/>
          <a:p>
            <a:pPr indent="0" marL="0">
              <a:lnSpc>
                <a:spcPts val="2000"/>
              </a:lnSpc>
              <a:buNone/>
            </a:pPr>
            <a:r>
              <a:rPr lang="en-US" sz="1300" dirty="0">
                <a:solidFill>
                  <a:srgbClr val="4F566B"/>
                </a:solidFill>
                <a:latin typeface="Calibri" pitchFamily="34" charset="0"/>
                <a:ea typeface="Calibri" pitchFamily="34" charset="-122"/>
                <a:cs typeface="Calibri" pitchFamily="34" charset="-120"/>
              </a:rPr>
              <a:t>One applicant, one decision, one date. What were the rules that day? Which version of the scorecard? What did the bureau actually return? If the answer is a log line and a git blame, the answer is no answer.</a:t>
            </a:r>
            <a:endParaRPr lang="en-US" sz="1300" dirty="0"/>
          </a:p>
        </p:txBody>
      </p:sp>
      <p:sp>
        <p:nvSpPr>
          <p:cNvPr id="15" name="Text 11"/>
          <p:cNvSpPr txBox="1"/>
          <p:nvPr/>
        </p:nvSpPr>
        <p:spPr>
          <a:xfrm>
            <a:off x="6574536" y="4599432"/>
            <a:ext cx="4480560" cy="347472"/>
          </a:xfrm>
          <a:prstGeom prst="rect">
            <a:avLst/>
          </a:prstGeom>
          <a:noFill/>
          <a:ln/>
        </p:spPr>
        <p:txBody>
          <a:bodyPr wrap="square" lIns="0" tIns="0" rIns="0" bIns="0" rtlCol="0" anchor="ctr"/>
          <a:lstStyle/>
          <a:p>
            <a:pPr indent="0" marL="0">
              <a:buNone/>
            </a:pPr>
            <a:r>
              <a:rPr lang="en-US" sz="1250" b="1" i="1" dirty="0">
                <a:solidFill>
                  <a:srgbClr val="D97706"/>
                </a:solidFill>
                <a:latin typeface="Calibri" pitchFamily="34" charset="0"/>
                <a:ea typeface="Calibri" pitchFamily="34" charset="-122"/>
                <a:cs typeface="Calibri" pitchFamily="34" charset="-120"/>
              </a:rPr>
              <a:t>Reconstruction is not evidence. It has to have been recorded.</a:t>
            </a:r>
            <a:endParaRPr lang="en-US" sz="1250" dirty="0"/>
          </a:p>
        </p:txBody>
      </p:sp>
      <p:sp>
        <p:nvSpPr>
          <p:cNvPr id="16" name="Shape 12"/>
          <p:cNvSpPr/>
          <p:nvPr/>
        </p:nvSpPr>
        <p:spPr>
          <a:xfrm>
            <a:off x="566928" y="5212080"/>
            <a:ext cx="10863072" cy="822960"/>
          </a:xfrm>
          <a:prstGeom prst="roundRect">
            <a:avLst>
              <a:gd name="adj" fmla="val 11111"/>
            </a:avLst>
          </a:prstGeom>
          <a:solidFill>
            <a:srgbClr val="141A2E"/>
          </a:solidFill>
          <a:ln w="12700">
            <a:solidFill>
              <a:srgbClr val="141A2E"/>
            </a:solidFill>
            <a:prstDash val="solid"/>
          </a:ln>
          <a:effectLst>
            <a:outerShdw sx="100000" sy="100000" kx="0" ky="0" algn="bl" rotWithShape="0" blurRad="127000" dist="25400" dir="5400000">
              <a:srgbClr val="0B1020">
                <a:alpha val="7000"/>
              </a:srgbClr>
            </a:outerShdw>
          </a:effectLst>
        </p:spPr>
      </p:sp>
      <p:sp>
        <p:nvSpPr>
          <p:cNvPr id="17" name="Text 13"/>
          <p:cNvSpPr txBox="1"/>
          <p:nvPr/>
        </p:nvSpPr>
        <p:spPr>
          <a:xfrm>
            <a:off x="978408" y="5321808"/>
            <a:ext cx="10058400" cy="603504"/>
          </a:xfrm>
          <a:prstGeom prst="rect">
            <a:avLst/>
          </a:prstGeom>
          <a:noFill/>
          <a:ln/>
        </p:spPr>
        <p:txBody>
          <a:bodyPr wrap="square" lIns="0" tIns="0" rIns="0" bIns="0" rtlCol="0" anchor="ctr"/>
          <a:lstStyle/>
          <a:p>
            <a:pPr indent="0" marL="0">
              <a:lnSpc>
                <a:spcPts val="2100"/>
              </a:lnSpc>
              <a:buNone/>
            </a:pPr>
            <a:r>
              <a:rPr lang="en-US" sz="1400" dirty="0">
                <a:solidFill>
                  <a:srgbClr val="FFFFFF"/>
                </a:solidFill>
                <a:latin typeface="Calibri" pitchFamily="34" charset="0"/>
                <a:ea typeface="Calibri" pitchFamily="34" charset="-122"/>
                <a:cs typeface="Calibri" pitchFamily="34" charset="-120"/>
              </a:rPr>
              <a:t>RuleMind removes both. The policy is data, edited in a dashboard and promoted through environments — and every decision it makes is written down with the exact rules that produced it.</a:t>
            </a:r>
            <a:endParaRPr lang="en-US" sz="1400" dirty="0"/>
          </a:p>
        </p:txBody>
      </p:sp>
      <p:sp>
        <p:nvSpPr>
          <p:cNvPr id="19" name="Text 14"/>
          <p:cNvSpPr txBox="1"/>
          <p:nvPr/>
        </p:nvSpPr>
        <p:spPr>
          <a:xfrm>
            <a:off x="566928" y="6291072"/>
            <a:ext cx="2743200" cy="256032"/>
          </a:xfrm>
          <a:prstGeom prst="rect">
            <a:avLst/>
          </a:prstGeom>
          <a:noFill/>
          <a:ln/>
        </p:spPr>
        <p:txBody>
          <a:bodyPr wrap="square" lIns="0" tIns="0" rIns="0" bIns="0" rtlCol="0" anchor="ctr"/>
          <a:lstStyle/>
          <a:p>
            <a:pPr indent="0" marL="0">
              <a:buNone/>
            </a:pPr>
            <a:r>
              <a:rPr lang="en-US" sz="900" dirty="0">
                <a:solidFill>
                  <a:srgbClr val="9AA3BC"/>
                </a:solidFill>
                <a:latin typeface="Calibri" pitchFamily="34" charset="0"/>
                <a:ea typeface="Calibri" pitchFamily="34" charset="-122"/>
                <a:cs typeface="Calibri" pitchFamily="34" charset="-120"/>
              </a:rPr>
              <a:t>RuleMind AI</a:t>
            </a:r>
            <a:endParaRPr lang="en-US" sz="900" dirty="0"/>
          </a:p>
        </p:txBody>
      </p:sp>
      <p:sp>
        <p:nvSpPr>
          <p:cNvPr id="20" name="Text 15"/>
          <p:cNvSpPr txBox="1"/>
          <p:nvPr/>
        </p:nvSpPr>
        <p:spPr>
          <a:xfrm>
            <a:off x="10710367" y="6291072"/>
            <a:ext cx="914400" cy="256032"/>
          </a:xfrm>
          <a:prstGeom prst="rect">
            <a:avLst/>
          </a:prstGeom>
          <a:noFill/>
          <a:ln/>
        </p:spPr>
        <p:txBody>
          <a:bodyPr wrap="square" lIns="0" tIns="0" rIns="0" bIns="0" rtlCol="0" anchor="ctr"/>
          <a:lstStyle/>
          <a:p>
            <a:pPr algn="r" indent="0" marL="0">
              <a:buNone/>
            </a:pPr>
            <a:r>
              <a:rPr lang="en-US" sz="900" dirty="0">
                <a:solidFill>
                  <a:srgbClr val="9AA3B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66928" y="420624"/>
            <a:ext cx="10515600" cy="274320"/>
          </a:xfrm>
          <a:prstGeom prst="rect">
            <a:avLst/>
          </a:prstGeom>
          <a:noFill/>
          <a:ln/>
        </p:spPr>
        <p:txBody>
          <a:bodyPr wrap="square" lIns="0" tIns="0" rIns="0" bIns="0" rtlCol="0" anchor="ctr"/>
          <a:lstStyle/>
          <a:p>
            <a:pPr indent="0" marL="0">
              <a:buNone/>
            </a:pPr>
            <a:r>
              <a:rPr lang="en-US" sz="1200" b="1" spc="220" kern="0" dirty="0">
                <a:solidFill>
                  <a:srgbClr val="635BFF"/>
                </a:solidFill>
                <a:latin typeface="Calibri" pitchFamily="34" charset="0"/>
                <a:ea typeface="Calibri" pitchFamily="34" charset="-122"/>
                <a:cs typeface="Calibri" pitchFamily="34" charset="-120"/>
              </a:rPr>
              <a:t>WHAT IT IS</a:t>
            </a:r>
            <a:endParaRPr lang="en-US" sz="1200" dirty="0"/>
          </a:p>
        </p:txBody>
      </p:sp>
      <p:sp>
        <p:nvSpPr>
          <p:cNvPr id="3" name="Text 1"/>
          <p:cNvSpPr txBox="1"/>
          <p:nvPr/>
        </p:nvSpPr>
        <p:spPr>
          <a:xfrm>
            <a:off x="566928" y="731520"/>
            <a:ext cx="10881360" cy="822960"/>
          </a:xfrm>
          <a:prstGeom prst="rect">
            <a:avLst/>
          </a:prstGeom>
          <a:noFill/>
          <a:ln/>
        </p:spPr>
        <p:txBody>
          <a:bodyPr wrap="square" lIns="0" tIns="0" rIns="0" bIns="0" rtlCol="0" anchor="ctr"/>
          <a:lstStyle/>
          <a:p>
            <a:pPr indent="0" marL="0">
              <a:buNone/>
            </a:pPr>
            <a:r>
              <a:rPr lang="en-US" sz="3400" b="1" dirty="0">
                <a:solidFill>
                  <a:srgbClr val="141A2E"/>
                </a:solidFill>
                <a:latin typeface="Cambria" pitchFamily="34" charset="0"/>
                <a:ea typeface="Cambria" pitchFamily="34" charset="-122"/>
                <a:cs typeface="Cambria" pitchFamily="34" charset="-120"/>
              </a:rPr>
              <a:t>Data in, decision out, reasoning kept</a:t>
            </a:r>
            <a:endParaRPr lang="en-US" sz="3400" dirty="0"/>
          </a:p>
        </p:txBody>
      </p:sp>
      <p:sp>
        <p:nvSpPr>
          <p:cNvPr id="4" name="Shape 2"/>
          <p:cNvSpPr/>
          <p:nvPr/>
        </p:nvSpPr>
        <p:spPr>
          <a:xfrm>
            <a:off x="566928" y="1874520"/>
            <a:ext cx="2048256" cy="3017520"/>
          </a:xfrm>
          <a:prstGeom prst="roundRect">
            <a:avLst>
              <a:gd name="adj" fmla="val 4464"/>
            </a:avLst>
          </a:prstGeom>
          <a:solidFill>
            <a:srgbClr val="FFFFFF"/>
          </a:solidFill>
          <a:ln w="12700">
            <a:solidFill>
              <a:srgbClr val="E3E8F2"/>
            </a:solidFill>
            <a:prstDash val="solid"/>
          </a:ln>
          <a:effectLst>
            <a:outerShdw sx="100000" sy="100000" kx="0" ky="0" algn="bl" rotWithShape="0" blurRad="127000" dist="25400" dir="5400000">
              <a:srgbClr val="0B1020">
                <a:alpha val="7000"/>
              </a:srgbClr>
            </a:outerShdw>
          </a:effectLst>
        </p:spPr>
      </p:sp>
      <p:sp>
        <p:nvSpPr>
          <p:cNvPr id="5" name="Shape 3"/>
          <p:cNvSpPr/>
          <p:nvPr/>
        </p:nvSpPr>
        <p:spPr>
          <a:xfrm>
            <a:off x="896112" y="2194560"/>
            <a:ext cx="512064" cy="512064"/>
          </a:xfrm>
          <a:prstGeom prst="ellipse">
            <a:avLst/>
          </a:prstGeom>
          <a:solidFill>
            <a:srgbClr val="635BFF"/>
          </a:solidFill>
          <a:ln w="12700">
            <a:solidFill>
              <a:srgbClr val="635BFF"/>
            </a:solidFill>
            <a:prstDash val="solid"/>
          </a:ln>
        </p:spPr>
      </p:sp>
      <p:pic>
        <p:nvPicPr>
          <p:cNvPr id="6" name="Image 0" descr="preencoded.png">    </p:cNvPr>
          <p:cNvPicPr>
            <a:picLocks noChangeAspect="1"/>
          </p:cNvPicPr>
          <p:nvPr/>
        </p:nvPicPr>
        <p:blipFill>
          <a:blip r:embed="rId1"/>
          <a:stretch>
            <a:fillRect/>
          </a:stretch>
        </p:blipFill>
        <p:spPr>
          <a:xfrm>
            <a:off x="1024128" y="2322576"/>
            <a:ext cx="256032" cy="256032"/>
          </a:xfrm>
          <a:prstGeom prst="rect">
            <a:avLst/>
          </a:prstGeom>
        </p:spPr>
      </p:pic>
      <p:sp>
        <p:nvSpPr>
          <p:cNvPr id="7" name="Text 4"/>
          <p:cNvSpPr txBox="1"/>
          <p:nvPr/>
        </p:nvSpPr>
        <p:spPr>
          <a:xfrm>
            <a:off x="2048256" y="2212848"/>
            <a:ext cx="365760" cy="292608"/>
          </a:xfrm>
          <a:prstGeom prst="rect">
            <a:avLst/>
          </a:prstGeom>
          <a:noFill/>
          <a:ln/>
        </p:spPr>
        <p:txBody>
          <a:bodyPr wrap="square" lIns="0" tIns="0" rIns="0" bIns="0" rtlCol="0" anchor="ctr"/>
          <a:lstStyle/>
          <a:p>
            <a:pPr algn="r" indent="0" marL="0">
              <a:buNone/>
            </a:pPr>
            <a:r>
              <a:rPr lang="en-US" sz="1500" b="1" dirty="0">
                <a:solidFill>
                  <a:srgbClr val="E3E8F2"/>
                </a:solidFill>
                <a:latin typeface="Calibri" pitchFamily="34" charset="0"/>
                <a:ea typeface="Calibri" pitchFamily="34" charset="-122"/>
                <a:cs typeface="Calibri" pitchFamily="34" charset="-120"/>
              </a:rPr>
              <a:t>1</a:t>
            </a:r>
            <a:endParaRPr lang="en-US" sz="1500" dirty="0"/>
          </a:p>
        </p:txBody>
      </p:sp>
      <p:sp>
        <p:nvSpPr>
          <p:cNvPr id="8" name="Text 5"/>
          <p:cNvSpPr txBox="1"/>
          <p:nvPr/>
        </p:nvSpPr>
        <p:spPr>
          <a:xfrm>
            <a:off x="896112" y="2852928"/>
            <a:ext cx="1408176" cy="365760"/>
          </a:xfrm>
          <a:prstGeom prst="rect">
            <a:avLst/>
          </a:prstGeom>
          <a:noFill/>
          <a:ln/>
        </p:spPr>
        <p:txBody>
          <a:bodyPr wrap="square" lIns="0" tIns="0" rIns="0" bIns="0" rtlCol="0" anchor="ctr"/>
          <a:lstStyle/>
          <a:p>
            <a:pPr indent="0" marL="0">
              <a:buNone/>
            </a:pPr>
            <a:r>
              <a:rPr lang="en-US" sz="1800" b="1" dirty="0">
                <a:solidFill>
                  <a:srgbClr val="141A2E"/>
                </a:solidFill>
                <a:latin typeface="Cambria" pitchFamily="34" charset="0"/>
                <a:ea typeface="Cambria" pitchFamily="34" charset="-122"/>
                <a:cs typeface="Cambria" pitchFamily="34" charset="-120"/>
              </a:rPr>
              <a:t>Connect</a:t>
            </a:r>
            <a:endParaRPr lang="en-US" sz="1800" dirty="0"/>
          </a:p>
        </p:txBody>
      </p:sp>
      <p:sp>
        <p:nvSpPr>
          <p:cNvPr id="9" name="Text 6"/>
          <p:cNvSpPr txBox="1"/>
          <p:nvPr/>
        </p:nvSpPr>
        <p:spPr>
          <a:xfrm>
            <a:off x="896112" y="3273552"/>
            <a:ext cx="1444752" cy="1463040"/>
          </a:xfrm>
          <a:prstGeom prst="rect">
            <a:avLst/>
          </a:prstGeom>
          <a:noFill/>
          <a:ln/>
        </p:spPr>
        <p:txBody>
          <a:bodyPr wrap="square" lIns="0" tIns="0" rIns="0" bIns="0" rtlCol="0" anchor="ctr"/>
          <a:lstStyle/>
          <a:p>
            <a:pPr indent="0" marL="0">
              <a:lnSpc>
                <a:spcPts val="1700"/>
              </a:lnSpc>
              <a:buNone/>
            </a:pPr>
            <a:r>
              <a:rPr lang="en-US" sz="1150" dirty="0">
                <a:solidFill>
                  <a:srgbClr val="4F566B"/>
                </a:solidFill>
                <a:latin typeface="Calibri" pitchFamily="34" charset="0"/>
                <a:ea typeface="Calibri" pitchFamily="34" charset="-122"/>
                <a:cs typeface="Calibri" pitchFamily="34" charset="-120"/>
              </a:rPr>
              <a:t>Any JSON source — bureau, bank, GST, device, KYC, or your own API. Source-agnostic by design.</a:t>
            </a:r>
            <a:endParaRPr lang="en-US" sz="1150" dirty="0"/>
          </a:p>
        </p:txBody>
      </p:sp>
      <p:sp>
        <p:nvSpPr>
          <p:cNvPr id="10" name="Shape 7"/>
          <p:cNvSpPr/>
          <p:nvPr/>
        </p:nvSpPr>
        <p:spPr>
          <a:xfrm rot="5400000">
            <a:off x="2651760" y="2377440"/>
            <a:ext cx="100584" cy="146304"/>
          </a:xfrm>
          <a:prstGeom prst="triangle">
            <a:avLst/>
          </a:prstGeom>
          <a:solidFill>
            <a:srgbClr val="9AA3BC"/>
          </a:solidFill>
          <a:ln w="12700">
            <a:solidFill>
              <a:srgbClr val="9AA3BC"/>
            </a:solidFill>
            <a:prstDash val="solid"/>
          </a:ln>
        </p:spPr>
      </p:sp>
      <p:sp>
        <p:nvSpPr>
          <p:cNvPr id="11" name="Shape 8"/>
          <p:cNvSpPr/>
          <p:nvPr/>
        </p:nvSpPr>
        <p:spPr>
          <a:xfrm>
            <a:off x="2788920" y="1874520"/>
            <a:ext cx="2048256" cy="3017520"/>
          </a:xfrm>
          <a:prstGeom prst="roundRect">
            <a:avLst>
              <a:gd name="adj" fmla="val 4464"/>
            </a:avLst>
          </a:prstGeom>
          <a:solidFill>
            <a:srgbClr val="FFFFFF"/>
          </a:solidFill>
          <a:ln w="12700">
            <a:solidFill>
              <a:srgbClr val="E3E8F2"/>
            </a:solidFill>
            <a:prstDash val="solid"/>
          </a:ln>
          <a:effectLst>
            <a:outerShdw sx="100000" sy="100000" kx="0" ky="0" algn="bl" rotWithShape="0" blurRad="127000" dist="25400" dir="5400000">
              <a:srgbClr val="0B1020">
                <a:alpha val="7000"/>
              </a:srgbClr>
            </a:outerShdw>
          </a:effectLst>
        </p:spPr>
      </p:sp>
      <p:sp>
        <p:nvSpPr>
          <p:cNvPr id="12" name="Shape 9"/>
          <p:cNvSpPr/>
          <p:nvPr/>
        </p:nvSpPr>
        <p:spPr>
          <a:xfrm>
            <a:off x="3118104" y="2194560"/>
            <a:ext cx="512064" cy="512064"/>
          </a:xfrm>
          <a:prstGeom prst="ellipse">
            <a:avLst/>
          </a:prstGeom>
          <a:solidFill>
            <a:srgbClr val="635BFF"/>
          </a:solidFill>
          <a:ln w="12700">
            <a:solidFill>
              <a:srgbClr val="635BFF"/>
            </a:solidFill>
            <a:prstDash val="solid"/>
          </a:ln>
        </p:spPr>
      </p:sp>
      <p:pic>
        <p:nvPicPr>
          <p:cNvPr id="13" name="Image 1" descr="preencoded.png">    </p:cNvPr>
          <p:cNvPicPr>
            <a:picLocks noChangeAspect="1"/>
          </p:cNvPicPr>
          <p:nvPr/>
        </p:nvPicPr>
        <p:blipFill>
          <a:blip r:embed="rId2"/>
          <a:stretch>
            <a:fillRect/>
          </a:stretch>
        </p:blipFill>
        <p:spPr>
          <a:xfrm>
            <a:off x="3246120" y="2322576"/>
            <a:ext cx="256032" cy="256032"/>
          </a:xfrm>
          <a:prstGeom prst="rect">
            <a:avLst/>
          </a:prstGeom>
        </p:spPr>
      </p:pic>
      <p:sp>
        <p:nvSpPr>
          <p:cNvPr id="14" name="Text 10"/>
          <p:cNvSpPr txBox="1"/>
          <p:nvPr/>
        </p:nvSpPr>
        <p:spPr>
          <a:xfrm>
            <a:off x="4270248" y="2212848"/>
            <a:ext cx="365760" cy="292608"/>
          </a:xfrm>
          <a:prstGeom prst="rect">
            <a:avLst/>
          </a:prstGeom>
          <a:noFill/>
          <a:ln/>
        </p:spPr>
        <p:txBody>
          <a:bodyPr wrap="square" lIns="0" tIns="0" rIns="0" bIns="0" rtlCol="0" anchor="ctr"/>
          <a:lstStyle/>
          <a:p>
            <a:pPr algn="r" indent="0" marL="0">
              <a:buNone/>
            </a:pPr>
            <a:r>
              <a:rPr lang="en-US" sz="1500" b="1" dirty="0">
                <a:solidFill>
                  <a:srgbClr val="E3E8F2"/>
                </a:solidFill>
                <a:latin typeface="Calibri" pitchFamily="34" charset="0"/>
                <a:ea typeface="Calibri" pitchFamily="34" charset="-122"/>
                <a:cs typeface="Calibri" pitchFamily="34" charset="-120"/>
              </a:rPr>
              <a:t>2</a:t>
            </a:r>
            <a:endParaRPr lang="en-US" sz="1500" dirty="0"/>
          </a:p>
        </p:txBody>
      </p:sp>
      <p:sp>
        <p:nvSpPr>
          <p:cNvPr id="15" name="Text 11"/>
          <p:cNvSpPr txBox="1"/>
          <p:nvPr/>
        </p:nvSpPr>
        <p:spPr>
          <a:xfrm>
            <a:off x="3118104" y="2852928"/>
            <a:ext cx="1408176" cy="365760"/>
          </a:xfrm>
          <a:prstGeom prst="rect">
            <a:avLst/>
          </a:prstGeom>
          <a:noFill/>
          <a:ln/>
        </p:spPr>
        <p:txBody>
          <a:bodyPr wrap="square" lIns="0" tIns="0" rIns="0" bIns="0" rtlCol="0" anchor="ctr"/>
          <a:lstStyle/>
          <a:p>
            <a:pPr indent="0" marL="0">
              <a:buNone/>
            </a:pPr>
            <a:r>
              <a:rPr lang="en-US" sz="1800" b="1" dirty="0">
                <a:solidFill>
                  <a:srgbClr val="141A2E"/>
                </a:solidFill>
                <a:latin typeface="Cambria" pitchFamily="34" charset="0"/>
                <a:ea typeface="Cambria" pitchFamily="34" charset="-122"/>
                <a:cs typeface="Cambria" pitchFamily="34" charset="-120"/>
              </a:rPr>
              <a:t>Compute</a:t>
            </a:r>
            <a:endParaRPr lang="en-US" sz="1800" dirty="0"/>
          </a:p>
        </p:txBody>
      </p:sp>
      <p:sp>
        <p:nvSpPr>
          <p:cNvPr id="16" name="Text 12"/>
          <p:cNvSpPr txBox="1"/>
          <p:nvPr/>
        </p:nvSpPr>
        <p:spPr>
          <a:xfrm>
            <a:off x="3118104" y="3273552"/>
            <a:ext cx="1444752" cy="1463040"/>
          </a:xfrm>
          <a:prstGeom prst="rect">
            <a:avLst/>
          </a:prstGeom>
          <a:noFill/>
          <a:ln/>
        </p:spPr>
        <p:txBody>
          <a:bodyPr wrap="square" lIns="0" tIns="0" rIns="0" bIns="0" rtlCol="0" anchor="ctr"/>
          <a:lstStyle/>
          <a:p>
            <a:pPr indent="0" marL="0">
              <a:lnSpc>
                <a:spcPts val="1700"/>
              </a:lnSpc>
              <a:buNone/>
            </a:pPr>
            <a:r>
              <a:rPr lang="en-US" sz="1150" dirty="0">
                <a:solidFill>
                  <a:srgbClr val="4F566B"/>
                </a:solidFill>
                <a:latin typeface="Calibri" pitchFamily="34" charset="0"/>
                <a:ea typeface="Calibri" pitchFamily="34" charset="-122"/>
                <a:cs typeface="Calibri" pitchFamily="34" charset="-120"/>
              </a:rPr>
              <a:t>Python variables in a sandbox, or 232 Excel functions if the author thinks in spreadsheets.</a:t>
            </a:r>
            <a:endParaRPr lang="en-US" sz="1150" dirty="0"/>
          </a:p>
        </p:txBody>
      </p:sp>
      <p:sp>
        <p:nvSpPr>
          <p:cNvPr id="17" name="Shape 13"/>
          <p:cNvSpPr/>
          <p:nvPr/>
        </p:nvSpPr>
        <p:spPr>
          <a:xfrm rot="5400000">
            <a:off x="4873752" y="2377440"/>
            <a:ext cx="100584" cy="146304"/>
          </a:xfrm>
          <a:prstGeom prst="triangle">
            <a:avLst/>
          </a:prstGeom>
          <a:solidFill>
            <a:srgbClr val="9AA3BC"/>
          </a:solidFill>
          <a:ln w="12700">
            <a:solidFill>
              <a:srgbClr val="9AA3BC"/>
            </a:solidFill>
            <a:prstDash val="solid"/>
          </a:ln>
        </p:spPr>
      </p:sp>
      <p:sp>
        <p:nvSpPr>
          <p:cNvPr id="18" name="Shape 14"/>
          <p:cNvSpPr/>
          <p:nvPr/>
        </p:nvSpPr>
        <p:spPr>
          <a:xfrm>
            <a:off x="5010912" y="1874520"/>
            <a:ext cx="2048256" cy="3017520"/>
          </a:xfrm>
          <a:prstGeom prst="roundRect">
            <a:avLst>
              <a:gd name="adj" fmla="val 4464"/>
            </a:avLst>
          </a:prstGeom>
          <a:solidFill>
            <a:srgbClr val="FFFFFF"/>
          </a:solidFill>
          <a:ln w="12700">
            <a:solidFill>
              <a:srgbClr val="E3E8F2"/>
            </a:solidFill>
            <a:prstDash val="solid"/>
          </a:ln>
          <a:effectLst>
            <a:outerShdw sx="100000" sy="100000" kx="0" ky="0" algn="bl" rotWithShape="0" blurRad="127000" dist="25400" dir="5400000">
              <a:srgbClr val="0B1020">
                <a:alpha val="7000"/>
              </a:srgbClr>
            </a:outerShdw>
          </a:effectLst>
        </p:spPr>
      </p:sp>
      <p:sp>
        <p:nvSpPr>
          <p:cNvPr id="19" name="Shape 15"/>
          <p:cNvSpPr/>
          <p:nvPr/>
        </p:nvSpPr>
        <p:spPr>
          <a:xfrm>
            <a:off x="5340096" y="2194560"/>
            <a:ext cx="512064" cy="512064"/>
          </a:xfrm>
          <a:prstGeom prst="ellipse">
            <a:avLst/>
          </a:prstGeom>
          <a:solidFill>
            <a:srgbClr val="635BFF"/>
          </a:solidFill>
          <a:ln w="12700">
            <a:solidFill>
              <a:srgbClr val="635BFF"/>
            </a:solidFill>
            <a:prstDash val="solid"/>
          </a:ln>
        </p:spPr>
      </p:sp>
      <p:pic>
        <p:nvPicPr>
          <p:cNvPr id="20" name="Image 2" descr="preencoded.png">    </p:cNvPr>
          <p:cNvPicPr>
            <a:picLocks noChangeAspect="1"/>
          </p:cNvPicPr>
          <p:nvPr/>
        </p:nvPicPr>
        <p:blipFill>
          <a:blip r:embed="rId3"/>
          <a:stretch>
            <a:fillRect/>
          </a:stretch>
        </p:blipFill>
        <p:spPr>
          <a:xfrm>
            <a:off x="5468112" y="2322576"/>
            <a:ext cx="256032" cy="256032"/>
          </a:xfrm>
          <a:prstGeom prst="rect">
            <a:avLst/>
          </a:prstGeom>
        </p:spPr>
      </p:pic>
      <p:sp>
        <p:nvSpPr>
          <p:cNvPr id="21" name="Text 16"/>
          <p:cNvSpPr txBox="1"/>
          <p:nvPr/>
        </p:nvSpPr>
        <p:spPr>
          <a:xfrm>
            <a:off x="6492240" y="2212848"/>
            <a:ext cx="365760" cy="292608"/>
          </a:xfrm>
          <a:prstGeom prst="rect">
            <a:avLst/>
          </a:prstGeom>
          <a:noFill/>
          <a:ln/>
        </p:spPr>
        <p:txBody>
          <a:bodyPr wrap="square" lIns="0" tIns="0" rIns="0" bIns="0" rtlCol="0" anchor="ctr"/>
          <a:lstStyle/>
          <a:p>
            <a:pPr algn="r" indent="0" marL="0">
              <a:buNone/>
            </a:pPr>
            <a:r>
              <a:rPr lang="en-US" sz="1500" b="1" dirty="0">
                <a:solidFill>
                  <a:srgbClr val="E3E8F2"/>
                </a:solidFill>
                <a:latin typeface="Calibri" pitchFamily="34" charset="0"/>
                <a:ea typeface="Calibri" pitchFamily="34" charset="-122"/>
                <a:cs typeface="Calibri" pitchFamily="34" charset="-120"/>
              </a:rPr>
              <a:t>3</a:t>
            </a:r>
            <a:endParaRPr lang="en-US" sz="1500" dirty="0"/>
          </a:p>
        </p:txBody>
      </p:sp>
      <p:sp>
        <p:nvSpPr>
          <p:cNvPr id="22" name="Text 17"/>
          <p:cNvSpPr txBox="1"/>
          <p:nvPr/>
        </p:nvSpPr>
        <p:spPr>
          <a:xfrm>
            <a:off x="5340096" y="2852928"/>
            <a:ext cx="1408176" cy="365760"/>
          </a:xfrm>
          <a:prstGeom prst="rect">
            <a:avLst/>
          </a:prstGeom>
          <a:noFill/>
          <a:ln/>
        </p:spPr>
        <p:txBody>
          <a:bodyPr wrap="square" lIns="0" tIns="0" rIns="0" bIns="0" rtlCol="0" anchor="ctr"/>
          <a:lstStyle/>
          <a:p>
            <a:pPr indent="0" marL="0">
              <a:buNone/>
            </a:pPr>
            <a:r>
              <a:rPr lang="en-US" sz="1800" b="1" dirty="0">
                <a:solidFill>
                  <a:srgbClr val="141A2E"/>
                </a:solidFill>
                <a:latin typeface="Cambria" pitchFamily="34" charset="0"/>
                <a:ea typeface="Cambria" pitchFamily="34" charset="-122"/>
                <a:cs typeface="Cambria" pitchFamily="34" charset="-120"/>
              </a:rPr>
              <a:t>Author</a:t>
            </a:r>
            <a:endParaRPr lang="en-US" sz="1800" dirty="0"/>
          </a:p>
        </p:txBody>
      </p:sp>
      <p:sp>
        <p:nvSpPr>
          <p:cNvPr id="23" name="Text 18"/>
          <p:cNvSpPr txBox="1"/>
          <p:nvPr/>
        </p:nvSpPr>
        <p:spPr>
          <a:xfrm>
            <a:off x="5340096" y="3273552"/>
            <a:ext cx="1444752" cy="1463040"/>
          </a:xfrm>
          <a:prstGeom prst="rect">
            <a:avLst/>
          </a:prstGeom>
          <a:noFill/>
          <a:ln/>
        </p:spPr>
        <p:txBody>
          <a:bodyPr wrap="square" lIns="0" tIns="0" rIns="0" bIns="0" rtlCol="0" anchor="ctr"/>
          <a:lstStyle/>
          <a:p>
            <a:pPr indent="0" marL="0">
              <a:lnSpc>
                <a:spcPts val="1700"/>
              </a:lnSpc>
              <a:buNone/>
            </a:pPr>
            <a:r>
              <a:rPr lang="en-US" sz="1150" dirty="0">
                <a:solidFill>
                  <a:srgbClr val="4F566B"/>
                </a:solidFill>
                <a:latin typeface="Calibri" pitchFamily="34" charset="0"/>
                <a:ea typeface="Calibri" pitchFamily="34" charset="-122"/>
                <a:cs typeface="Calibri" pitchFamily="34" charset="-120"/>
              </a:rPr>
              <a:t>Rules, scorecards and decision tables, click-built. 13 step types compose into a policy.</a:t>
            </a:r>
            <a:endParaRPr lang="en-US" sz="1150" dirty="0"/>
          </a:p>
        </p:txBody>
      </p:sp>
      <p:sp>
        <p:nvSpPr>
          <p:cNvPr id="24" name="Shape 19"/>
          <p:cNvSpPr/>
          <p:nvPr/>
        </p:nvSpPr>
        <p:spPr>
          <a:xfrm rot="5400000">
            <a:off x="7095744" y="2377440"/>
            <a:ext cx="100584" cy="146304"/>
          </a:xfrm>
          <a:prstGeom prst="triangle">
            <a:avLst/>
          </a:prstGeom>
          <a:solidFill>
            <a:srgbClr val="9AA3BC"/>
          </a:solidFill>
          <a:ln w="12700">
            <a:solidFill>
              <a:srgbClr val="9AA3BC"/>
            </a:solidFill>
            <a:prstDash val="solid"/>
          </a:ln>
        </p:spPr>
      </p:sp>
      <p:sp>
        <p:nvSpPr>
          <p:cNvPr id="25" name="Shape 20"/>
          <p:cNvSpPr/>
          <p:nvPr/>
        </p:nvSpPr>
        <p:spPr>
          <a:xfrm>
            <a:off x="7232904" y="1874520"/>
            <a:ext cx="2048256" cy="3017520"/>
          </a:xfrm>
          <a:prstGeom prst="roundRect">
            <a:avLst>
              <a:gd name="adj" fmla="val 4464"/>
            </a:avLst>
          </a:prstGeom>
          <a:solidFill>
            <a:srgbClr val="FFFFFF"/>
          </a:solidFill>
          <a:ln w="12700">
            <a:solidFill>
              <a:srgbClr val="E3E8F2"/>
            </a:solidFill>
            <a:prstDash val="solid"/>
          </a:ln>
          <a:effectLst>
            <a:outerShdw sx="100000" sy="100000" kx="0" ky="0" algn="bl" rotWithShape="0" blurRad="127000" dist="25400" dir="5400000">
              <a:srgbClr val="0B1020">
                <a:alpha val="7000"/>
              </a:srgbClr>
            </a:outerShdw>
          </a:effectLst>
        </p:spPr>
      </p:sp>
      <p:sp>
        <p:nvSpPr>
          <p:cNvPr id="26" name="Shape 21"/>
          <p:cNvSpPr/>
          <p:nvPr/>
        </p:nvSpPr>
        <p:spPr>
          <a:xfrm>
            <a:off x="7562088" y="2194560"/>
            <a:ext cx="512064" cy="512064"/>
          </a:xfrm>
          <a:prstGeom prst="ellipse">
            <a:avLst/>
          </a:prstGeom>
          <a:solidFill>
            <a:srgbClr val="635BFF"/>
          </a:solidFill>
          <a:ln w="12700">
            <a:solidFill>
              <a:srgbClr val="635BFF"/>
            </a:solidFill>
            <a:prstDash val="solid"/>
          </a:ln>
        </p:spPr>
      </p:sp>
      <p:pic>
        <p:nvPicPr>
          <p:cNvPr id="27" name="Image 3" descr="preencoded.png">    </p:cNvPr>
          <p:cNvPicPr>
            <a:picLocks noChangeAspect="1"/>
          </p:cNvPicPr>
          <p:nvPr/>
        </p:nvPicPr>
        <p:blipFill>
          <a:blip r:embed="rId4"/>
          <a:stretch>
            <a:fillRect/>
          </a:stretch>
        </p:blipFill>
        <p:spPr>
          <a:xfrm>
            <a:off x="7690104" y="2322576"/>
            <a:ext cx="256032" cy="256032"/>
          </a:xfrm>
          <a:prstGeom prst="rect">
            <a:avLst/>
          </a:prstGeom>
        </p:spPr>
      </p:pic>
      <p:sp>
        <p:nvSpPr>
          <p:cNvPr id="28" name="Text 22"/>
          <p:cNvSpPr txBox="1"/>
          <p:nvPr/>
        </p:nvSpPr>
        <p:spPr>
          <a:xfrm>
            <a:off x="8714232" y="2212848"/>
            <a:ext cx="365760" cy="292608"/>
          </a:xfrm>
          <a:prstGeom prst="rect">
            <a:avLst/>
          </a:prstGeom>
          <a:noFill/>
          <a:ln/>
        </p:spPr>
        <p:txBody>
          <a:bodyPr wrap="square" lIns="0" tIns="0" rIns="0" bIns="0" rtlCol="0" anchor="ctr"/>
          <a:lstStyle/>
          <a:p>
            <a:pPr algn="r" indent="0" marL="0">
              <a:buNone/>
            </a:pPr>
            <a:r>
              <a:rPr lang="en-US" sz="1500" b="1" dirty="0">
                <a:solidFill>
                  <a:srgbClr val="E3E8F2"/>
                </a:solidFill>
                <a:latin typeface="Calibri" pitchFamily="34" charset="0"/>
                <a:ea typeface="Calibri" pitchFamily="34" charset="-122"/>
                <a:cs typeface="Calibri" pitchFamily="34" charset="-120"/>
              </a:rPr>
              <a:t>4</a:t>
            </a:r>
            <a:endParaRPr lang="en-US" sz="1500" dirty="0"/>
          </a:p>
        </p:txBody>
      </p:sp>
      <p:sp>
        <p:nvSpPr>
          <p:cNvPr id="29" name="Text 23"/>
          <p:cNvSpPr txBox="1"/>
          <p:nvPr/>
        </p:nvSpPr>
        <p:spPr>
          <a:xfrm>
            <a:off x="7562088" y="2852928"/>
            <a:ext cx="1408176" cy="365760"/>
          </a:xfrm>
          <a:prstGeom prst="rect">
            <a:avLst/>
          </a:prstGeom>
          <a:noFill/>
          <a:ln/>
        </p:spPr>
        <p:txBody>
          <a:bodyPr wrap="square" lIns="0" tIns="0" rIns="0" bIns="0" rtlCol="0" anchor="ctr"/>
          <a:lstStyle/>
          <a:p>
            <a:pPr indent="0" marL="0">
              <a:buNone/>
            </a:pPr>
            <a:r>
              <a:rPr lang="en-US" sz="1800" b="1" dirty="0">
                <a:solidFill>
                  <a:srgbClr val="141A2E"/>
                </a:solidFill>
                <a:latin typeface="Cambria" pitchFamily="34" charset="0"/>
                <a:ea typeface="Cambria" pitchFamily="34" charset="-122"/>
                <a:cs typeface="Cambria" pitchFamily="34" charset="-120"/>
              </a:rPr>
              <a:t>Decide</a:t>
            </a:r>
            <a:endParaRPr lang="en-US" sz="1800" dirty="0"/>
          </a:p>
        </p:txBody>
      </p:sp>
      <p:sp>
        <p:nvSpPr>
          <p:cNvPr id="30" name="Text 24"/>
          <p:cNvSpPr txBox="1"/>
          <p:nvPr/>
        </p:nvSpPr>
        <p:spPr>
          <a:xfrm>
            <a:off x="7562088" y="3273552"/>
            <a:ext cx="1444752" cy="1463040"/>
          </a:xfrm>
          <a:prstGeom prst="rect">
            <a:avLst/>
          </a:prstGeom>
          <a:noFill/>
          <a:ln/>
        </p:spPr>
        <p:txBody>
          <a:bodyPr wrap="square" lIns="0" tIns="0" rIns="0" bIns="0" rtlCol="0" anchor="ctr"/>
          <a:lstStyle/>
          <a:p>
            <a:pPr indent="0" marL="0">
              <a:lnSpc>
                <a:spcPts val="1700"/>
              </a:lnSpc>
              <a:buNone/>
            </a:pPr>
            <a:r>
              <a:rPr lang="en-US" sz="1150" dirty="0">
                <a:solidFill>
                  <a:srgbClr val="4F566B"/>
                </a:solidFill>
                <a:latin typeface="Calibri" pitchFamily="34" charset="0"/>
                <a:ea typeface="Calibri" pitchFamily="34" charset="-122"/>
                <a:cs typeface="Calibri" pitchFamily="34" charset="-120"/>
              </a:rPr>
              <a:t>One /decide call returns the outcome, the score, and the step-by-step trace behind it.</a:t>
            </a:r>
            <a:endParaRPr lang="en-US" sz="1150" dirty="0"/>
          </a:p>
        </p:txBody>
      </p:sp>
      <p:sp>
        <p:nvSpPr>
          <p:cNvPr id="31" name="Shape 25"/>
          <p:cNvSpPr/>
          <p:nvPr/>
        </p:nvSpPr>
        <p:spPr>
          <a:xfrm rot="5400000">
            <a:off x="9317736" y="2377440"/>
            <a:ext cx="100584" cy="146304"/>
          </a:xfrm>
          <a:prstGeom prst="triangle">
            <a:avLst/>
          </a:prstGeom>
          <a:solidFill>
            <a:srgbClr val="9AA3BC"/>
          </a:solidFill>
          <a:ln w="12700">
            <a:solidFill>
              <a:srgbClr val="9AA3BC"/>
            </a:solidFill>
            <a:prstDash val="solid"/>
          </a:ln>
        </p:spPr>
      </p:sp>
      <p:sp>
        <p:nvSpPr>
          <p:cNvPr id="32" name="Shape 26"/>
          <p:cNvSpPr/>
          <p:nvPr/>
        </p:nvSpPr>
        <p:spPr>
          <a:xfrm>
            <a:off x="9454896" y="1874520"/>
            <a:ext cx="2048256" cy="3017520"/>
          </a:xfrm>
          <a:prstGeom prst="roundRect">
            <a:avLst>
              <a:gd name="adj" fmla="val 4464"/>
            </a:avLst>
          </a:prstGeom>
          <a:solidFill>
            <a:srgbClr val="FFFFFF"/>
          </a:solidFill>
          <a:ln w="12700">
            <a:solidFill>
              <a:srgbClr val="E3E8F2"/>
            </a:solidFill>
            <a:prstDash val="solid"/>
          </a:ln>
          <a:effectLst>
            <a:outerShdw sx="100000" sy="100000" kx="0" ky="0" algn="bl" rotWithShape="0" blurRad="127000" dist="25400" dir="5400000">
              <a:srgbClr val="0B1020">
                <a:alpha val="7000"/>
              </a:srgbClr>
            </a:outerShdw>
          </a:effectLst>
        </p:spPr>
      </p:sp>
      <p:sp>
        <p:nvSpPr>
          <p:cNvPr id="33" name="Shape 27"/>
          <p:cNvSpPr/>
          <p:nvPr/>
        </p:nvSpPr>
        <p:spPr>
          <a:xfrm>
            <a:off x="9784080" y="2194560"/>
            <a:ext cx="512064" cy="512064"/>
          </a:xfrm>
          <a:prstGeom prst="ellipse">
            <a:avLst/>
          </a:prstGeom>
          <a:solidFill>
            <a:srgbClr val="4B44D1"/>
          </a:solidFill>
          <a:ln w="12700">
            <a:solidFill>
              <a:srgbClr val="635BFF"/>
            </a:solidFill>
            <a:prstDash val="solid"/>
          </a:ln>
        </p:spPr>
      </p:sp>
      <p:pic>
        <p:nvPicPr>
          <p:cNvPr id="34" name="Image 4" descr="preencoded.png">    </p:cNvPr>
          <p:cNvPicPr>
            <a:picLocks noChangeAspect="1"/>
          </p:cNvPicPr>
          <p:nvPr/>
        </p:nvPicPr>
        <p:blipFill>
          <a:blip r:embed="rId5"/>
          <a:stretch>
            <a:fillRect/>
          </a:stretch>
        </p:blipFill>
        <p:spPr>
          <a:xfrm>
            <a:off x="9912096" y="2322576"/>
            <a:ext cx="256032" cy="256032"/>
          </a:xfrm>
          <a:prstGeom prst="rect">
            <a:avLst/>
          </a:prstGeom>
        </p:spPr>
      </p:pic>
      <p:sp>
        <p:nvSpPr>
          <p:cNvPr id="35" name="Text 28"/>
          <p:cNvSpPr txBox="1"/>
          <p:nvPr/>
        </p:nvSpPr>
        <p:spPr>
          <a:xfrm>
            <a:off x="10936224" y="2212848"/>
            <a:ext cx="365760" cy="292608"/>
          </a:xfrm>
          <a:prstGeom prst="rect">
            <a:avLst/>
          </a:prstGeom>
          <a:noFill/>
          <a:ln/>
        </p:spPr>
        <p:txBody>
          <a:bodyPr wrap="square" lIns="0" tIns="0" rIns="0" bIns="0" rtlCol="0" anchor="ctr"/>
          <a:lstStyle/>
          <a:p>
            <a:pPr algn="r" indent="0" marL="0">
              <a:buNone/>
            </a:pPr>
            <a:r>
              <a:rPr lang="en-US" sz="1500" b="1" dirty="0">
                <a:solidFill>
                  <a:srgbClr val="E3E8F2"/>
                </a:solidFill>
                <a:latin typeface="Calibri" pitchFamily="34" charset="0"/>
                <a:ea typeface="Calibri" pitchFamily="34" charset="-122"/>
                <a:cs typeface="Calibri" pitchFamily="34" charset="-120"/>
              </a:rPr>
              <a:t>5</a:t>
            </a:r>
            <a:endParaRPr lang="en-US" sz="1500" dirty="0"/>
          </a:p>
        </p:txBody>
      </p:sp>
      <p:sp>
        <p:nvSpPr>
          <p:cNvPr id="36" name="Text 29"/>
          <p:cNvSpPr txBox="1"/>
          <p:nvPr/>
        </p:nvSpPr>
        <p:spPr>
          <a:xfrm>
            <a:off x="9784080" y="2852928"/>
            <a:ext cx="1408176" cy="365760"/>
          </a:xfrm>
          <a:prstGeom prst="rect">
            <a:avLst/>
          </a:prstGeom>
          <a:noFill/>
          <a:ln/>
        </p:spPr>
        <p:txBody>
          <a:bodyPr wrap="square" lIns="0" tIns="0" rIns="0" bIns="0" rtlCol="0" anchor="ctr"/>
          <a:lstStyle/>
          <a:p>
            <a:pPr indent="0" marL="0">
              <a:buNone/>
            </a:pPr>
            <a:r>
              <a:rPr lang="en-US" sz="1800" b="1" dirty="0">
                <a:solidFill>
                  <a:srgbClr val="141A2E"/>
                </a:solidFill>
                <a:latin typeface="Cambria" pitchFamily="34" charset="0"/>
                <a:ea typeface="Cambria" pitchFamily="34" charset="-122"/>
                <a:cs typeface="Cambria" pitchFamily="34" charset="-120"/>
              </a:rPr>
              <a:t>Account</a:t>
            </a:r>
            <a:endParaRPr lang="en-US" sz="1800" dirty="0"/>
          </a:p>
        </p:txBody>
      </p:sp>
      <p:sp>
        <p:nvSpPr>
          <p:cNvPr id="37" name="Text 30"/>
          <p:cNvSpPr txBox="1"/>
          <p:nvPr/>
        </p:nvSpPr>
        <p:spPr>
          <a:xfrm>
            <a:off x="9784080" y="3273552"/>
            <a:ext cx="1444752" cy="1463040"/>
          </a:xfrm>
          <a:prstGeom prst="rect">
            <a:avLst/>
          </a:prstGeom>
          <a:noFill/>
          <a:ln/>
        </p:spPr>
        <p:txBody>
          <a:bodyPr wrap="square" lIns="0" tIns="0" rIns="0" bIns="0" rtlCol="0" anchor="ctr"/>
          <a:lstStyle/>
          <a:p>
            <a:pPr indent="0" marL="0">
              <a:lnSpc>
                <a:spcPts val="1700"/>
              </a:lnSpc>
              <a:buNone/>
            </a:pPr>
            <a:r>
              <a:rPr lang="en-US" sz="1150" dirty="0">
                <a:solidFill>
                  <a:srgbClr val="4F566B"/>
                </a:solidFill>
                <a:latin typeface="Calibri" pitchFamily="34" charset="0"/>
                <a:ea typeface="Calibri" pitchFamily="34" charset="-122"/>
                <a:cs typeface="Calibri" pitchFamily="34" charset="-120"/>
              </a:rPr>
              <a:t>Every decision stores its inputs, computed variables, every rule result and the full step trace.</a:t>
            </a:r>
            <a:endParaRPr lang="en-US" sz="1150" dirty="0"/>
          </a:p>
        </p:txBody>
      </p:sp>
      <p:sp>
        <p:nvSpPr>
          <p:cNvPr id="38" name="Text 31"/>
          <p:cNvSpPr txBox="1"/>
          <p:nvPr/>
        </p:nvSpPr>
        <p:spPr>
          <a:xfrm>
            <a:off x="566928" y="5212080"/>
            <a:ext cx="1005840" cy="411480"/>
          </a:xfrm>
          <a:prstGeom prst="rect">
            <a:avLst/>
          </a:prstGeom>
          <a:noFill/>
          <a:ln/>
        </p:spPr>
        <p:txBody>
          <a:bodyPr wrap="square" lIns="0" tIns="0" rIns="0" bIns="0" rtlCol="0" anchor="ctr"/>
          <a:lstStyle/>
          <a:p>
            <a:pPr indent="0" marL="0">
              <a:buNone/>
            </a:pPr>
            <a:r>
              <a:rPr lang="en-US" sz="2400" b="1" dirty="0">
                <a:solidFill>
                  <a:srgbClr val="635BFF"/>
                </a:solidFill>
                <a:latin typeface="Calibri" pitchFamily="34" charset="0"/>
                <a:ea typeface="Calibri" pitchFamily="34" charset="-122"/>
                <a:cs typeface="Calibri" pitchFamily="34" charset="-120"/>
              </a:rPr>
              <a:t>281</a:t>
            </a:r>
            <a:endParaRPr lang="en-US" sz="2400" dirty="0"/>
          </a:p>
        </p:txBody>
      </p:sp>
      <p:sp>
        <p:nvSpPr>
          <p:cNvPr id="39" name="Text 32"/>
          <p:cNvSpPr txBox="1"/>
          <p:nvPr/>
        </p:nvSpPr>
        <p:spPr>
          <a:xfrm>
            <a:off x="566928" y="5632704"/>
            <a:ext cx="2560320" cy="320040"/>
          </a:xfrm>
          <a:prstGeom prst="rect">
            <a:avLst/>
          </a:prstGeom>
          <a:noFill/>
          <a:ln/>
        </p:spPr>
        <p:txBody>
          <a:bodyPr wrap="square" lIns="0" tIns="0" rIns="0" bIns="0" rtlCol="0" anchor="ctr"/>
          <a:lstStyle/>
          <a:p>
            <a:pPr indent="0" marL="0">
              <a:buNone/>
            </a:pPr>
            <a:r>
              <a:rPr lang="en-US" sz="1150" dirty="0">
                <a:solidFill>
                  <a:srgbClr val="4F566B"/>
                </a:solidFill>
                <a:latin typeface="Calibri" pitchFamily="34" charset="0"/>
                <a:ea typeface="Calibri" pitchFamily="34" charset="-122"/>
                <a:cs typeface="Calibri" pitchFamily="34" charset="-120"/>
              </a:rPr>
              <a:t>API endpoints</a:t>
            </a:r>
            <a:endParaRPr lang="en-US" sz="1150" dirty="0"/>
          </a:p>
        </p:txBody>
      </p:sp>
      <p:sp>
        <p:nvSpPr>
          <p:cNvPr id="40" name="Text 33"/>
          <p:cNvSpPr txBox="1"/>
          <p:nvPr/>
        </p:nvSpPr>
        <p:spPr>
          <a:xfrm>
            <a:off x="3310128" y="5212080"/>
            <a:ext cx="1005840" cy="411480"/>
          </a:xfrm>
          <a:prstGeom prst="rect">
            <a:avLst/>
          </a:prstGeom>
          <a:noFill/>
          <a:ln/>
        </p:spPr>
        <p:txBody>
          <a:bodyPr wrap="square" lIns="0" tIns="0" rIns="0" bIns="0" rtlCol="0" anchor="ctr"/>
          <a:lstStyle/>
          <a:p>
            <a:pPr indent="0" marL="0">
              <a:buNone/>
            </a:pPr>
            <a:r>
              <a:rPr lang="en-US" sz="2400" b="1" dirty="0">
                <a:solidFill>
                  <a:srgbClr val="635BFF"/>
                </a:solidFill>
                <a:latin typeface="Calibri" pitchFamily="34" charset="0"/>
                <a:ea typeface="Calibri" pitchFamily="34" charset="-122"/>
                <a:cs typeface="Calibri" pitchFamily="34" charset="-120"/>
              </a:rPr>
              <a:t>13</a:t>
            </a:r>
            <a:endParaRPr lang="en-US" sz="2400" dirty="0"/>
          </a:p>
        </p:txBody>
      </p:sp>
      <p:sp>
        <p:nvSpPr>
          <p:cNvPr id="41" name="Text 34"/>
          <p:cNvSpPr txBox="1"/>
          <p:nvPr/>
        </p:nvSpPr>
        <p:spPr>
          <a:xfrm>
            <a:off x="3310128" y="5632704"/>
            <a:ext cx="2560320" cy="320040"/>
          </a:xfrm>
          <a:prstGeom prst="rect">
            <a:avLst/>
          </a:prstGeom>
          <a:noFill/>
          <a:ln/>
        </p:spPr>
        <p:txBody>
          <a:bodyPr wrap="square" lIns="0" tIns="0" rIns="0" bIns="0" rtlCol="0" anchor="ctr"/>
          <a:lstStyle/>
          <a:p>
            <a:pPr indent="0" marL="0">
              <a:buNone/>
            </a:pPr>
            <a:r>
              <a:rPr lang="en-US" sz="1150" dirty="0">
                <a:solidFill>
                  <a:srgbClr val="4F566B"/>
                </a:solidFill>
                <a:latin typeface="Calibri" pitchFamily="34" charset="0"/>
                <a:ea typeface="Calibri" pitchFamily="34" charset="-122"/>
                <a:cs typeface="Calibri" pitchFamily="34" charset="-120"/>
              </a:rPr>
              <a:t>composable step types</a:t>
            </a:r>
            <a:endParaRPr lang="en-US" sz="1150" dirty="0"/>
          </a:p>
        </p:txBody>
      </p:sp>
      <p:sp>
        <p:nvSpPr>
          <p:cNvPr id="42" name="Text 35"/>
          <p:cNvSpPr txBox="1"/>
          <p:nvPr/>
        </p:nvSpPr>
        <p:spPr>
          <a:xfrm>
            <a:off x="6053328" y="5212080"/>
            <a:ext cx="1005840" cy="411480"/>
          </a:xfrm>
          <a:prstGeom prst="rect">
            <a:avLst/>
          </a:prstGeom>
          <a:noFill/>
          <a:ln/>
        </p:spPr>
        <p:txBody>
          <a:bodyPr wrap="square" lIns="0" tIns="0" rIns="0" bIns="0" rtlCol="0" anchor="ctr"/>
          <a:lstStyle/>
          <a:p>
            <a:pPr indent="0" marL="0">
              <a:buNone/>
            </a:pPr>
            <a:r>
              <a:rPr lang="en-US" sz="2400" b="1" dirty="0">
                <a:solidFill>
                  <a:srgbClr val="635BFF"/>
                </a:solidFill>
                <a:latin typeface="Calibri" pitchFamily="34" charset="0"/>
                <a:ea typeface="Calibri" pitchFamily="34" charset="-122"/>
                <a:cs typeface="Calibri" pitchFamily="34" charset="-120"/>
              </a:rPr>
              <a:t>41</a:t>
            </a:r>
            <a:endParaRPr lang="en-US" sz="2400" dirty="0"/>
          </a:p>
        </p:txBody>
      </p:sp>
      <p:sp>
        <p:nvSpPr>
          <p:cNvPr id="43" name="Text 36"/>
          <p:cNvSpPr txBox="1"/>
          <p:nvPr/>
        </p:nvSpPr>
        <p:spPr>
          <a:xfrm>
            <a:off x="6053328" y="5632704"/>
            <a:ext cx="2560320" cy="320040"/>
          </a:xfrm>
          <a:prstGeom prst="rect">
            <a:avLst/>
          </a:prstGeom>
          <a:noFill/>
          <a:ln/>
        </p:spPr>
        <p:txBody>
          <a:bodyPr wrap="square" lIns="0" tIns="0" rIns="0" bIns="0" rtlCol="0" anchor="ctr"/>
          <a:lstStyle/>
          <a:p>
            <a:pPr indent="0" marL="0">
              <a:buNone/>
            </a:pPr>
            <a:r>
              <a:rPr lang="en-US" sz="1150" dirty="0">
                <a:solidFill>
                  <a:srgbClr val="4F566B"/>
                </a:solidFill>
                <a:latin typeface="Calibri" pitchFamily="34" charset="0"/>
                <a:ea typeface="Calibri" pitchFamily="34" charset="-122"/>
                <a:cs typeface="Calibri" pitchFamily="34" charset="-120"/>
              </a:rPr>
              <a:t>tables of recorded state</a:t>
            </a:r>
            <a:endParaRPr lang="en-US" sz="1150" dirty="0"/>
          </a:p>
        </p:txBody>
      </p:sp>
      <p:sp>
        <p:nvSpPr>
          <p:cNvPr id="44" name="Text 37"/>
          <p:cNvSpPr txBox="1"/>
          <p:nvPr/>
        </p:nvSpPr>
        <p:spPr>
          <a:xfrm>
            <a:off x="8796528" y="5212080"/>
            <a:ext cx="1005840" cy="411480"/>
          </a:xfrm>
          <a:prstGeom prst="rect">
            <a:avLst/>
          </a:prstGeom>
          <a:noFill/>
          <a:ln/>
        </p:spPr>
        <p:txBody>
          <a:bodyPr wrap="square" lIns="0" tIns="0" rIns="0" bIns="0" rtlCol="0" anchor="ctr"/>
          <a:lstStyle/>
          <a:p>
            <a:pPr indent="0" marL="0">
              <a:buNone/>
            </a:pPr>
            <a:r>
              <a:rPr lang="en-US" sz="2400" b="1" dirty="0">
                <a:solidFill>
                  <a:srgbClr val="635BFF"/>
                </a:solidFill>
                <a:latin typeface="Calibri" pitchFamily="34" charset="0"/>
                <a:ea typeface="Calibri" pitchFamily="34" charset="-122"/>
                <a:cs typeface="Calibri" pitchFamily="34" charset="-120"/>
              </a:rPr>
              <a:t>3</a:t>
            </a:r>
            <a:endParaRPr lang="en-US" sz="2400" dirty="0"/>
          </a:p>
        </p:txBody>
      </p:sp>
      <p:sp>
        <p:nvSpPr>
          <p:cNvPr id="45" name="Text 38"/>
          <p:cNvSpPr txBox="1"/>
          <p:nvPr/>
        </p:nvSpPr>
        <p:spPr>
          <a:xfrm>
            <a:off x="8796528" y="5632704"/>
            <a:ext cx="2560320" cy="320040"/>
          </a:xfrm>
          <a:prstGeom prst="rect">
            <a:avLst/>
          </a:prstGeom>
          <a:noFill/>
          <a:ln/>
        </p:spPr>
        <p:txBody>
          <a:bodyPr wrap="square" lIns="0" tIns="0" rIns="0" bIns="0" rtlCol="0" anchor="ctr"/>
          <a:lstStyle/>
          <a:p>
            <a:pPr indent="0" marL="0">
              <a:buNone/>
            </a:pPr>
            <a:r>
              <a:rPr lang="en-US" sz="1150" dirty="0">
                <a:solidFill>
                  <a:srgbClr val="4F566B"/>
                </a:solidFill>
                <a:latin typeface="Calibri" pitchFamily="34" charset="0"/>
                <a:ea typeface="Calibri" pitchFamily="34" charset="-122"/>
                <a:cs typeface="Calibri" pitchFamily="34" charset="-120"/>
              </a:rPr>
              <a:t>environments, promoted not copied</a:t>
            </a:r>
            <a:endParaRPr lang="en-US" sz="1150" dirty="0"/>
          </a:p>
        </p:txBody>
      </p:sp>
      <p:sp>
        <p:nvSpPr>
          <p:cNvPr id="47" name="Text 39"/>
          <p:cNvSpPr txBox="1"/>
          <p:nvPr/>
        </p:nvSpPr>
        <p:spPr>
          <a:xfrm>
            <a:off x="566928" y="6291072"/>
            <a:ext cx="2743200" cy="256032"/>
          </a:xfrm>
          <a:prstGeom prst="rect">
            <a:avLst/>
          </a:prstGeom>
          <a:noFill/>
          <a:ln/>
        </p:spPr>
        <p:txBody>
          <a:bodyPr wrap="square" lIns="0" tIns="0" rIns="0" bIns="0" rtlCol="0" anchor="ctr"/>
          <a:lstStyle/>
          <a:p>
            <a:pPr indent="0" marL="0">
              <a:buNone/>
            </a:pPr>
            <a:r>
              <a:rPr lang="en-US" sz="900" dirty="0">
                <a:solidFill>
                  <a:srgbClr val="9AA3BC"/>
                </a:solidFill>
                <a:latin typeface="Calibri" pitchFamily="34" charset="0"/>
                <a:ea typeface="Calibri" pitchFamily="34" charset="-122"/>
                <a:cs typeface="Calibri" pitchFamily="34" charset="-120"/>
              </a:rPr>
              <a:t>RuleMind AI</a:t>
            </a:r>
            <a:endParaRPr lang="en-US" sz="900" dirty="0"/>
          </a:p>
        </p:txBody>
      </p:sp>
      <p:sp>
        <p:nvSpPr>
          <p:cNvPr id="48" name="Text 40"/>
          <p:cNvSpPr txBox="1"/>
          <p:nvPr/>
        </p:nvSpPr>
        <p:spPr>
          <a:xfrm>
            <a:off x="10710367" y="6291072"/>
            <a:ext cx="914400" cy="256032"/>
          </a:xfrm>
          <a:prstGeom prst="rect">
            <a:avLst/>
          </a:prstGeom>
          <a:noFill/>
          <a:ln/>
        </p:spPr>
        <p:txBody>
          <a:bodyPr wrap="square" lIns="0" tIns="0" rIns="0" bIns="0" rtlCol="0" anchor="ctr"/>
          <a:lstStyle/>
          <a:p>
            <a:pPr algn="r" indent="0" marL="0">
              <a:buNone/>
            </a:pPr>
            <a:r>
              <a:rPr lang="en-US" sz="900" dirty="0">
                <a:solidFill>
                  <a:srgbClr val="9AA3B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66928" y="420624"/>
            <a:ext cx="10515600" cy="274320"/>
          </a:xfrm>
          <a:prstGeom prst="rect">
            <a:avLst/>
          </a:prstGeom>
          <a:noFill/>
          <a:ln/>
        </p:spPr>
        <p:txBody>
          <a:bodyPr wrap="square" lIns="0" tIns="0" rIns="0" bIns="0" rtlCol="0" anchor="ctr"/>
          <a:lstStyle/>
          <a:p>
            <a:pPr indent="0" marL="0">
              <a:buNone/>
            </a:pPr>
            <a:r>
              <a:rPr lang="en-US" sz="1200" b="1" spc="220" kern="0" dirty="0">
                <a:solidFill>
                  <a:srgbClr val="635BFF"/>
                </a:solidFill>
                <a:latin typeface="Calibri" pitchFamily="34" charset="0"/>
                <a:ea typeface="Calibri" pitchFamily="34" charset="-122"/>
                <a:cs typeface="Calibri" pitchFamily="34" charset="-120"/>
              </a:rPr>
              <a:t>CAPABILITY</a:t>
            </a:r>
            <a:endParaRPr lang="en-US" sz="1200" dirty="0"/>
          </a:p>
        </p:txBody>
      </p:sp>
      <p:sp>
        <p:nvSpPr>
          <p:cNvPr id="3" name="Text 1"/>
          <p:cNvSpPr txBox="1"/>
          <p:nvPr/>
        </p:nvSpPr>
        <p:spPr>
          <a:xfrm>
            <a:off x="566928" y="731520"/>
            <a:ext cx="10881360" cy="822960"/>
          </a:xfrm>
          <a:prstGeom prst="rect">
            <a:avLst/>
          </a:prstGeom>
          <a:noFill/>
          <a:ln/>
        </p:spPr>
        <p:txBody>
          <a:bodyPr wrap="square" lIns="0" tIns="0" rIns="0" bIns="0" rtlCol="0" anchor="ctr"/>
          <a:lstStyle/>
          <a:p>
            <a:pPr indent="0" marL="0">
              <a:buNone/>
            </a:pPr>
            <a:r>
              <a:rPr lang="en-US" sz="3400" b="1" dirty="0">
                <a:solidFill>
                  <a:srgbClr val="141A2E"/>
                </a:solidFill>
                <a:latin typeface="Cambria" pitchFamily="34" charset="0"/>
                <a:ea typeface="Cambria" pitchFamily="34" charset="-122"/>
                <a:cs typeface="Cambria" pitchFamily="34" charset="-120"/>
              </a:rPr>
              <a:t>The risk team ships the change</a:t>
            </a:r>
            <a:endParaRPr lang="en-US" sz="3400" dirty="0"/>
          </a:p>
        </p:txBody>
      </p:sp>
      <p:sp>
        <p:nvSpPr>
          <p:cNvPr id="4" name="Shape 2"/>
          <p:cNvSpPr/>
          <p:nvPr/>
        </p:nvSpPr>
        <p:spPr>
          <a:xfrm>
            <a:off x="566928" y="1874520"/>
            <a:ext cx="3493008" cy="1572768"/>
          </a:xfrm>
          <a:prstGeom prst="roundRect">
            <a:avLst>
              <a:gd name="adj" fmla="val 5814"/>
            </a:avLst>
          </a:prstGeom>
          <a:solidFill>
            <a:srgbClr val="FFFFFF"/>
          </a:solidFill>
          <a:ln w="12700">
            <a:solidFill>
              <a:srgbClr val="E3E8F2"/>
            </a:solidFill>
            <a:prstDash val="solid"/>
          </a:ln>
          <a:effectLst>
            <a:outerShdw sx="100000" sy="100000" kx="0" ky="0" algn="bl" rotWithShape="0" blurRad="127000" dist="25400" dir="5400000">
              <a:srgbClr val="0B1020">
                <a:alpha val="7000"/>
              </a:srgbClr>
            </a:outerShdw>
          </a:effectLst>
        </p:spPr>
      </p:sp>
      <p:sp>
        <p:nvSpPr>
          <p:cNvPr id="5" name="Shape 3"/>
          <p:cNvSpPr/>
          <p:nvPr/>
        </p:nvSpPr>
        <p:spPr>
          <a:xfrm>
            <a:off x="859536" y="2185416"/>
            <a:ext cx="457200" cy="457200"/>
          </a:xfrm>
          <a:prstGeom prst="ellipse">
            <a:avLst/>
          </a:prstGeom>
          <a:solidFill>
            <a:srgbClr val="635BFF"/>
          </a:solidFill>
          <a:ln w="12700">
            <a:solidFill>
              <a:srgbClr val="635BFF"/>
            </a:solidFill>
            <a:prstDash val="solid"/>
          </a:ln>
        </p:spPr>
      </p:sp>
      <p:pic>
        <p:nvPicPr>
          <p:cNvPr id="6" name="Image 0" descr="preencoded.png">    </p:cNvPr>
          <p:cNvPicPr>
            <a:picLocks noChangeAspect="1"/>
          </p:cNvPicPr>
          <p:nvPr/>
        </p:nvPicPr>
        <p:blipFill>
          <a:blip r:embed="rId1"/>
          <a:stretch>
            <a:fillRect/>
          </a:stretch>
        </p:blipFill>
        <p:spPr>
          <a:xfrm>
            <a:off x="969264" y="2295144"/>
            <a:ext cx="237744" cy="237744"/>
          </a:xfrm>
          <a:prstGeom prst="rect">
            <a:avLst/>
          </a:prstGeom>
        </p:spPr>
      </p:pic>
      <p:sp>
        <p:nvSpPr>
          <p:cNvPr id="7" name="Text 4"/>
          <p:cNvSpPr txBox="1"/>
          <p:nvPr/>
        </p:nvSpPr>
        <p:spPr>
          <a:xfrm>
            <a:off x="1435608" y="2093976"/>
            <a:ext cx="2359152" cy="530352"/>
          </a:xfrm>
          <a:prstGeom prst="rect">
            <a:avLst/>
          </a:prstGeom>
          <a:noFill/>
          <a:ln/>
        </p:spPr>
        <p:txBody>
          <a:bodyPr wrap="square" lIns="0" tIns="0" rIns="0" bIns="0" rtlCol="0" anchor="ctr"/>
          <a:lstStyle/>
          <a:p>
            <a:pPr indent="0" marL="0">
              <a:lnSpc>
                <a:spcPts val="2000"/>
              </a:lnSpc>
              <a:buNone/>
            </a:pPr>
            <a:r>
              <a:rPr lang="en-US" sz="1550" b="1" dirty="0">
                <a:solidFill>
                  <a:srgbClr val="141A2E"/>
                </a:solidFill>
                <a:latin typeface="Cambria" pitchFamily="34" charset="0"/>
                <a:ea typeface="Cambria" pitchFamily="34" charset="-122"/>
                <a:cs typeface="Cambria" pitchFamily="34" charset="-120"/>
              </a:rPr>
              <a:t>Promote, don't redeploy</a:t>
            </a:r>
            <a:endParaRPr lang="en-US" sz="1550" dirty="0"/>
          </a:p>
        </p:txBody>
      </p:sp>
      <p:sp>
        <p:nvSpPr>
          <p:cNvPr id="8" name="Text 5"/>
          <p:cNvSpPr txBox="1"/>
          <p:nvPr/>
        </p:nvSpPr>
        <p:spPr>
          <a:xfrm>
            <a:off x="1435608" y="2660904"/>
            <a:ext cx="2359152" cy="676656"/>
          </a:xfrm>
          <a:prstGeom prst="rect">
            <a:avLst/>
          </a:prstGeom>
          <a:noFill/>
          <a:ln/>
        </p:spPr>
        <p:txBody>
          <a:bodyPr wrap="square" lIns="0" tIns="0" rIns="0" bIns="0" rtlCol="0" anchor="ctr"/>
          <a:lstStyle/>
          <a:p>
            <a:pPr indent="0" marL="0">
              <a:lnSpc>
                <a:spcPts val="1600"/>
              </a:lnSpc>
              <a:buNone/>
            </a:pPr>
            <a:r>
              <a:rPr lang="en-US" sz="1150" dirty="0">
                <a:solidFill>
                  <a:srgbClr val="4F566B"/>
                </a:solidFill>
                <a:latin typeface="Calibri" pitchFamily="34" charset="0"/>
                <a:ea typeface="Calibri" pitchFamily="34" charset="-122"/>
                <a:cs typeface="Calibri" pitchFamily="34" charset="-120"/>
              </a:rPr>
              <a:t>dev → uat → prod as a governed promotion with approvals and a diff of what changed.</a:t>
            </a:r>
            <a:endParaRPr lang="en-US" sz="1150" dirty="0"/>
          </a:p>
        </p:txBody>
      </p:sp>
      <p:sp>
        <p:nvSpPr>
          <p:cNvPr id="9" name="Shape 6"/>
          <p:cNvSpPr/>
          <p:nvPr/>
        </p:nvSpPr>
        <p:spPr>
          <a:xfrm>
            <a:off x="4251960" y="1874520"/>
            <a:ext cx="3493008" cy="1572768"/>
          </a:xfrm>
          <a:prstGeom prst="roundRect">
            <a:avLst>
              <a:gd name="adj" fmla="val 5814"/>
            </a:avLst>
          </a:prstGeom>
          <a:solidFill>
            <a:srgbClr val="FFFFFF"/>
          </a:solidFill>
          <a:ln w="12700">
            <a:solidFill>
              <a:srgbClr val="E3E8F2"/>
            </a:solidFill>
            <a:prstDash val="solid"/>
          </a:ln>
          <a:effectLst>
            <a:outerShdw sx="100000" sy="100000" kx="0" ky="0" algn="bl" rotWithShape="0" blurRad="127000" dist="25400" dir="5400000">
              <a:srgbClr val="0B1020">
                <a:alpha val="7000"/>
              </a:srgbClr>
            </a:outerShdw>
          </a:effectLst>
        </p:spPr>
      </p:sp>
      <p:sp>
        <p:nvSpPr>
          <p:cNvPr id="10" name="Shape 7"/>
          <p:cNvSpPr/>
          <p:nvPr/>
        </p:nvSpPr>
        <p:spPr>
          <a:xfrm>
            <a:off x="4544568" y="2185416"/>
            <a:ext cx="457200" cy="457200"/>
          </a:xfrm>
          <a:prstGeom prst="ellipse">
            <a:avLst/>
          </a:prstGeom>
          <a:solidFill>
            <a:srgbClr val="635BFF"/>
          </a:solidFill>
          <a:ln w="12700">
            <a:solidFill>
              <a:srgbClr val="635BFF"/>
            </a:solidFill>
            <a:prstDash val="solid"/>
          </a:ln>
        </p:spPr>
      </p:sp>
      <p:pic>
        <p:nvPicPr>
          <p:cNvPr id="11" name="Image 1" descr="preencoded.png">    </p:cNvPr>
          <p:cNvPicPr>
            <a:picLocks noChangeAspect="1"/>
          </p:cNvPicPr>
          <p:nvPr/>
        </p:nvPicPr>
        <p:blipFill>
          <a:blip r:embed="rId2"/>
          <a:stretch>
            <a:fillRect/>
          </a:stretch>
        </p:blipFill>
        <p:spPr>
          <a:xfrm>
            <a:off x="4654296" y="2295144"/>
            <a:ext cx="237744" cy="237744"/>
          </a:xfrm>
          <a:prstGeom prst="rect">
            <a:avLst/>
          </a:prstGeom>
        </p:spPr>
      </p:pic>
      <p:sp>
        <p:nvSpPr>
          <p:cNvPr id="12" name="Text 8"/>
          <p:cNvSpPr txBox="1"/>
          <p:nvPr/>
        </p:nvSpPr>
        <p:spPr>
          <a:xfrm>
            <a:off x="5120640" y="2093976"/>
            <a:ext cx="2359152" cy="530352"/>
          </a:xfrm>
          <a:prstGeom prst="rect">
            <a:avLst/>
          </a:prstGeom>
          <a:noFill/>
          <a:ln/>
        </p:spPr>
        <p:txBody>
          <a:bodyPr wrap="square" lIns="0" tIns="0" rIns="0" bIns="0" rtlCol="0" anchor="ctr"/>
          <a:lstStyle/>
          <a:p>
            <a:pPr indent="0" marL="0">
              <a:lnSpc>
                <a:spcPts val="2000"/>
              </a:lnSpc>
              <a:buNone/>
            </a:pPr>
            <a:r>
              <a:rPr lang="en-US" sz="1550" b="1" dirty="0">
                <a:solidFill>
                  <a:srgbClr val="141A2E"/>
                </a:solidFill>
                <a:latin typeface="Cambria" pitchFamily="34" charset="0"/>
                <a:ea typeface="Cambria" pitchFamily="34" charset="-122"/>
                <a:cs typeface="Cambria" pitchFamily="34" charset="-120"/>
              </a:rPr>
              <a:t>Champion / challenger</a:t>
            </a:r>
            <a:endParaRPr lang="en-US" sz="1550" dirty="0"/>
          </a:p>
        </p:txBody>
      </p:sp>
      <p:sp>
        <p:nvSpPr>
          <p:cNvPr id="13" name="Text 9"/>
          <p:cNvSpPr txBox="1"/>
          <p:nvPr/>
        </p:nvSpPr>
        <p:spPr>
          <a:xfrm>
            <a:off x="5120640" y="2660904"/>
            <a:ext cx="2359152" cy="676656"/>
          </a:xfrm>
          <a:prstGeom prst="rect">
            <a:avLst/>
          </a:prstGeom>
          <a:noFill/>
          <a:ln/>
        </p:spPr>
        <p:txBody>
          <a:bodyPr wrap="square" lIns="0" tIns="0" rIns="0" bIns="0" rtlCol="0" anchor="ctr"/>
          <a:lstStyle/>
          <a:p>
            <a:pPr indent="0" marL="0">
              <a:lnSpc>
                <a:spcPts val="1600"/>
              </a:lnSpc>
              <a:buNone/>
            </a:pPr>
            <a:r>
              <a:rPr lang="en-US" sz="1150" dirty="0">
                <a:solidFill>
                  <a:srgbClr val="4F566B"/>
                </a:solidFill>
                <a:latin typeface="Calibri" pitchFamily="34" charset="0"/>
                <a:ea typeface="Calibri" pitchFamily="34" charset="-122"/>
                <a:cs typeface="Calibri" pitchFamily="34" charset="-120"/>
              </a:rPr>
              <a:t>Run a new policy against a share of live traffic, or replay it over history before it sees any.</a:t>
            </a:r>
            <a:endParaRPr lang="en-US" sz="1150" dirty="0"/>
          </a:p>
        </p:txBody>
      </p:sp>
      <p:sp>
        <p:nvSpPr>
          <p:cNvPr id="14" name="Shape 10"/>
          <p:cNvSpPr/>
          <p:nvPr/>
        </p:nvSpPr>
        <p:spPr>
          <a:xfrm>
            <a:off x="7936992" y="1874520"/>
            <a:ext cx="3493008" cy="1572768"/>
          </a:xfrm>
          <a:prstGeom prst="roundRect">
            <a:avLst>
              <a:gd name="adj" fmla="val 5814"/>
            </a:avLst>
          </a:prstGeom>
          <a:solidFill>
            <a:srgbClr val="FFFFFF"/>
          </a:solidFill>
          <a:ln w="12700">
            <a:solidFill>
              <a:srgbClr val="E3E8F2"/>
            </a:solidFill>
            <a:prstDash val="solid"/>
          </a:ln>
          <a:effectLst>
            <a:outerShdw sx="100000" sy="100000" kx="0" ky="0" algn="bl" rotWithShape="0" blurRad="127000" dist="25400" dir="5400000">
              <a:srgbClr val="0B1020">
                <a:alpha val="7000"/>
              </a:srgbClr>
            </a:outerShdw>
          </a:effectLst>
        </p:spPr>
      </p:sp>
      <p:sp>
        <p:nvSpPr>
          <p:cNvPr id="15" name="Shape 11"/>
          <p:cNvSpPr/>
          <p:nvPr/>
        </p:nvSpPr>
        <p:spPr>
          <a:xfrm>
            <a:off x="8229600" y="2185416"/>
            <a:ext cx="457200" cy="457200"/>
          </a:xfrm>
          <a:prstGeom prst="ellipse">
            <a:avLst/>
          </a:prstGeom>
          <a:solidFill>
            <a:srgbClr val="635BFF"/>
          </a:solidFill>
          <a:ln w="12700">
            <a:solidFill>
              <a:srgbClr val="635BFF"/>
            </a:solidFill>
            <a:prstDash val="solid"/>
          </a:ln>
        </p:spPr>
      </p:sp>
      <p:pic>
        <p:nvPicPr>
          <p:cNvPr id="16" name="Image 2" descr="preencoded.png">    </p:cNvPr>
          <p:cNvPicPr>
            <a:picLocks noChangeAspect="1"/>
          </p:cNvPicPr>
          <p:nvPr/>
        </p:nvPicPr>
        <p:blipFill>
          <a:blip r:embed="rId3"/>
          <a:stretch>
            <a:fillRect/>
          </a:stretch>
        </p:blipFill>
        <p:spPr>
          <a:xfrm>
            <a:off x="8339328" y="2295144"/>
            <a:ext cx="237744" cy="237744"/>
          </a:xfrm>
          <a:prstGeom prst="rect">
            <a:avLst/>
          </a:prstGeom>
        </p:spPr>
      </p:pic>
      <p:sp>
        <p:nvSpPr>
          <p:cNvPr id="17" name="Text 12"/>
          <p:cNvSpPr txBox="1"/>
          <p:nvPr/>
        </p:nvSpPr>
        <p:spPr>
          <a:xfrm>
            <a:off x="8805672" y="2093976"/>
            <a:ext cx="2359152" cy="530352"/>
          </a:xfrm>
          <a:prstGeom prst="rect">
            <a:avLst/>
          </a:prstGeom>
          <a:noFill/>
          <a:ln/>
        </p:spPr>
        <p:txBody>
          <a:bodyPr wrap="square" lIns="0" tIns="0" rIns="0" bIns="0" rtlCol="0" anchor="ctr"/>
          <a:lstStyle/>
          <a:p>
            <a:pPr indent="0" marL="0">
              <a:lnSpc>
                <a:spcPts val="2000"/>
              </a:lnSpc>
              <a:buNone/>
            </a:pPr>
            <a:r>
              <a:rPr lang="en-US" sz="1550" b="1" dirty="0">
                <a:solidFill>
                  <a:srgbClr val="141A2E"/>
                </a:solidFill>
                <a:latin typeface="Cambria" pitchFamily="34" charset="0"/>
                <a:ea typeface="Cambria" pitchFamily="34" charset="-122"/>
                <a:cs typeface="Cambria" pitchFamily="34" charset="-120"/>
              </a:rPr>
              <a:t>Tables from your spreadsheet</a:t>
            </a:r>
            <a:endParaRPr lang="en-US" sz="1550" dirty="0"/>
          </a:p>
        </p:txBody>
      </p:sp>
      <p:sp>
        <p:nvSpPr>
          <p:cNvPr id="18" name="Text 13"/>
          <p:cNvSpPr txBox="1"/>
          <p:nvPr/>
        </p:nvSpPr>
        <p:spPr>
          <a:xfrm>
            <a:off x="8805672" y="2660904"/>
            <a:ext cx="2359152" cy="676656"/>
          </a:xfrm>
          <a:prstGeom prst="rect">
            <a:avLst/>
          </a:prstGeom>
          <a:noFill/>
          <a:ln/>
        </p:spPr>
        <p:txBody>
          <a:bodyPr wrap="square" lIns="0" tIns="0" rIns="0" bIns="0" rtlCol="0" anchor="ctr"/>
          <a:lstStyle/>
          <a:p>
            <a:pPr indent="0" marL="0">
              <a:lnSpc>
                <a:spcPts val="1600"/>
              </a:lnSpc>
              <a:buNone/>
            </a:pPr>
            <a:r>
              <a:rPr lang="en-US" sz="1150" dirty="0">
                <a:solidFill>
                  <a:srgbClr val="4F566B"/>
                </a:solidFill>
                <a:latin typeface="Calibri" pitchFamily="34" charset="0"/>
                <a:ea typeface="Calibri" pitchFamily="34" charset="-122"/>
                <a:cs typeface="Calibri" pitchFamily="34" charset="-120"/>
              </a:rPr>
              <a:t>Import the pricing matrix the team already maintains in Excel; it becomes an executable table.</a:t>
            </a:r>
            <a:endParaRPr lang="en-US" sz="1150" dirty="0"/>
          </a:p>
        </p:txBody>
      </p:sp>
      <p:sp>
        <p:nvSpPr>
          <p:cNvPr id="19" name="Shape 14"/>
          <p:cNvSpPr/>
          <p:nvPr/>
        </p:nvSpPr>
        <p:spPr>
          <a:xfrm>
            <a:off x="566928" y="3630168"/>
            <a:ext cx="3493008" cy="1572768"/>
          </a:xfrm>
          <a:prstGeom prst="roundRect">
            <a:avLst>
              <a:gd name="adj" fmla="val 5814"/>
            </a:avLst>
          </a:prstGeom>
          <a:solidFill>
            <a:srgbClr val="FFFFFF"/>
          </a:solidFill>
          <a:ln w="12700">
            <a:solidFill>
              <a:srgbClr val="E3E8F2"/>
            </a:solidFill>
            <a:prstDash val="solid"/>
          </a:ln>
          <a:effectLst>
            <a:outerShdw sx="100000" sy="100000" kx="0" ky="0" algn="bl" rotWithShape="0" blurRad="127000" dist="25400" dir="5400000">
              <a:srgbClr val="0B1020">
                <a:alpha val="7000"/>
              </a:srgbClr>
            </a:outerShdw>
          </a:effectLst>
        </p:spPr>
      </p:sp>
      <p:sp>
        <p:nvSpPr>
          <p:cNvPr id="20" name="Shape 15"/>
          <p:cNvSpPr/>
          <p:nvPr/>
        </p:nvSpPr>
        <p:spPr>
          <a:xfrm>
            <a:off x="859536" y="3941064"/>
            <a:ext cx="457200" cy="457200"/>
          </a:xfrm>
          <a:prstGeom prst="ellipse">
            <a:avLst/>
          </a:prstGeom>
          <a:solidFill>
            <a:srgbClr val="635BFF"/>
          </a:solidFill>
          <a:ln w="12700">
            <a:solidFill>
              <a:srgbClr val="635BFF"/>
            </a:solidFill>
            <a:prstDash val="solid"/>
          </a:ln>
        </p:spPr>
      </p:sp>
      <p:pic>
        <p:nvPicPr>
          <p:cNvPr id="21" name="Image 3" descr="preencoded.png">    </p:cNvPr>
          <p:cNvPicPr>
            <a:picLocks noChangeAspect="1"/>
          </p:cNvPicPr>
          <p:nvPr/>
        </p:nvPicPr>
        <p:blipFill>
          <a:blip r:embed="rId4"/>
          <a:stretch>
            <a:fillRect/>
          </a:stretch>
        </p:blipFill>
        <p:spPr>
          <a:xfrm>
            <a:off x="969264" y="4050792"/>
            <a:ext cx="237744" cy="237744"/>
          </a:xfrm>
          <a:prstGeom prst="rect">
            <a:avLst/>
          </a:prstGeom>
        </p:spPr>
      </p:pic>
      <p:sp>
        <p:nvSpPr>
          <p:cNvPr id="22" name="Text 16"/>
          <p:cNvSpPr txBox="1"/>
          <p:nvPr/>
        </p:nvSpPr>
        <p:spPr>
          <a:xfrm>
            <a:off x="1435608" y="3849624"/>
            <a:ext cx="2359152" cy="530352"/>
          </a:xfrm>
          <a:prstGeom prst="rect">
            <a:avLst/>
          </a:prstGeom>
          <a:noFill/>
          <a:ln/>
        </p:spPr>
        <p:txBody>
          <a:bodyPr wrap="square" lIns="0" tIns="0" rIns="0" bIns="0" rtlCol="0" anchor="ctr"/>
          <a:lstStyle/>
          <a:p>
            <a:pPr indent="0" marL="0">
              <a:lnSpc>
                <a:spcPts val="2000"/>
              </a:lnSpc>
              <a:buNone/>
            </a:pPr>
            <a:r>
              <a:rPr lang="en-US" sz="1550" b="1" dirty="0">
                <a:solidFill>
                  <a:srgbClr val="141A2E"/>
                </a:solidFill>
                <a:latin typeface="Cambria" pitchFamily="34" charset="0"/>
                <a:ea typeface="Cambria" pitchFamily="34" charset="-122"/>
                <a:cs typeface="Cambria" pitchFamily="34" charset="-120"/>
              </a:rPr>
              <a:t>Backtest and what-if</a:t>
            </a:r>
            <a:endParaRPr lang="en-US" sz="1550" dirty="0"/>
          </a:p>
        </p:txBody>
      </p:sp>
      <p:sp>
        <p:nvSpPr>
          <p:cNvPr id="23" name="Text 17"/>
          <p:cNvSpPr txBox="1"/>
          <p:nvPr/>
        </p:nvSpPr>
        <p:spPr>
          <a:xfrm>
            <a:off x="1435608" y="4416552"/>
            <a:ext cx="2359152" cy="676656"/>
          </a:xfrm>
          <a:prstGeom prst="rect">
            <a:avLst/>
          </a:prstGeom>
          <a:noFill/>
          <a:ln/>
        </p:spPr>
        <p:txBody>
          <a:bodyPr wrap="square" lIns="0" tIns="0" rIns="0" bIns="0" rtlCol="0" anchor="ctr"/>
          <a:lstStyle/>
          <a:p>
            <a:pPr indent="0" marL="0">
              <a:lnSpc>
                <a:spcPts val="1600"/>
              </a:lnSpc>
              <a:buNone/>
            </a:pPr>
            <a:r>
              <a:rPr lang="en-US" sz="1150" dirty="0">
                <a:solidFill>
                  <a:srgbClr val="4F566B"/>
                </a:solidFill>
                <a:latin typeface="Calibri" pitchFamily="34" charset="0"/>
                <a:ea typeface="Calibri" pitchFamily="34" charset="-122"/>
                <a:cs typeface="Calibri" pitchFamily="34" charset="-120"/>
              </a:rPr>
              <a:t>Replay a candidate policy across recorded decisions and see exactly which outcomes move.</a:t>
            </a:r>
            <a:endParaRPr lang="en-US" sz="1150" dirty="0"/>
          </a:p>
        </p:txBody>
      </p:sp>
      <p:sp>
        <p:nvSpPr>
          <p:cNvPr id="24" name="Shape 18"/>
          <p:cNvSpPr/>
          <p:nvPr/>
        </p:nvSpPr>
        <p:spPr>
          <a:xfrm>
            <a:off x="4251960" y="3630168"/>
            <a:ext cx="3493008" cy="1572768"/>
          </a:xfrm>
          <a:prstGeom prst="roundRect">
            <a:avLst>
              <a:gd name="adj" fmla="val 5814"/>
            </a:avLst>
          </a:prstGeom>
          <a:solidFill>
            <a:srgbClr val="FFFFFF"/>
          </a:solidFill>
          <a:ln w="12700">
            <a:solidFill>
              <a:srgbClr val="E3E8F2"/>
            </a:solidFill>
            <a:prstDash val="solid"/>
          </a:ln>
          <a:effectLst>
            <a:outerShdw sx="100000" sy="100000" kx="0" ky="0" algn="bl" rotWithShape="0" blurRad="127000" dist="25400" dir="5400000">
              <a:srgbClr val="0B1020">
                <a:alpha val="7000"/>
              </a:srgbClr>
            </a:outerShdw>
          </a:effectLst>
        </p:spPr>
      </p:sp>
      <p:sp>
        <p:nvSpPr>
          <p:cNvPr id="25" name="Shape 19"/>
          <p:cNvSpPr/>
          <p:nvPr/>
        </p:nvSpPr>
        <p:spPr>
          <a:xfrm>
            <a:off x="4544568" y="3941064"/>
            <a:ext cx="457200" cy="457200"/>
          </a:xfrm>
          <a:prstGeom prst="ellipse">
            <a:avLst/>
          </a:prstGeom>
          <a:solidFill>
            <a:srgbClr val="635BFF"/>
          </a:solidFill>
          <a:ln w="12700">
            <a:solidFill>
              <a:srgbClr val="635BFF"/>
            </a:solidFill>
            <a:prstDash val="solid"/>
          </a:ln>
        </p:spPr>
      </p:sp>
      <p:pic>
        <p:nvPicPr>
          <p:cNvPr id="26" name="Image 4" descr="preencoded.png">    </p:cNvPr>
          <p:cNvPicPr>
            <a:picLocks noChangeAspect="1"/>
          </p:cNvPicPr>
          <p:nvPr/>
        </p:nvPicPr>
        <p:blipFill>
          <a:blip r:embed="rId5"/>
          <a:stretch>
            <a:fillRect/>
          </a:stretch>
        </p:blipFill>
        <p:spPr>
          <a:xfrm>
            <a:off x="4654296" y="4050792"/>
            <a:ext cx="237744" cy="237744"/>
          </a:xfrm>
          <a:prstGeom prst="rect">
            <a:avLst/>
          </a:prstGeom>
        </p:spPr>
      </p:pic>
      <p:sp>
        <p:nvSpPr>
          <p:cNvPr id="27" name="Text 20"/>
          <p:cNvSpPr txBox="1"/>
          <p:nvPr/>
        </p:nvSpPr>
        <p:spPr>
          <a:xfrm>
            <a:off x="5120640" y="3849624"/>
            <a:ext cx="2359152" cy="530352"/>
          </a:xfrm>
          <a:prstGeom prst="rect">
            <a:avLst/>
          </a:prstGeom>
          <a:noFill/>
          <a:ln/>
        </p:spPr>
        <p:txBody>
          <a:bodyPr wrap="square" lIns="0" tIns="0" rIns="0" bIns="0" rtlCol="0" anchor="ctr"/>
          <a:lstStyle/>
          <a:p>
            <a:pPr indent="0" marL="0">
              <a:lnSpc>
                <a:spcPts val="2000"/>
              </a:lnSpc>
              <a:buNone/>
            </a:pPr>
            <a:r>
              <a:rPr lang="en-US" sz="1550" b="1" dirty="0">
                <a:solidFill>
                  <a:srgbClr val="141A2E"/>
                </a:solidFill>
                <a:latin typeface="Cambria" pitchFamily="34" charset="0"/>
                <a:ea typeface="Cambria" pitchFamily="34" charset="-122"/>
                <a:cs typeface="Cambria" pitchFamily="34" charset="-120"/>
              </a:rPr>
              <a:t>Drift and monitoring</a:t>
            </a:r>
            <a:endParaRPr lang="en-US" sz="1550" dirty="0"/>
          </a:p>
        </p:txBody>
      </p:sp>
      <p:sp>
        <p:nvSpPr>
          <p:cNvPr id="28" name="Text 21"/>
          <p:cNvSpPr txBox="1"/>
          <p:nvPr/>
        </p:nvSpPr>
        <p:spPr>
          <a:xfrm>
            <a:off x="5120640" y="4416552"/>
            <a:ext cx="2359152" cy="676656"/>
          </a:xfrm>
          <a:prstGeom prst="rect">
            <a:avLst/>
          </a:prstGeom>
          <a:noFill/>
          <a:ln/>
        </p:spPr>
        <p:txBody>
          <a:bodyPr wrap="square" lIns="0" tIns="0" rIns="0" bIns="0" rtlCol="0" anchor="ctr"/>
          <a:lstStyle/>
          <a:p>
            <a:pPr indent="0" marL="0">
              <a:lnSpc>
                <a:spcPts val="1600"/>
              </a:lnSpc>
              <a:buNone/>
            </a:pPr>
            <a:r>
              <a:rPr lang="en-US" sz="1150" dirty="0">
                <a:solidFill>
                  <a:srgbClr val="4F566B"/>
                </a:solidFill>
                <a:latin typeface="Calibri" pitchFamily="34" charset="0"/>
                <a:ea typeface="Calibri" pitchFamily="34" charset="-122"/>
                <a:cs typeface="Calibri" pitchFamily="34" charset="-120"/>
              </a:rPr>
              <a:t>PSI drift on inputs and scores, with error events surfaced rather than swallowed.</a:t>
            </a:r>
            <a:endParaRPr lang="en-US" sz="1150" dirty="0"/>
          </a:p>
        </p:txBody>
      </p:sp>
      <p:sp>
        <p:nvSpPr>
          <p:cNvPr id="29" name="Shape 22"/>
          <p:cNvSpPr/>
          <p:nvPr/>
        </p:nvSpPr>
        <p:spPr>
          <a:xfrm>
            <a:off x="7936992" y="3630168"/>
            <a:ext cx="3493008" cy="1572768"/>
          </a:xfrm>
          <a:prstGeom prst="roundRect">
            <a:avLst>
              <a:gd name="adj" fmla="val 5814"/>
            </a:avLst>
          </a:prstGeom>
          <a:solidFill>
            <a:srgbClr val="FFFFFF"/>
          </a:solidFill>
          <a:ln w="12700">
            <a:solidFill>
              <a:srgbClr val="E3E8F2"/>
            </a:solidFill>
            <a:prstDash val="solid"/>
          </a:ln>
          <a:effectLst>
            <a:outerShdw sx="100000" sy="100000" kx="0" ky="0" algn="bl" rotWithShape="0" blurRad="127000" dist="25400" dir="5400000">
              <a:srgbClr val="0B1020">
                <a:alpha val="7000"/>
              </a:srgbClr>
            </a:outerShdw>
          </a:effectLst>
        </p:spPr>
      </p:sp>
      <p:sp>
        <p:nvSpPr>
          <p:cNvPr id="30" name="Shape 23"/>
          <p:cNvSpPr/>
          <p:nvPr/>
        </p:nvSpPr>
        <p:spPr>
          <a:xfrm>
            <a:off x="8229600" y="3941064"/>
            <a:ext cx="457200" cy="457200"/>
          </a:xfrm>
          <a:prstGeom prst="ellipse">
            <a:avLst/>
          </a:prstGeom>
          <a:solidFill>
            <a:srgbClr val="635BFF"/>
          </a:solidFill>
          <a:ln w="12700">
            <a:solidFill>
              <a:srgbClr val="635BFF"/>
            </a:solidFill>
            <a:prstDash val="solid"/>
          </a:ln>
        </p:spPr>
      </p:sp>
      <p:pic>
        <p:nvPicPr>
          <p:cNvPr id="31" name="Image 5" descr="preencoded.png">    </p:cNvPr>
          <p:cNvPicPr>
            <a:picLocks noChangeAspect="1"/>
          </p:cNvPicPr>
          <p:nvPr/>
        </p:nvPicPr>
        <p:blipFill>
          <a:blip r:embed="rId6"/>
          <a:stretch>
            <a:fillRect/>
          </a:stretch>
        </p:blipFill>
        <p:spPr>
          <a:xfrm>
            <a:off x="8339328" y="4050792"/>
            <a:ext cx="237744" cy="237744"/>
          </a:xfrm>
          <a:prstGeom prst="rect">
            <a:avLst/>
          </a:prstGeom>
        </p:spPr>
      </p:pic>
      <p:sp>
        <p:nvSpPr>
          <p:cNvPr id="32" name="Text 24"/>
          <p:cNvSpPr txBox="1"/>
          <p:nvPr/>
        </p:nvSpPr>
        <p:spPr>
          <a:xfrm>
            <a:off x="8805672" y="3849624"/>
            <a:ext cx="2359152" cy="530352"/>
          </a:xfrm>
          <a:prstGeom prst="rect">
            <a:avLst/>
          </a:prstGeom>
          <a:noFill/>
          <a:ln/>
        </p:spPr>
        <p:txBody>
          <a:bodyPr wrap="square" lIns="0" tIns="0" rIns="0" bIns="0" rtlCol="0" anchor="ctr"/>
          <a:lstStyle/>
          <a:p>
            <a:pPr indent="0" marL="0">
              <a:lnSpc>
                <a:spcPts val="2000"/>
              </a:lnSpc>
              <a:buNone/>
            </a:pPr>
            <a:r>
              <a:rPr lang="en-US" sz="1550" b="1" dirty="0">
                <a:solidFill>
                  <a:srgbClr val="141A2E"/>
                </a:solidFill>
                <a:latin typeface="Cambria" pitchFamily="34" charset="0"/>
                <a:ea typeface="Cambria" pitchFamily="34" charset="-122"/>
                <a:cs typeface="Cambria" pitchFamily="34" charset="-120"/>
              </a:rPr>
              <a:t>AI assists, never decides</a:t>
            </a:r>
            <a:endParaRPr lang="en-US" sz="1550" dirty="0"/>
          </a:p>
        </p:txBody>
      </p:sp>
      <p:sp>
        <p:nvSpPr>
          <p:cNvPr id="33" name="Text 25"/>
          <p:cNvSpPr txBox="1"/>
          <p:nvPr/>
        </p:nvSpPr>
        <p:spPr>
          <a:xfrm>
            <a:off x="8805672" y="4416552"/>
            <a:ext cx="2359152" cy="676656"/>
          </a:xfrm>
          <a:prstGeom prst="rect">
            <a:avLst/>
          </a:prstGeom>
          <a:noFill/>
          <a:ln/>
        </p:spPr>
        <p:txBody>
          <a:bodyPr wrap="square" lIns="0" tIns="0" rIns="0" bIns="0" rtlCol="0" anchor="ctr"/>
          <a:lstStyle/>
          <a:p>
            <a:pPr indent="0" marL="0">
              <a:lnSpc>
                <a:spcPts val="1600"/>
              </a:lnSpc>
              <a:buNone/>
            </a:pPr>
            <a:r>
              <a:rPr lang="en-US" sz="1150" dirty="0">
                <a:solidFill>
                  <a:srgbClr val="4F566B"/>
                </a:solidFill>
                <a:latin typeface="Calibri" pitchFamily="34" charset="0"/>
                <a:ea typeface="Calibri" pitchFamily="34" charset="-122"/>
                <a:cs typeface="Calibri" pitchFamily="34" charset="-120"/>
              </a:rPr>
              <a:t>Bring your own key — Anthropic, OpenAI or Gemini — to draft a rule. It never decides.</a:t>
            </a:r>
            <a:endParaRPr lang="en-US" sz="1150" dirty="0"/>
          </a:p>
        </p:txBody>
      </p:sp>
      <p:sp>
        <p:nvSpPr>
          <p:cNvPr id="34" name="Text 26"/>
          <p:cNvSpPr txBox="1"/>
          <p:nvPr/>
        </p:nvSpPr>
        <p:spPr>
          <a:xfrm>
            <a:off x="566928" y="5577840"/>
            <a:ext cx="10881360" cy="365760"/>
          </a:xfrm>
          <a:prstGeom prst="rect">
            <a:avLst/>
          </a:prstGeom>
          <a:noFill/>
          <a:ln/>
        </p:spPr>
        <p:txBody>
          <a:bodyPr wrap="square" lIns="0" tIns="0" rIns="0" bIns="0" rtlCol="0" anchor="ctr"/>
          <a:lstStyle/>
          <a:p>
            <a:pPr indent="0" marL="0">
              <a:buNone/>
            </a:pPr>
            <a:r>
              <a:rPr lang="en-US" sz="1350" b="1" i="1" dirty="0">
                <a:solidFill>
                  <a:srgbClr val="635BFF"/>
                </a:solidFill>
                <a:latin typeface="Calibri" pitchFamily="34" charset="0"/>
                <a:ea typeface="Calibri" pitchFamily="34" charset="-122"/>
                <a:cs typeface="Calibri" pitchFamily="34" charset="-120"/>
              </a:rPr>
              <a:t>None of the above is a code change. All of it is recorded as an audit event with the actor who did it.</a:t>
            </a:r>
            <a:endParaRPr lang="en-US" sz="1350" dirty="0"/>
          </a:p>
        </p:txBody>
      </p:sp>
      <p:sp>
        <p:nvSpPr>
          <p:cNvPr id="36" name="Text 27"/>
          <p:cNvSpPr txBox="1"/>
          <p:nvPr/>
        </p:nvSpPr>
        <p:spPr>
          <a:xfrm>
            <a:off x="566928" y="6291072"/>
            <a:ext cx="2743200" cy="256032"/>
          </a:xfrm>
          <a:prstGeom prst="rect">
            <a:avLst/>
          </a:prstGeom>
          <a:noFill/>
          <a:ln/>
        </p:spPr>
        <p:txBody>
          <a:bodyPr wrap="square" lIns="0" tIns="0" rIns="0" bIns="0" rtlCol="0" anchor="ctr"/>
          <a:lstStyle/>
          <a:p>
            <a:pPr indent="0" marL="0">
              <a:buNone/>
            </a:pPr>
            <a:r>
              <a:rPr lang="en-US" sz="900" dirty="0">
                <a:solidFill>
                  <a:srgbClr val="9AA3BC"/>
                </a:solidFill>
                <a:latin typeface="Calibri" pitchFamily="34" charset="0"/>
                <a:ea typeface="Calibri" pitchFamily="34" charset="-122"/>
                <a:cs typeface="Calibri" pitchFamily="34" charset="-120"/>
              </a:rPr>
              <a:t>RuleMind AI</a:t>
            </a:r>
            <a:endParaRPr lang="en-US" sz="900" dirty="0"/>
          </a:p>
        </p:txBody>
      </p:sp>
      <p:sp>
        <p:nvSpPr>
          <p:cNvPr id="37" name="Text 28"/>
          <p:cNvSpPr txBox="1"/>
          <p:nvPr/>
        </p:nvSpPr>
        <p:spPr>
          <a:xfrm>
            <a:off x="10710367" y="6291072"/>
            <a:ext cx="914400" cy="256032"/>
          </a:xfrm>
          <a:prstGeom prst="rect">
            <a:avLst/>
          </a:prstGeom>
          <a:noFill/>
          <a:ln/>
        </p:spPr>
        <p:txBody>
          <a:bodyPr wrap="square" lIns="0" tIns="0" rIns="0" bIns="0" rtlCol="0" anchor="ctr"/>
          <a:lstStyle/>
          <a:p>
            <a:pPr algn="r" indent="0" marL="0">
              <a:buNone/>
            </a:pPr>
            <a:r>
              <a:rPr lang="en-US" sz="900" dirty="0">
                <a:solidFill>
                  <a:srgbClr val="9AA3B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A2E"/>
        </a:solidFill>
      </p:bgPr>
    </p:bg>
    <p:spTree>
      <p:nvGrpSpPr>
        <p:cNvPr id="1" name=""/>
        <p:cNvGrpSpPr/>
        <p:nvPr/>
      </p:nvGrpSpPr>
      <p:grpSpPr>
        <a:xfrm>
          <a:off x="0" y="0"/>
          <a:ext cx="0" cy="0"/>
          <a:chOff x="0" y="0"/>
          <a:chExt cx="0" cy="0"/>
        </a:xfrm>
      </p:grpSpPr>
      <p:sp>
        <p:nvSpPr>
          <p:cNvPr id="2" name="Text 0"/>
          <p:cNvSpPr txBox="1"/>
          <p:nvPr/>
        </p:nvSpPr>
        <p:spPr>
          <a:xfrm>
            <a:off x="566928" y="420624"/>
            <a:ext cx="10515600" cy="274320"/>
          </a:xfrm>
          <a:prstGeom prst="rect">
            <a:avLst/>
          </a:prstGeom>
          <a:noFill/>
          <a:ln/>
        </p:spPr>
        <p:txBody>
          <a:bodyPr wrap="square" lIns="0" tIns="0" rIns="0" bIns="0" rtlCol="0" anchor="ctr"/>
          <a:lstStyle/>
          <a:p>
            <a:pPr indent="0" marL="0">
              <a:buNone/>
            </a:pPr>
            <a:r>
              <a:rPr lang="en-US" sz="1200" b="1" spc="220" kern="0" dirty="0">
                <a:solidFill>
                  <a:srgbClr val="635BFF"/>
                </a:solidFill>
                <a:latin typeface="Calibri" pitchFamily="34" charset="0"/>
                <a:ea typeface="Calibri" pitchFamily="34" charset="-122"/>
                <a:cs typeface="Calibri" pitchFamily="34" charset="-120"/>
              </a:rPr>
              <a:t>THE HARD PART</a:t>
            </a:r>
            <a:endParaRPr lang="en-US" sz="1200" dirty="0"/>
          </a:p>
        </p:txBody>
      </p:sp>
      <p:sp>
        <p:nvSpPr>
          <p:cNvPr id="3" name="Text 1"/>
          <p:cNvSpPr txBox="1"/>
          <p:nvPr/>
        </p:nvSpPr>
        <p:spPr>
          <a:xfrm>
            <a:off x="566928" y="731520"/>
            <a:ext cx="1088136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Five engines. One answer. Enforced.</a:t>
            </a:r>
            <a:endParaRPr lang="en-US" sz="3400" dirty="0"/>
          </a:p>
        </p:txBody>
      </p:sp>
      <p:sp>
        <p:nvSpPr>
          <p:cNvPr id="4" name="Text 2"/>
          <p:cNvSpPr txBox="1"/>
          <p:nvPr/>
        </p:nvSpPr>
        <p:spPr>
          <a:xfrm>
            <a:off x="566928" y="1664208"/>
            <a:ext cx="6766560" cy="914400"/>
          </a:xfrm>
          <a:prstGeom prst="rect">
            <a:avLst/>
          </a:prstGeom>
          <a:noFill/>
          <a:ln/>
        </p:spPr>
        <p:txBody>
          <a:bodyPr wrap="square" lIns="0" tIns="0" rIns="0" bIns="0" rtlCol="0" anchor="ctr"/>
          <a:lstStyle/>
          <a:p>
            <a:pPr indent="0" marL="0">
              <a:lnSpc>
                <a:spcPts val="2100"/>
              </a:lnSpc>
              <a:buNone/>
            </a:pPr>
            <a:r>
              <a:rPr lang="en-US" sz="1450" dirty="0">
                <a:solidFill>
                  <a:srgbClr val="9AA3BC"/>
                </a:solidFill>
                <a:latin typeface="Calibri" pitchFamily="34" charset="0"/>
                <a:ea typeface="Calibri" pitchFamily="34" charset="-122"/>
                <a:cs typeface="Calibri" pitchFamily="34" charset="-120"/>
              </a:rPr>
              <a:t>The same policy evaluates in Python on the server, TypeScript in the browser, Rust on the hot path, and Kotlin or Dart on the device — offline. Cross-engine agreement is not a convention here; it is a corpus that fails the build.</a:t>
            </a:r>
            <a:endParaRPr lang="en-US" sz="1450" dirty="0"/>
          </a:p>
        </p:txBody>
      </p:sp>
      <p:sp>
        <p:nvSpPr>
          <p:cNvPr id="5" name="Shape 3"/>
          <p:cNvSpPr/>
          <p:nvPr/>
        </p:nvSpPr>
        <p:spPr>
          <a:xfrm>
            <a:off x="566928" y="2788920"/>
            <a:ext cx="6766560" cy="475488"/>
          </a:xfrm>
          <a:prstGeom prst="roundRect">
            <a:avLst>
              <a:gd name="adj" fmla="val 13462"/>
            </a:avLst>
          </a:prstGeom>
          <a:solidFill>
            <a:srgbClr val="232A45"/>
          </a:solidFill>
          <a:ln w="12700">
            <a:solidFill>
              <a:srgbClr val="232A45"/>
            </a:solidFill>
            <a:prstDash val="solid"/>
          </a:ln>
        </p:spPr>
      </p:sp>
      <p:sp>
        <p:nvSpPr>
          <p:cNvPr id="6" name="Shape 4"/>
          <p:cNvSpPr/>
          <p:nvPr/>
        </p:nvSpPr>
        <p:spPr>
          <a:xfrm>
            <a:off x="804672" y="2944368"/>
            <a:ext cx="164592" cy="164592"/>
          </a:xfrm>
          <a:prstGeom prst="ellipse">
            <a:avLst/>
          </a:prstGeom>
          <a:solidFill>
            <a:srgbClr val="635BFF"/>
          </a:solidFill>
          <a:ln w="12700">
            <a:solidFill>
              <a:srgbClr val="635BFF"/>
            </a:solidFill>
            <a:prstDash val="solid"/>
          </a:ln>
        </p:spPr>
      </p:sp>
      <p:sp>
        <p:nvSpPr>
          <p:cNvPr id="7" name="Text 5"/>
          <p:cNvSpPr txBox="1"/>
          <p:nvPr/>
        </p:nvSpPr>
        <p:spPr>
          <a:xfrm>
            <a:off x="1133856" y="2788920"/>
            <a:ext cx="1920240" cy="47548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Python</a:t>
            </a:r>
            <a:endParaRPr lang="en-US" sz="1400" dirty="0"/>
          </a:p>
        </p:txBody>
      </p:sp>
      <p:sp>
        <p:nvSpPr>
          <p:cNvPr id="8" name="Text 6"/>
          <p:cNvSpPr txBox="1"/>
          <p:nvPr/>
        </p:nvSpPr>
        <p:spPr>
          <a:xfrm>
            <a:off x="3035808" y="2788920"/>
            <a:ext cx="4114800" cy="475488"/>
          </a:xfrm>
          <a:prstGeom prst="rect">
            <a:avLst/>
          </a:prstGeom>
          <a:noFill/>
          <a:ln/>
        </p:spPr>
        <p:txBody>
          <a:bodyPr wrap="square" lIns="0" tIns="0" rIns="0" bIns="0" rtlCol="0" anchor="ctr"/>
          <a:lstStyle/>
          <a:p>
            <a:pPr indent="0" marL="0">
              <a:buNone/>
            </a:pPr>
            <a:r>
              <a:rPr lang="en-US" sz="1250" dirty="0">
                <a:solidFill>
                  <a:srgbClr val="9AA3BC"/>
                </a:solidFill>
                <a:latin typeface="Calibri" pitchFamily="34" charset="0"/>
                <a:ea typeface="Calibri" pitchFamily="34" charset="-122"/>
                <a:cs typeface="Calibri" pitchFamily="34" charset="-120"/>
              </a:rPr>
              <a:t>server, source of truth</a:t>
            </a:r>
            <a:endParaRPr lang="en-US" sz="1250" dirty="0"/>
          </a:p>
        </p:txBody>
      </p:sp>
      <p:sp>
        <p:nvSpPr>
          <p:cNvPr id="9" name="Shape 7"/>
          <p:cNvSpPr/>
          <p:nvPr/>
        </p:nvSpPr>
        <p:spPr>
          <a:xfrm>
            <a:off x="566928" y="3364992"/>
            <a:ext cx="6766560" cy="475488"/>
          </a:xfrm>
          <a:prstGeom prst="roundRect">
            <a:avLst>
              <a:gd name="adj" fmla="val 13462"/>
            </a:avLst>
          </a:prstGeom>
          <a:solidFill>
            <a:srgbClr val="232A45"/>
          </a:solidFill>
          <a:ln w="12700">
            <a:solidFill>
              <a:srgbClr val="232A45"/>
            </a:solidFill>
            <a:prstDash val="solid"/>
          </a:ln>
        </p:spPr>
      </p:sp>
      <p:sp>
        <p:nvSpPr>
          <p:cNvPr id="10" name="Shape 8"/>
          <p:cNvSpPr/>
          <p:nvPr/>
        </p:nvSpPr>
        <p:spPr>
          <a:xfrm>
            <a:off x="804672" y="3520440"/>
            <a:ext cx="164592" cy="164592"/>
          </a:xfrm>
          <a:prstGeom prst="ellipse">
            <a:avLst/>
          </a:prstGeom>
          <a:solidFill>
            <a:srgbClr val="635BFF"/>
          </a:solidFill>
          <a:ln w="12700">
            <a:solidFill>
              <a:srgbClr val="635BFF"/>
            </a:solidFill>
            <a:prstDash val="solid"/>
          </a:ln>
        </p:spPr>
      </p:sp>
      <p:sp>
        <p:nvSpPr>
          <p:cNvPr id="11" name="Text 9"/>
          <p:cNvSpPr txBox="1"/>
          <p:nvPr/>
        </p:nvSpPr>
        <p:spPr>
          <a:xfrm>
            <a:off x="1133856" y="3364992"/>
            <a:ext cx="1920240" cy="47548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TypeScript</a:t>
            </a:r>
            <a:endParaRPr lang="en-US" sz="1400" dirty="0"/>
          </a:p>
        </p:txBody>
      </p:sp>
      <p:sp>
        <p:nvSpPr>
          <p:cNvPr id="12" name="Text 10"/>
          <p:cNvSpPr txBox="1"/>
          <p:nvPr/>
        </p:nvSpPr>
        <p:spPr>
          <a:xfrm>
            <a:off x="3035808" y="3364992"/>
            <a:ext cx="4114800" cy="475488"/>
          </a:xfrm>
          <a:prstGeom prst="rect">
            <a:avLst/>
          </a:prstGeom>
          <a:noFill/>
          <a:ln/>
        </p:spPr>
        <p:txBody>
          <a:bodyPr wrap="square" lIns="0" tIns="0" rIns="0" bIns="0" rtlCol="0" anchor="ctr"/>
          <a:lstStyle/>
          <a:p>
            <a:pPr indent="0" marL="0">
              <a:buNone/>
            </a:pPr>
            <a:r>
              <a:rPr lang="en-US" sz="1250" dirty="0">
                <a:solidFill>
                  <a:srgbClr val="9AA3BC"/>
                </a:solidFill>
                <a:latin typeface="Calibri" pitchFamily="34" charset="0"/>
                <a:ea typeface="Calibri" pitchFamily="34" charset="-122"/>
                <a:cs typeface="Calibri" pitchFamily="34" charset="-120"/>
              </a:rPr>
              <a:t>browser preview</a:t>
            </a:r>
            <a:endParaRPr lang="en-US" sz="1250" dirty="0"/>
          </a:p>
        </p:txBody>
      </p:sp>
      <p:sp>
        <p:nvSpPr>
          <p:cNvPr id="13" name="Shape 11"/>
          <p:cNvSpPr/>
          <p:nvPr/>
        </p:nvSpPr>
        <p:spPr>
          <a:xfrm>
            <a:off x="566928" y="3941064"/>
            <a:ext cx="6766560" cy="475488"/>
          </a:xfrm>
          <a:prstGeom prst="roundRect">
            <a:avLst>
              <a:gd name="adj" fmla="val 13462"/>
            </a:avLst>
          </a:prstGeom>
          <a:solidFill>
            <a:srgbClr val="232A45"/>
          </a:solidFill>
          <a:ln w="12700">
            <a:solidFill>
              <a:srgbClr val="232A45"/>
            </a:solidFill>
            <a:prstDash val="solid"/>
          </a:ln>
        </p:spPr>
      </p:sp>
      <p:sp>
        <p:nvSpPr>
          <p:cNvPr id="14" name="Shape 12"/>
          <p:cNvSpPr/>
          <p:nvPr/>
        </p:nvSpPr>
        <p:spPr>
          <a:xfrm>
            <a:off x="804672" y="4096512"/>
            <a:ext cx="164592" cy="164592"/>
          </a:xfrm>
          <a:prstGeom prst="ellipse">
            <a:avLst/>
          </a:prstGeom>
          <a:solidFill>
            <a:srgbClr val="635BFF"/>
          </a:solidFill>
          <a:ln w="12700">
            <a:solidFill>
              <a:srgbClr val="635BFF"/>
            </a:solidFill>
            <a:prstDash val="solid"/>
          </a:ln>
        </p:spPr>
      </p:sp>
      <p:sp>
        <p:nvSpPr>
          <p:cNvPr id="15" name="Text 13"/>
          <p:cNvSpPr txBox="1"/>
          <p:nvPr/>
        </p:nvSpPr>
        <p:spPr>
          <a:xfrm>
            <a:off x="1133856" y="3941064"/>
            <a:ext cx="1920240" cy="47548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Rust</a:t>
            </a:r>
            <a:endParaRPr lang="en-US" sz="1400" dirty="0"/>
          </a:p>
        </p:txBody>
      </p:sp>
      <p:sp>
        <p:nvSpPr>
          <p:cNvPr id="16" name="Text 14"/>
          <p:cNvSpPr txBox="1"/>
          <p:nvPr/>
        </p:nvSpPr>
        <p:spPr>
          <a:xfrm>
            <a:off x="3035808" y="3941064"/>
            <a:ext cx="4114800" cy="475488"/>
          </a:xfrm>
          <a:prstGeom prst="rect">
            <a:avLst/>
          </a:prstGeom>
          <a:noFill/>
          <a:ln/>
        </p:spPr>
        <p:txBody>
          <a:bodyPr wrap="square" lIns="0" tIns="0" rIns="0" bIns="0" rtlCol="0" anchor="ctr"/>
          <a:lstStyle/>
          <a:p>
            <a:pPr indent="0" marL="0">
              <a:buNone/>
            </a:pPr>
            <a:r>
              <a:rPr lang="en-US" sz="1250" dirty="0">
                <a:solidFill>
                  <a:srgbClr val="9AA3BC"/>
                </a:solidFill>
                <a:latin typeface="Calibri" pitchFamily="34" charset="0"/>
                <a:ea typeface="Calibri" pitchFamily="34" charset="-122"/>
                <a:cs typeface="Calibri" pitchFamily="34" charset="-120"/>
              </a:rPr>
              <a:t>hot path</a:t>
            </a:r>
            <a:endParaRPr lang="en-US" sz="1250" dirty="0"/>
          </a:p>
        </p:txBody>
      </p:sp>
      <p:sp>
        <p:nvSpPr>
          <p:cNvPr id="17" name="Shape 15"/>
          <p:cNvSpPr/>
          <p:nvPr/>
        </p:nvSpPr>
        <p:spPr>
          <a:xfrm>
            <a:off x="566928" y="4517136"/>
            <a:ext cx="6766560" cy="475488"/>
          </a:xfrm>
          <a:prstGeom prst="roundRect">
            <a:avLst>
              <a:gd name="adj" fmla="val 13462"/>
            </a:avLst>
          </a:prstGeom>
          <a:solidFill>
            <a:srgbClr val="232A45"/>
          </a:solidFill>
          <a:ln w="12700">
            <a:solidFill>
              <a:srgbClr val="232A45"/>
            </a:solidFill>
            <a:prstDash val="solid"/>
          </a:ln>
        </p:spPr>
      </p:sp>
      <p:sp>
        <p:nvSpPr>
          <p:cNvPr id="18" name="Shape 16"/>
          <p:cNvSpPr/>
          <p:nvPr/>
        </p:nvSpPr>
        <p:spPr>
          <a:xfrm>
            <a:off x="804672" y="4672584"/>
            <a:ext cx="164592" cy="164592"/>
          </a:xfrm>
          <a:prstGeom prst="ellipse">
            <a:avLst/>
          </a:prstGeom>
          <a:solidFill>
            <a:srgbClr val="635BFF"/>
          </a:solidFill>
          <a:ln w="12700">
            <a:solidFill>
              <a:srgbClr val="635BFF"/>
            </a:solidFill>
            <a:prstDash val="solid"/>
          </a:ln>
        </p:spPr>
      </p:sp>
      <p:sp>
        <p:nvSpPr>
          <p:cNvPr id="19" name="Text 17"/>
          <p:cNvSpPr txBox="1"/>
          <p:nvPr/>
        </p:nvSpPr>
        <p:spPr>
          <a:xfrm>
            <a:off x="1133856" y="4517136"/>
            <a:ext cx="1920240" cy="47548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Kotlin</a:t>
            </a:r>
            <a:endParaRPr lang="en-US" sz="1400" dirty="0"/>
          </a:p>
        </p:txBody>
      </p:sp>
      <p:sp>
        <p:nvSpPr>
          <p:cNvPr id="20" name="Text 18"/>
          <p:cNvSpPr txBox="1"/>
          <p:nvPr/>
        </p:nvSpPr>
        <p:spPr>
          <a:xfrm>
            <a:off x="3035808" y="4517136"/>
            <a:ext cx="4114800" cy="475488"/>
          </a:xfrm>
          <a:prstGeom prst="rect">
            <a:avLst/>
          </a:prstGeom>
          <a:noFill/>
          <a:ln/>
        </p:spPr>
        <p:txBody>
          <a:bodyPr wrap="square" lIns="0" tIns="0" rIns="0" bIns="0" rtlCol="0" anchor="ctr"/>
          <a:lstStyle/>
          <a:p>
            <a:pPr indent="0" marL="0">
              <a:buNone/>
            </a:pPr>
            <a:r>
              <a:rPr lang="en-US" sz="1250" dirty="0">
                <a:solidFill>
                  <a:srgbClr val="9AA3BC"/>
                </a:solidFill>
                <a:latin typeface="Calibri" pitchFamily="34" charset="0"/>
                <a:ea typeface="Calibri" pitchFamily="34" charset="-122"/>
                <a:cs typeface="Calibri" pitchFamily="34" charset="-120"/>
              </a:rPr>
              <a:t>Android, offline</a:t>
            </a:r>
            <a:endParaRPr lang="en-US" sz="1250" dirty="0"/>
          </a:p>
        </p:txBody>
      </p:sp>
      <p:sp>
        <p:nvSpPr>
          <p:cNvPr id="21" name="Shape 19"/>
          <p:cNvSpPr/>
          <p:nvPr/>
        </p:nvSpPr>
        <p:spPr>
          <a:xfrm>
            <a:off x="566928" y="5093208"/>
            <a:ext cx="6766560" cy="475488"/>
          </a:xfrm>
          <a:prstGeom prst="roundRect">
            <a:avLst>
              <a:gd name="adj" fmla="val 13462"/>
            </a:avLst>
          </a:prstGeom>
          <a:solidFill>
            <a:srgbClr val="232A45"/>
          </a:solidFill>
          <a:ln w="12700">
            <a:solidFill>
              <a:srgbClr val="232A45"/>
            </a:solidFill>
            <a:prstDash val="solid"/>
          </a:ln>
        </p:spPr>
      </p:sp>
      <p:sp>
        <p:nvSpPr>
          <p:cNvPr id="22" name="Shape 20"/>
          <p:cNvSpPr/>
          <p:nvPr/>
        </p:nvSpPr>
        <p:spPr>
          <a:xfrm>
            <a:off x="804672" y="5248656"/>
            <a:ext cx="164592" cy="164592"/>
          </a:xfrm>
          <a:prstGeom prst="ellipse">
            <a:avLst/>
          </a:prstGeom>
          <a:solidFill>
            <a:srgbClr val="635BFF"/>
          </a:solidFill>
          <a:ln w="12700">
            <a:solidFill>
              <a:srgbClr val="635BFF"/>
            </a:solidFill>
            <a:prstDash val="solid"/>
          </a:ln>
        </p:spPr>
      </p:sp>
      <p:sp>
        <p:nvSpPr>
          <p:cNvPr id="23" name="Text 21"/>
          <p:cNvSpPr txBox="1"/>
          <p:nvPr/>
        </p:nvSpPr>
        <p:spPr>
          <a:xfrm>
            <a:off x="1133856" y="5093208"/>
            <a:ext cx="1920240" cy="47548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Dart</a:t>
            </a:r>
            <a:endParaRPr lang="en-US" sz="1400" dirty="0"/>
          </a:p>
        </p:txBody>
      </p:sp>
      <p:sp>
        <p:nvSpPr>
          <p:cNvPr id="24" name="Text 22"/>
          <p:cNvSpPr txBox="1"/>
          <p:nvPr/>
        </p:nvSpPr>
        <p:spPr>
          <a:xfrm>
            <a:off x="3035808" y="5093208"/>
            <a:ext cx="4114800" cy="475488"/>
          </a:xfrm>
          <a:prstGeom prst="rect">
            <a:avLst/>
          </a:prstGeom>
          <a:noFill/>
          <a:ln/>
        </p:spPr>
        <p:txBody>
          <a:bodyPr wrap="square" lIns="0" tIns="0" rIns="0" bIns="0" rtlCol="0" anchor="ctr"/>
          <a:lstStyle/>
          <a:p>
            <a:pPr indent="0" marL="0">
              <a:buNone/>
            </a:pPr>
            <a:r>
              <a:rPr lang="en-US" sz="1250" dirty="0">
                <a:solidFill>
                  <a:srgbClr val="9AA3BC"/>
                </a:solidFill>
                <a:latin typeface="Calibri" pitchFamily="34" charset="0"/>
                <a:ea typeface="Calibri" pitchFamily="34" charset="-122"/>
                <a:cs typeface="Calibri" pitchFamily="34" charset="-120"/>
              </a:rPr>
              <a:t>Flutter, offline</a:t>
            </a:r>
            <a:endParaRPr lang="en-US" sz="1250" dirty="0"/>
          </a:p>
        </p:txBody>
      </p:sp>
      <p:sp>
        <p:nvSpPr>
          <p:cNvPr id="25" name="Shape 23"/>
          <p:cNvSpPr/>
          <p:nvPr/>
        </p:nvSpPr>
        <p:spPr>
          <a:xfrm>
            <a:off x="7726680" y="1664208"/>
            <a:ext cx="3904488" cy="4114800"/>
          </a:xfrm>
          <a:prstGeom prst="roundRect">
            <a:avLst>
              <a:gd name="adj" fmla="val 2342"/>
            </a:avLst>
          </a:prstGeom>
          <a:solidFill>
            <a:srgbClr val="232A45"/>
          </a:solidFill>
          <a:ln w="12700">
            <a:solidFill>
              <a:srgbClr val="232A45"/>
            </a:solidFill>
            <a:prstDash val="solid"/>
          </a:ln>
          <a:effectLst>
            <a:outerShdw sx="100000" sy="100000" kx="0" ky="0" algn="bl" rotWithShape="0" blurRad="127000" dist="25400" dir="5400000">
              <a:srgbClr val="0B1020">
                <a:alpha val="7000"/>
              </a:srgbClr>
            </a:outerShdw>
          </a:effectLst>
        </p:spPr>
      </p:sp>
      <p:sp>
        <p:nvSpPr>
          <p:cNvPr id="26" name="Text 24"/>
          <p:cNvSpPr txBox="1"/>
          <p:nvPr/>
        </p:nvSpPr>
        <p:spPr>
          <a:xfrm>
            <a:off x="8065008" y="1965960"/>
            <a:ext cx="3291840" cy="274320"/>
          </a:xfrm>
          <a:prstGeom prst="rect">
            <a:avLst/>
          </a:prstGeom>
          <a:noFill/>
          <a:ln/>
        </p:spPr>
        <p:txBody>
          <a:bodyPr wrap="square" lIns="0" tIns="0" rIns="0" bIns="0" rtlCol="0" anchor="ctr"/>
          <a:lstStyle/>
          <a:p>
            <a:pPr indent="0" marL="0">
              <a:buNone/>
            </a:pPr>
            <a:r>
              <a:rPr lang="en-US" sz="1050" b="1" spc="200" kern="0" dirty="0">
                <a:solidFill>
                  <a:srgbClr val="635BFF"/>
                </a:solidFill>
                <a:latin typeface="Calibri" pitchFamily="34" charset="0"/>
                <a:ea typeface="Calibri" pitchFamily="34" charset="-122"/>
                <a:cs typeface="Calibri" pitchFamily="34" charset="-120"/>
              </a:rPr>
              <a:t>THE CORPUS</a:t>
            </a:r>
            <a:endParaRPr lang="en-US" sz="1050" dirty="0"/>
          </a:p>
        </p:txBody>
      </p:sp>
      <p:sp>
        <p:nvSpPr>
          <p:cNvPr id="27" name="Text 25"/>
          <p:cNvSpPr txBox="1"/>
          <p:nvPr/>
        </p:nvSpPr>
        <p:spPr>
          <a:xfrm>
            <a:off x="8065008" y="2377440"/>
            <a:ext cx="3291840" cy="438912"/>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90</a:t>
            </a:r>
            <a:endParaRPr lang="en-US" sz="2800" dirty="0"/>
          </a:p>
        </p:txBody>
      </p:sp>
      <p:sp>
        <p:nvSpPr>
          <p:cNvPr id="28" name="Text 26"/>
          <p:cNvSpPr txBox="1"/>
          <p:nvPr/>
        </p:nvSpPr>
        <p:spPr>
          <a:xfrm>
            <a:off x="8065008" y="2807208"/>
            <a:ext cx="3246120" cy="457200"/>
          </a:xfrm>
          <a:prstGeom prst="rect">
            <a:avLst/>
          </a:prstGeom>
          <a:noFill/>
          <a:ln/>
        </p:spPr>
        <p:txBody>
          <a:bodyPr wrap="square" lIns="0" tIns="0" rIns="0" bIns="0" rtlCol="0" anchor="ctr"/>
          <a:lstStyle/>
          <a:p>
            <a:pPr indent="0" marL="0">
              <a:lnSpc>
                <a:spcPts val="1600"/>
              </a:lnSpc>
              <a:buNone/>
            </a:pPr>
            <a:r>
              <a:rPr lang="en-US" sz="1150" dirty="0">
                <a:solidFill>
                  <a:srgbClr val="9AA3BC"/>
                </a:solidFill>
                <a:latin typeface="Calibri" pitchFamily="34" charset="0"/>
                <a:ea typeface="Calibri" pitchFamily="34" charset="-122"/>
                <a:cs typeface="Calibri" pitchFamily="34" charset="-120"/>
              </a:rPr>
              <a:t>operator cases — through all five engines</a:t>
            </a:r>
            <a:endParaRPr lang="en-US" sz="1150" dirty="0"/>
          </a:p>
        </p:txBody>
      </p:sp>
      <p:sp>
        <p:nvSpPr>
          <p:cNvPr id="29" name="Text 27"/>
          <p:cNvSpPr txBox="1"/>
          <p:nvPr/>
        </p:nvSpPr>
        <p:spPr>
          <a:xfrm>
            <a:off x="8065008" y="3310128"/>
            <a:ext cx="3291840" cy="438912"/>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600</a:t>
            </a:r>
            <a:endParaRPr lang="en-US" sz="2800" dirty="0"/>
          </a:p>
        </p:txBody>
      </p:sp>
      <p:sp>
        <p:nvSpPr>
          <p:cNvPr id="30" name="Text 28"/>
          <p:cNvSpPr txBox="1"/>
          <p:nvPr/>
        </p:nvSpPr>
        <p:spPr>
          <a:xfrm>
            <a:off x="8065008" y="3739896"/>
            <a:ext cx="3246120" cy="457200"/>
          </a:xfrm>
          <a:prstGeom prst="rect">
            <a:avLst/>
          </a:prstGeom>
          <a:noFill/>
          <a:ln/>
        </p:spPr>
        <p:txBody>
          <a:bodyPr wrap="square" lIns="0" tIns="0" rIns="0" bIns="0" rtlCol="0" anchor="ctr"/>
          <a:lstStyle/>
          <a:p>
            <a:pPr indent="0" marL="0">
              <a:lnSpc>
                <a:spcPts val="1600"/>
              </a:lnSpc>
              <a:buNone/>
            </a:pPr>
            <a:r>
              <a:rPr lang="en-US" sz="1150" dirty="0">
                <a:solidFill>
                  <a:srgbClr val="9AA3BC"/>
                </a:solidFill>
                <a:latin typeface="Calibri" pitchFamily="34" charset="0"/>
                <a:ea typeface="Calibri" pitchFamily="34" charset="-122"/>
                <a:cs typeface="Calibri" pitchFamily="34" charset="-120"/>
              </a:rPr>
              <a:t>conditions in one generated stress rule</a:t>
            </a:r>
            <a:endParaRPr lang="en-US" sz="1150" dirty="0"/>
          </a:p>
        </p:txBody>
      </p:sp>
      <p:sp>
        <p:nvSpPr>
          <p:cNvPr id="31" name="Text 29"/>
          <p:cNvSpPr txBox="1"/>
          <p:nvPr/>
        </p:nvSpPr>
        <p:spPr>
          <a:xfrm>
            <a:off x="8065008" y="4242816"/>
            <a:ext cx="3291840" cy="438912"/>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1.6 MB</a:t>
            </a:r>
            <a:endParaRPr lang="en-US" sz="2800" dirty="0"/>
          </a:p>
        </p:txBody>
      </p:sp>
      <p:sp>
        <p:nvSpPr>
          <p:cNvPr id="32" name="Text 30"/>
          <p:cNvSpPr txBox="1"/>
          <p:nvPr/>
        </p:nvSpPr>
        <p:spPr>
          <a:xfrm>
            <a:off x="8065008" y="4672584"/>
            <a:ext cx="3246120" cy="457200"/>
          </a:xfrm>
          <a:prstGeom prst="rect">
            <a:avLst/>
          </a:prstGeom>
          <a:noFill/>
          <a:ln/>
        </p:spPr>
        <p:txBody>
          <a:bodyPr wrap="square" lIns="0" tIns="0" rIns="0" bIns="0" rtlCol="0" anchor="ctr"/>
          <a:lstStyle/>
          <a:p>
            <a:pPr indent="0" marL="0">
              <a:lnSpc>
                <a:spcPts val="1600"/>
              </a:lnSpc>
              <a:buNone/>
            </a:pPr>
            <a:r>
              <a:rPr lang="en-US" sz="1150" dirty="0">
                <a:solidFill>
                  <a:srgbClr val="9AA3BC"/>
                </a:solidFill>
                <a:latin typeface="Calibri" pitchFamily="34" charset="0"/>
                <a:ea typeface="Calibri" pitchFamily="34" charset="-122"/>
                <a:cs typeface="Calibri" pitchFamily="34" charset="-120"/>
              </a:rPr>
              <a:t>of expected outputs, generated not typed</a:t>
            </a:r>
            <a:endParaRPr lang="en-US" sz="1150" dirty="0"/>
          </a:p>
        </p:txBody>
      </p:sp>
      <p:sp>
        <p:nvSpPr>
          <p:cNvPr id="33" name="Text 31"/>
          <p:cNvSpPr txBox="1"/>
          <p:nvPr/>
        </p:nvSpPr>
        <p:spPr>
          <a:xfrm>
            <a:off x="8065008" y="5230368"/>
            <a:ext cx="3246120" cy="365760"/>
          </a:xfrm>
          <a:prstGeom prst="rect">
            <a:avLst/>
          </a:prstGeom>
          <a:noFill/>
          <a:ln/>
        </p:spPr>
        <p:txBody>
          <a:bodyPr wrap="square" lIns="0" tIns="0" rIns="0" bIns="0" rtlCol="0" anchor="ctr"/>
          <a:lstStyle/>
          <a:p>
            <a:pPr indent="0" marL="0">
              <a:buNone/>
            </a:pPr>
            <a:r>
              <a:rPr lang="en-US" sz="1200" b="1" i="1" dirty="0">
                <a:solidFill>
                  <a:srgbClr val="635BFF"/>
                </a:solidFill>
                <a:latin typeface="Calibri" pitchFamily="34" charset="0"/>
                <a:ea typeface="Calibri" pitchFamily="34" charset="-122"/>
                <a:cs typeface="Calibri" pitchFamily="34" charset="-120"/>
              </a:rPr>
              <a:t>Disagree on one case and the build fails.</a:t>
            </a:r>
            <a:endParaRPr lang="en-US" sz="1200" dirty="0"/>
          </a:p>
        </p:txBody>
      </p:sp>
      <p:sp>
        <p:nvSpPr>
          <p:cNvPr id="34" name="Text 32"/>
          <p:cNvSpPr txBox="1"/>
          <p:nvPr/>
        </p:nvSpPr>
        <p:spPr>
          <a:xfrm>
            <a:off x="566928" y="5760720"/>
            <a:ext cx="10881360" cy="411480"/>
          </a:xfrm>
          <a:prstGeom prst="rect">
            <a:avLst/>
          </a:prstGeom>
          <a:noFill/>
          <a:ln/>
        </p:spPr>
        <p:txBody>
          <a:bodyPr wrap="square" lIns="0" tIns="0" rIns="0" bIns="0" rtlCol="0" anchor="ctr"/>
          <a:lstStyle/>
          <a:p>
            <a:pPr indent="0" marL="0">
              <a:lnSpc>
                <a:spcPts val="1800"/>
              </a:lnSpc>
              <a:buNone/>
            </a:pPr>
            <a:r>
              <a:rPr lang="en-US" sz="1250" dirty="0">
                <a:solidFill>
                  <a:srgbClr val="9AA3BC"/>
                </a:solidFill>
                <a:latin typeface="Calibri" pitchFamily="34" charset="0"/>
                <a:ea typeface="Calibri" pitchFamily="34" charset="-122"/>
                <a:cs typeface="Calibri" pitchFamily="34" charset="-120"/>
              </a:rPr>
              <a:t>Why it matters to you: the score your branch app shows offline is the score your server recorded. No “the mobile engine rounds differently” incident, because that incident fails the build.</a:t>
            </a:r>
            <a:endParaRPr lang="en-US" sz="1250" dirty="0"/>
          </a:p>
        </p:txBody>
      </p:sp>
      <p:sp>
        <p:nvSpPr>
          <p:cNvPr id="36" name="Text 33"/>
          <p:cNvSpPr txBox="1"/>
          <p:nvPr/>
        </p:nvSpPr>
        <p:spPr>
          <a:xfrm>
            <a:off x="566928" y="6291072"/>
            <a:ext cx="2743200" cy="256032"/>
          </a:xfrm>
          <a:prstGeom prst="rect">
            <a:avLst/>
          </a:prstGeom>
          <a:noFill/>
          <a:ln/>
        </p:spPr>
        <p:txBody>
          <a:bodyPr wrap="square" lIns="0" tIns="0" rIns="0" bIns="0" rtlCol="0" anchor="ctr"/>
          <a:lstStyle/>
          <a:p>
            <a:pPr indent="0" marL="0">
              <a:buNone/>
            </a:pPr>
            <a:r>
              <a:rPr lang="en-US" sz="900" dirty="0">
                <a:solidFill>
                  <a:srgbClr val="9AA3BC"/>
                </a:solidFill>
                <a:latin typeface="Calibri" pitchFamily="34" charset="0"/>
                <a:ea typeface="Calibri" pitchFamily="34" charset="-122"/>
                <a:cs typeface="Calibri" pitchFamily="34" charset="-120"/>
              </a:rPr>
              <a:t>RuleMind AI</a:t>
            </a:r>
            <a:endParaRPr lang="en-US" sz="900" dirty="0"/>
          </a:p>
        </p:txBody>
      </p:sp>
      <p:sp>
        <p:nvSpPr>
          <p:cNvPr id="37" name="Text 34"/>
          <p:cNvSpPr txBox="1"/>
          <p:nvPr/>
        </p:nvSpPr>
        <p:spPr>
          <a:xfrm>
            <a:off x="10710367" y="6291072"/>
            <a:ext cx="914400" cy="256032"/>
          </a:xfrm>
          <a:prstGeom prst="rect">
            <a:avLst/>
          </a:prstGeom>
          <a:noFill/>
          <a:ln/>
        </p:spPr>
        <p:txBody>
          <a:bodyPr wrap="square" lIns="0" tIns="0" rIns="0" bIns="0" rtlCol="0" anchor="ctr"/>
          <a:lstStyle/>
          <a:p>
            <a:pPr algn="r" indent="0" marL="0">
              <a:buNone/>
            </a:pPr>
            <a:r>
              <a:rPr lang="en-US" sz="900" dirty="0">
                <a:solidFill>
                  <a:srgbClr val="9AA3B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66928" y="420624"/>
            <a:ext cx="10515600" cy="274320"/>
          </a:xfrm>
          <a:prstGeom prst="rect">
            <a:avLst/>
          </a:prstGeom>
          <a:noFill/>
          <a:ln/>
        </p:spPr>
        <p:txBody>
          <a:bodyPr wrap="square" lIns="0" tIns="0" rIns="0" bIns="0" rtlCol="0" anchor="ctr"/>
          <a:lstStyle/>
          <a:p>
            <a:pPr indent="0" marL="0">
              <a:buNone/>
            </a:pPr>
            <a:r>
              <a:rPr lang="en-US" sz="1200" b="1" spc="220" kern="0" dirty="0">
                <a:solidFill>
                  <a:srgbClr val="635BFF"/>
                </a:solidFill>
                <a:latin typeface="Calibri" pitchFamily="34" charset="0"/>
                <a:ea typeface="Calibri" pitchFamily="34" charset="-122"/>
                <a:cs typeface="Calibri" pitchFamily="34" charset="-120"/>
              </a:rPr>
              <a:t>EVIDENCE</a:t>
            </a:r>
            <a:endParaRPr lang="en-US" sz="1200" dirty="0"/>
          </a:p>
        </p:txBody>
      </p:sp>
      <p:sp>
        <p:nvSpPr>
          <p:cNvPr id="3" name="Text 1"/>
          <p:cNvSpPr txBox="1"/>
          <p:nvPr/>
        </p:nvSpPr>
        <p:spPr>
          <a:xfrm>
            <a:off x="566928" y="731520"/>
            <a:ext cx="10881360" cy="822960"/>
          </a:xfrm>
          <a:prstGeom prst="rect">
            <a:avLst/>
          </a:prstGeom>
          <a:noFill/>
          <a:ln/>
        </p:spPr>
        <p:txBody>
          <a:bodyPr wrap="square" lIns="0" tIns="0" rIns="0" bIns="0" rtlCol="0" anchor="ctr"/>
          <a:lstStyle/>
          <a:p>
            <a:pPr indent="0" marL="0">
              <a:buNone/>
            </a:pPr>
            <a:r>
              <a:rPr lang="en-US" sz="3400" b="1" dirty="0">
                <a:solidFill>
                  <a:srgbClr val="141A2E"/>
                </a:solidFill>
                <a:latin typeface="Cambria" pitchFamily="34" charset="0"/>
                <a:ea typeface="Cambria" pitchFamily="34" charset="-122"/>
                <a:cs typeface="Cambria" pitchFamily="34" charset="-120"/>
              </a:rPr>
              <a:t>Proof you can re-run yourself</a:t>
            </a:r>
            <a:endParaRPr lang="en-US" sz="3400" dirty="0"/>
          </a:p>
        </p:txBody>
      </p:sp>
      <p:sp>
        <p:nvSpPr>
          <p:cNvPr id="4" name="Shape 2"/>
          <p:cNvSpPr/>
          <p:nvPr/>
        </p:nvSpPr>
        <p:spPr>
          <a:xfrm>
            <a:off x="566928" y="1783080"/>
            <a:ext cx="3456432" cy="1417320"/>
          </a:xfrm>
          <a:prstGeom prst="roundRect">
            <a:avLst>
              <a:gd name="adj" fmla="val 6452"/>
            </a:avLst>
          </a:prstGeom>
          <a:solidFill>
            <a:srgbClr val="FFFFFF"/>
          </a:solidFill>
          <a:ln w="12700">
            <a:solidFill>
              <a:srgbClr val="E3E8F2"/>
            </a:solidFill>
            <a:prstDash val="solid"/>
          </a:ln>
          <a:effectLst>
            <a:outerShdw sx="100000" sy="100000" kx="0" ky="0" algn="bl" rotWithShape="0" blurRad="127000" dist="25400" dir="5400000">
              <a:srgbClr val="0B1020">
                <a:alpha val="7000"/>
              </a:srgbClr>
            </a:outerShdw>
          </a:effectLst>
        </p:spPr>
      </p:sp>
      <p:sp>
        <p:nvSpPr>
          <p:cNvPr id="5" name="Text 3"/>
          <p:cNvSpPr txBox="1"/>
          <p:nvPr/>
        </p:nvSpPr>
        <p:spPr>
          <a:xfrm>
            <a:off x="914400" y="1956816"/>
            <a:ext cx="2834640" cy="548640"/>
          </a:xfrm>
          <a:prstGeom prst="rect">
            <a:avLst/>
          </a:prstGeom>
          <a:noFill/>
          <a:ln/>
        </p:spPr>
        <p:txBody>
          <a:bodyPr wrap="square" lIns="0" tIns="0" rIns="0" bIns="0" rtlCol="0" anchor="ctr"/>
          <a:lstStyle/>
          <a:p>
            <a:pPr indent="0" marL="0">
              <a:buNone/>
            </a:pPr>
            <a:r>
              <a:rPr lang="en-US" sz="3400" b="1" dirty="0">
                <a:solidFill>
                  <a:srgbClr val="635BFF"/>
                </a:solidFill>
                <a:latin typeface="Calibri" pitchFamily="34" charset="0"/>
                <a:ea typeface="Calibri" pitchFamily="34" charset="-122"/>
                <a:cs typeface="Calibri" pitchFamily="34" charset="-120"/>
              </a:rPr>
              <a:t>4,608</a:t>
            </a:r>
            <a:endParaRPr lang="en-US" sz="3400" dirty="0"/>
          </a:p>
        </p:txBody>
      </p:sp>
      <p:sp>
        <p:nvSpPr>
          <p:cNvPr id="6" name="Text 4"/>
          <p:cNvSpPr txBox="1"/>
          <p:nvPr/>
        </p:nvSpPr>
        <p:spPr>
          <a:xfrm>
            <a:off x="914400" y="2523744"/>
            <a:ext cx="2834640" cy="274320"/>
          </a:xfrm>
          <a:prstGeom prst="rect">
            <a:avLst/>
          </a:prstGeom>
          <a:noFill/>
          <a:ln/>
        </p:spPr>
        <p:txBody>
          <a:bodyPr wrap="square" lIns="0" tIns="0" rIns="0" bIns="0" rtlCol="0" anchor="ctr"/>
          <a:lstStyle/>
          <a:p>
            <a:pPr indent="0" marL="0">
              <a:buNone/>
            </a:pPr>
            <a:r>
              <a:rPr lang="en-US" sz="1250" b="1" dirty="0">
                <a:solidFill>
                  <a:srgbClr val="141A2E"/>
                </a:solidFill>
                <a:latin typeface="Calibri" pitchFamily="34" charset="0"/>
                <a:ea typeface="Calibri" pitchFamily="34" charset="-122"/>
                <a:cs typeface="Calibri" pitchFamily="34" charset="-120"/>
              </a:rPr>
              <a:t>tests across 11 lanes</a:t>
            </a:r>
            <a:endParaRPr lang="en-US" sz="1250" dirty="0"/>
          </a:p>
        </p:txBody>
      </p:sp>
      <p:sp>
        <p:nvSpPr>
          <p:cNvPr id="7" name="Text 5"/>
          <p:cNvSpPr txBox="1"/>
          <p:nvPr/>
        </p:nvSpPr>
        <p:spPr>
          <a:xfrm>
            <a:off x="914400" y="2779776"/>
            <a:ext cx="2834640" cy="274320"/>
          </a:xfrm>
          <a:prstGeom prst="rect">
            <a:avLst/>
          </a:prstGeom>
          <a:noFill/>
          <a:ln/>
        </p:spPr>
        <p:txBody>
          <a:bodyPr wrap="square" lIns="0" tIns="0" rIns="0" bIns="0" rtlCol="0" anchor="ctr"/>
          <a:lstStyle/>
          <a:p>
            <a:pPr indent="0" marL="0">
              <a:buNone/>
            </a:pPr>
            <a:r>
              <a:rPr lang="en-US" sz="1150" dirty="0">
                <a:solidFill>
                  <a:srgbClr val="4F566B"/>
                </a:solidFill>
                <a:latin typeface="Calibri" pitchFamily="34" charset="0"/>
                <a:ea typeface="Calibri" pitchFamily="34" charset="-122"/>
                <a:cs typeface="Calibri" pitchFamily="34" charset="-120"/>
              </a:rPr>
              <a:t>all green</a:t>
            </a:r>
            <a:endParaRPr lang="en-US" sz="1150" dirty="0"/>
          </a:p>
        </p:txBody>
      </p:sp>
      <p:sp>
        <p:nvSpPr>
          <p:cNvPr id="8" name="Shape 6"/>
          <p:cNvSpPr/>
          <p:nvPr/>
        </p:nvSpPr>
        <p:spPr>
          <a:xfrm>
            <a:off x="4251960" y="1783080"/>
            <a:ext cx="3456432" cy="1417320"/>
          </a:xfrm>
          <a:prstGeom prst="roundRect">
            <a:avLst>
              <a:gd name="adj" fmla="val 6452"/>
            </a:avLst>
          </a:prstGeom>
          <a:solidFill>
            <a:srgbClr val="FFFFFF"/>
          </a:solidFill>
          <a:ln w="12700">
            <a:solidFill>
              <a:srgbClr val="E3E8F2"/>
            </a:solidFill>
            <a:prstDash val="solid"/>
          </a:ln>
          <a:effectLst>
            <a:outerShdw sx="100000" sy="100000" kx="0" ky="0" algn="bl" rotWithShape="0" blurRad="127000" dist="25400" dir="5400000">
              <a:srgbClr val="0B1020">
                <a:alpha val="7000"/>
              </a:srgbClr>
            </a:outerShdw>
          </a:effectLst>
        </p:spPr>
      </p:sp>
      <p:sp>
        <p:nvSpPr>
          <p:cNvPr id="9" name="Text 7"/>
          <p:cNvSpPr txBox="1"/>
          <p:nvPr/>
        </p:nvSpPr>
        <p:spPr>
          <a:xfrm>
            <a:off x="4599432" y="1956816"/>
            <a:ext cx="2834640" cy="548640"/>
          </a:xfrm>
          <a:prstGeom prst="rect">
            <a:avLst/>
          </a:prstGeom>
          <a:noFill/>
          <a:ln/>
        </p:spPr>
        <p:txBody>
          <a:bodyPr wrap="square" lIns="0" tIns="0" rIns="0" bIns="0" rtlCol="0" anchor="ctr"/>
          <a:lstStyle/>
          <a:p>
            <a:pPr indent="0" marL="0">
              <a:buNone/>
            </a:pPr>
            <a:r>
              <a:rPr lang="en-US" sz="3400" b="1" dirty="0">
                <a:solidFill>
                  <a:srgbClr val="635BFF"/>
                </a:solidFill>
                <a:latin typeface="Calibri" pitchFamily="34" charset="0"/>
                <a:ea typeface="Calibri" pitchFamily="34" charset="-122"/>
                <a:cs typeface="Calibri" pitchFamily="34" charset="-120"/>
              </a:rPr>
              <a:t>21 / 22</a:t>
            </a:r>
            <a:endParaRPr lang="en-US" sz="3400" dirty="0"/>
          </a:p>
        </p:txBody>
      </p:sp>
      <p:sp>
        <p:nvSpPr>
          <p:cNvPr id="10" name="Text 8"/>
          <p:cNvSpPr txBox="1"/>
          <p:nvPr/>
        </p:nvSpPr>
        <p:spPr>
          <a:xfrm>
            <a:off x="4599432" y="2523744"/>
            <a:ext cx="2834640" cy="274320"/>
          </a:xfrm>
          <a:prstGeom prst="rect">
            <a:avLst/>
          </a:prstGeom>
          <a:noFill/>
          <a:ln/>
        </p:spPr>
        <p:txBody>
          <a:bodyPr wrap="square" lIns="0" tIns="0" rIns="0" bIns="0" rtlCol="0" anchor="ctr"/>
          <a:lstStyle/>
          <a:p>
            <a:pPr indent="0" marL="0">
              <a:buNone/>
            </a:pPr>
            <a:r>
              <a:rPr lang="en-US" sz="1250" b="1" dirty="0">
                <a:solidFill>
                  <a:srgbClr val="141A2E"/>
                </a:solidFill>
                <a:latin typeface="Calibri" pitchFamily="34" charset="0"/>
                <a:ea typeface="Calibri" pitchFamily="34" charset="-122"/>
                <a:cs typeface="Calibri" pitchFamily="34" charset="-120"/>
              </a:rPr>
              <a:t>capability rows evidenced</a:t>
            </a:r>
            <a:endParaRPr lang="en-US" sz="1250" dirty="0"/>
          </a:p>
        </p:txBody>
      </p:sp>
      <p:sp>
        <p:nvSpPr>
          <p:cNvPr id="11" name="Text 9"/>
          <p:cNvSpPr txBox="1"/>
          <p:nvPr/>
        </p:nvSpPr>
        <p:spPr>
          <a:xfrm>
            <a:off x="4599432" y="2779776"/>
            <a:ext cx="2834640" cy="274320"/>
          </a:xfrm>
          <a:prstGeom prst="rect">
            <a:avLst/>
          </a:prstGeom>
          <a:noFill/>
          <a:ln/>
        </p:spPr>
        <p:txBody>
          <a:bodyPr wrap="square" lIns="0" tIns="0" rIns="0" bIns="0" rtlCol="0" anchor="ctr"/>
          <a:lstStyle/>
          <a:p>
            <a:pPr indent="0" marL="0">
              <a:buNone/>
            </a:pPr>
            <a:r>
              <a:rPr lang="en-US" sz="1150" dirty="0">
                <a:solidFill>
                  <a:srgbClr val="4F566B"/>
                </a:solidFill>
                <a:latin typeface="Calibri" pitchFamily="34" charset="0"/>
                <a:ea typeface="Calibri" pitchFamily="34" charset="-122"/>
                <a:cs typeface="Calibri" pitchFamily="34" charset="-120"/>
              </a:rPr>
              <a:t>0 absent</a:t>
            </a:r>
            <a:endParaRPr lang="en-US" sz="1150" dirty="0"/>
          </a:p>
        </p:txBody>
      </p:sp>
      <p:sp>
        <p:nvSpPr>
          <p:cNvPr id="12" name="Shape 10"/>
          <p:cNvSpPr/>
          <p:nvPr/>
        </p:nvSpPr>
        <p:spPr>
          <a:xfrm>
            <a:off x="7936992" y="1783080"/>
            <a:ext cx="3456432" cy="1417320"/>
          </a:xfrm>
          <a:prstGeom prst="roundRect">
            <a:avLst>
              <a:gd name="adj" fmla="val 6452"/>
            </a:avLst>
          </a:prstGeom>
          <a:solidFill>
            <a:srgbClr val="FFFFFF"/>
          </a:solidFill>
          <a:ln w="12700">
            <a:solidFill>
              <a:srgbClr val="E3E8F2"/>
            </a:solidFill>
            <a:prstDash val="solid"/>
          </a:ln>
          <a:effectLst>
            <a:outerShdw sx="100000" sy="100000" kx="0" ky="0" algn="bl" rotWithShape="0" blurRad="127000" dist="25400" dir="5400000">
              <a:srgbClr val="0B1020">
                <a:alpha val="7000"/>
              </a:srgbClr>
            </a:outerShdw>
          </a:effectLst>
        </p:spPr>
      </p:sp>
      <p:sp>
        <p:nvSpPr>
          <p:cNvPr id="13" name="Text 11"/>
          <p:cNvSpPr txBox="1"/>
          <p:nvPr/>
        </p:nvSpPr>
        <p:spPr>
          <a:xfrm>
            <a:off x="8284464" y="1956816"/>
            <a:ext cx="2834640" cy="548640"/>
          </a:xfrm>
          <a:prstGeom prst="rect">
            <a:avLst/>
          </a:prstGeom>
          <a:noFill/>
          <a:ln/>
        </p:spPr>
        <p:txBody>
          <a:bodyPr wrap="square" lIns="0" tIns="0" rIns="0" bIns="0" rtlCol="0" anchor="ctr"/>
          <a:lstStyle/>
          <a:p>
            <a:pPr indent="0" marL="0">
              <a:buNone/>
            </a:pPr>
            <a:r>
              <a:rPr lang="en-US" sz="3400" b="1" dirty="0">
                <a:solidFill>
                  <a:srgbClr val="635BFF"/>
                </a:solidFill>
                <a:latin typeface="Calibri" pitchFamily="34" charset="0"/>
                <a:ea typeface="Calibri" pitchFamily="34" charset="-122"/>
                <a:cs typeface="Calibri" pitchFamily="34" charset="-120"/>
              </a:rPr>
              <a:t>2</a:t>
            </a:r>
            <a:endParaRPr lang="en-US" sz="3400" dirty="0"/>
          </a:p>
        </p:txBody>
      </p:sp>
      <p:sp>
        <p:nvSpPr>
          <p:cNvPr id="14" name="Text 12"/>
          <p:cNvSpPr txBox="1"/>
          <p:nvPr/>
        </p:nvSpPr>
        <p:spPr>
          <a:xfrm>
            <a:off x="8284464" y="2523744"/>
            <a:ext cx="2834640" cy="274320"/>
          </a:xfrm>
          <a:prstGeom prst="rect">
            <a:avLst/>
          </a:prstGeom>
          <a:noFill/>
          <a:ln/>
        </p:spPr>
        <p:txBody>
          <a:bodyPr wrap="square" lIns="0" tIns="0" rIns="0" bIns="0" rtlCol="0" anchor="ctr"/>
          <a:lstStyle/>
          <a:p>
            <a:pPr indent="0" marL="0">
              <a:buNone/>
            </a:pPr>
            <a:r>
              <a:rPr lang="en-US" sz="1250" b="1" dirty="0">
                <a:solidFill>
                  <a:srgbClr val="141A2E"/>
                </a:solidFill>
                <a:latin typeface="Calibri" pitchFamily="34" charset="0"/>
                <a:ea typeface="Calibri" pitchFamily="34" charset="-122"/>
                <a:cs typeface="Calibri" pitchFamily="34" charset="-120"/>
              </a:rPr>
              <a:t>database lanes</a:t>
            </a:r>
            <a:endParaRPr lang="en-US" sz="1250" dirty="0"/>
          </a:p>
        </p:txBody>
      </p:sp>
      <p:sp>
        <p:nvSpPr>
          <p:cNvPr id="15" name="Text 13"/>
          <p:cNvSpPr txBox="1"/>
          <p:nvPr/>
        </p:nvSpPr>
        <p:spPr>
          <a:xfrm>
            <a:off x="8284464" y="2779776"/>
            <a:ext cx="2834640" cy="274320"/>
          </a:xfrm>
          <a:prstGeom prst="rect">
            <a:avLst/>
          </a:prstGeom>
          <a:noFill/>
          <a:ln/>
        </p:spPr>
        <p:txBody>
          <a:bodyPr wrap="square" lIns="0" tIns="0" rIns="0" bIns="0" rtlCol="0" anchor="ctr"/>
          <a:lstStyle/>
          <a:p>
            <a:pPr indent="0" marL="0">
              <a:buNone/>
            </a:pPr>
            <a:r>
              <a:rPr lang="en-US" sz="1150" dirty="0">
                <a:solidFill>
                  <a:srgbClr val="4F566B"/>
                </a:solidFill>
                <a:latin typeface="Calibri" pitchFamily="34" charset="0"/>
                <a:ea typeface="Calibri" pitchFamily="34" charset="-122"/>
                <a:cs typeface="Calibri" pitchFamily="34" charset="-120"/>
              </a:rPr>
              <a:t>SQLite + PostgreSQL 16</a:t>
            </a:r>
            <a:endParaRPr lang="en-US" sz="1150" dirty="0"/>
          </a:p>
        </p:txBody>
      </p:sp>
      <p:graphicFrame>
        <p:nvGraphicFramePr>
          <p:cNvPr id="16" name="Chart 0" descr=""/>
          <p:cNvGraphicFramePr/>
          <p:nvPr/>
        </p:nvGraphicFramePr>
        <p:xfrm>
          <a:off x="566928" y="3401568"/>
          <a:ext cx="6537960" cy="2487168"/>
        </p:xfrm>
        <a:graphic xmlns:a="http://schemas.openxmlformats.org/drawingml/2006/main">
          <a:graphicData uri="http://schemas.openxmlformats.org/drawingml/2006/chart">
            <c:chart xmlns:c="http://schemas.openxmlformats.org/drawingml/2006/chart" r:id="rId1"/>
          </a:graphicData>
        </a:graphic>
      </p:graphicFrame>
      <p:sp>
        <p:nvSpPr>
          <p:cNvPr id="17" name="Shape 14"/>
          <p:cNvSpPr/>
          <p:nvPr/>
        </p:nvSpPr>
        <p:spPr>
          <a:xfrm>
            <a:off x="7315200" y="3401568"/>
            <a:ext cx="4315968" cy="2487168"/>
          </a:xfrm>
          <a:prstGeom prst="roundRect">
            <a:avLst>
              <a:gd name="adj" fmla="val 3676"/>
            </a:avLst>
          </a:prstGeom>
          <a:solidFill>
            <a:srgbClr val="FFFFFF"/>
          </a:solidFill>
          <a:ln w="12700">
            <a:solidFill>
              <a:srgbClr val="E3E8F2"/>
            </a:solidFill>
            <a:prstDash val="solid"/>
          </a:ln>
          <a:effectLst>
            <a:outerShdw sx="100000" sy="100000" kx="0" ky="0" algn="bl" rotWithShape="0" blurRad="127000" dist="25400" dir="5400000">
              <a:srgbClr val="0B1020">
                <a:alpha val="7000"/>
              </a:srgbClr>
            </a:outerShdw>
          </a:effectLst>
        </p:spPr>
      </p:sp>
      <p:sp>
        <p:nvSpPr>
          <p:cNvPr id="18" name="Text 15"/>
          <p:cNvSpPr txBox="1"/>
          <p:nvPr/>
        </p:nvSpPr>
        <p:spPr>
          <a:xfrm>
            <a:off x="7644384" y="3602736"/>
            <a:ext cx="3657600" cy="320040"/>
          </a:xfrm>
          <a:prstGeom prst="rect">
            <a:avLst/>
          </a:prstGeom>
          <a:noFill/>
          <a:ln/>
        </p:spPr>
        <p:txBody>
          <a:bodyPr wrap="square" lIns="0" tIns="0" rIns="0" bIns="0" rtlCol="0" anchor="ctr"/>
          <a:lstStyle/>
          <a:p>
            <a:pPr indent="0" marL="0">
              <a:buNone/>
            </a:pPr>
            <a:r>
              <a:rPr lang="en-US" sz="1600" b="1" dirty="0">
                <a:solidFill>
                  <a:srgbClr val="141A2E"/>
                </a:solidFill>
                <a:latin typeface="Cambria" pitchFamily="34" charset="0"/>
                <a:ea typeface="Cambria" pitchFamily="34" charset="-122"/>
                <a:cs typeface="Cambria" pitchFamily="34" charset="-120"/>
              </a:rPr>
              <a:t>What “proven” means here</a:t>
            </a:r>
            <a:endParaRPr lang="en-US" sz="1600" dirty="0"/>
          </a:p>
        </p:txBody>
      </p:sp>
      <p:sp>
        <p:nvSpPr>
          <p:cNvPr id="19" name="Text 16"/>
          <p:cNvSpPr txBox="1"/>
          <p:nvPr/>
        </p:nvSpPr>
        <p:spPr>
          <a:xfrm>
            <a:off x="7644384" y="4005072"/>
            <a:ext cx="3657600" cy="1737360"/>
          </a:xfrm>
          <a:prstGeom prst="rect">
            <a:avLst/>
          </a:prstGeom>
          <a:noFill/>
          <a:ln/>
        </p:spPr>
        <p:txBody>
          <a:bodyPr wrap="square" lIns="0" tIns="0" rIns="0" bIns="0" rtlCol="0" anchor="ctr"/>
          <a:lstStyle/>
          <a:p>
            <a:pPr marL="342900" indent="-342900">
              <a:lnSpc>
                <a:spcPts val="1600"/>
              </a:lnSpc>
              <a:spcAft>
                <a:spcPts val="700"/>
              </a:spcAft>
              <a:buSzPct val="100000"/>
              <a:buChar char="•"/>
            </a:pPr>
            <a:r>
              <a:rPr lang="en-US" sz="1150" dirty="0">
                <a:solidFill>
                  <a:srgbClr val="4F566B"/>
                </a:solidFill>
                <a:latin typeface="Calibri" pitchFamily="34" charset="0"/>
                <a:ea typeface="Calibri" pitchFamily="34" charset="-122"/>
                <a:cs typeface="Calibri" pitchFamily="34" charset="-120"/>
              </a:rPr>
              <a:t>Test expectations are generated from the reference engine, not hand-written to match.</a:t>
            </a:r>
            <a:endParaRPr lang="en-US" sz="1150" dirty="0"/>
          </a:p>
          <a:p>
            <a:pPr marL="342900" indent="-342900">
              <a:lnSpc>
                <a:spcPts val="1600"/>
              </a:lnSpc>
              <a:spcAft>
                <a:spcPts val="700"/>
              </a:spcAft>
              <a:buSzPct val="100000"/>
              <a:buChar char="•"/>
            </a:pPr>
            <a:r>
              <a:rPr lang="en-US" sz="1150" dirty="0">
                <a:solidFill>
                  <a:srgbClr val="4F566B"/>
                </a:solidFill>
                <a:latin typeface="Calibri" pitchFamily="34" charset="0"/>
                <a:ea typeface="Calibri" pitchFamily="34" charset="-122"/>
                <a:cs typeface="Calibri" pitchFamily="34" charset="-120"/>
              </a:rPr>
              <a:t>Every capability claim cites a file and line that the build re-resolves.</a:t>
            </a:r>
            <a:endParaRPr lang="en-US" sz="1150" dirty="0"/>
          </a:p>
          <a:p>
            <a:pPr marL="342900" indent="-342900">
              <a:lnSpc>
                <a:spcPts val="1600"/>
              </a:lnSpc>
              <a:spcAft>
                <a:spcPts val="700"/>
              </a:spcAft>
              <a:buSzPct val="100000"/>
              <a:buChar char="•"/>
            </a:pPr>
            <a:r>
              <a:rPr lang="en-US" sz="1150" dirty="0">
                <a:solidFill>
                  <a:srgbClr val="4F566B"/>
                </a:solidFill>
                <a:latin typeface="Calibri" pitchFamily="34" charset="0"/>
                <a:ea typeface="Calibri" pitchFamily="34" charset="-122"/>
                <a:cs typeface="Calibri" pitchFamily="34" charset="-120"/>
              </a:rPr>
              <a:t>A fix is checked by breaking it again and confirming a named test fails.</a:t>
            </a:r>
            <a:endParaRPr lang="en-US" sz="1150" dirty="0"/>
          </a:p>
          <a:p>
            <a:pPr marL="342900" indent="-342900">
              <a:lnSpc>
                <a:spcPts val="1600"/>
              </a:lnSpc>
              <a:spcAft>
                <a:spcPts val="700"/>
              </a:spcAft>
              <a:buSzPct val="100000"/>
              <a:buChar char="•"/>
            </a:pPr>
            <a:r>
              <a:rPr lang="en-US" sz="1150" dirty="0">
                <a:solidFill>
                  <a:srgbClr val="4F566B"/>
                </a:solidFill>
                <a:latin typeface="Calibri" pitchFamily="34" charset="0"/>
                <a:ea typeface="Calibri" pitchFamily="34" charset="-122"/>
                <a:cs typeface="Calibri" pitchFamily="34" charset="-120"/>
              </a:rPr>
              <a:t>The report is committed and regenerable: one command, same numbers.</a:t>
            </a:r>
            <a:endParaRPr lang="en-US" sz="1150" dirty="0"/>
          </a:p>
        </p:txBody>
      </p:sp>
      <p:sp>
        <p:nvSpPr>
          <p:cNvPr id="21" name="Text 17"/>
          <p:cNvSpPr txBox="1"/>
          <p:nvPr/>
        </p:nvSpPr>
        <p:spPr>
          <a:xfrm>
            <a:off x="566928" y="6291072"/>
            <a:ext cx="2743200" cy="256032"/>
          </a:xfrm>
          <a:prstGeom prst="rect">
            <a:avLst/>
          </a:prstGeom>
          <a:noFill/>
          <a:ln/>
        </p:spPr>
        <p:txBody>
          <a:bodyPr wrap="square" lIns="0" tIns="0" rIns="0" bIns="0" rtlCol="0" anchor="ctr"/>
          <a:lstStyle/>
          <a:p>
            <a:pPr indent="0" marL="0">
              <a:buNone/>
            </a:pPr>
            <a:r>
              <a:rPr lang="en-US" sz="900" dirty="0">
                <a:solidFill>
                  <a:srgbClr val="9AA3BC"/>
                </a:solidFill>
                <a:latin typeface="Calibri" pitchFamily="34" charset="0"/>
                <a:ea typeface="Calibri" pitchFamily="34" charset="-122"/>
                <a:cs typeface="Calibri" pitchFamily="34" charset="-120"/>
              </a:rPr>
              <a:t>RuleMind AI</a:t>
            </a:r>
            <a:endParaRPr lang="en-US" sz="900" dirty="0"/>
          </a:p>
        </p:txBody>
      </p:sp>
      <p:sp>
        <p:nvSpPr>
          <p:cNvPr id="22" name="Text 18"/>
          <p:cNvSpPr txBox="1"/>
          <p:nvPr/>
        </p:nvSpPr>
        <p:spPr>
          <a:xfrm>
            <a:off x="10710367" y="6291072"/>
            <a:ext cx="914400" cy="256032"/>
          </a:xfrm>
          <a:prstGeom prst="rect">
            <a:avLst/>
          </a:prstGeom>
          <a:noFill/>
          <a:ln/>
        </p:spPr>
        <p:txBody>
          <a:bodyPr wrap="square" lIns="0" tIns="0" rIns="0" bIns="0" rtlCol="0" anchor="ctr"/>
          <a:lstStyle/>
          <a:p>
            <a:pPr algn="r" indent="0" marL="0">
              <a:buNone/>
            </a:pPr>
            <a:r>
              <a:rPr lang="en-US" sz="900" dirty="0">
                <a:solidFill>
                  <a:srgbClr val="9AA3B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66928" y="420624"/>
            <a:ext cx="10515600" cy="274320"/>
          </a:xfrm>
          <a:prstGeom prst="rect">
            <a:avLst/>
          </a:prstGeom>
          <a:noFill/>
          <a:ln/>
        </p:spPr>
        <p:txBody>
          <a:bodyPr wrap="square" lIns="0" tIns="0" rIns="0" bIns="0" rtlCol="0" anchor="ctr"/>
          <a:lstStyle/>
          <a:p>
            <a:pPr indent="0" marL="0">
              <a:buNone/>
            </a:pPr>
            <a:r>
              <a:rPr lang="en-US" sz="1200" b="1" spc="220" kern="0" dirty="0">
                <a:solidFill>
                  <a:srgbClr val="635BFF"/>
                </a:solidFill>
                <a:latin typeface="Calibri" pitchFamily="34" charset="0"/>
                <a:ea typeface="Calibri" pitchFamily="34" charset="-122"/>
                <a:cs typeface="Calibri" pitchFamily="34" charset="-120"/>
              </a:rPr>
              <a:t>MEASURED</a:t>
            </a:r>
            <a:endParaRPr lang="en-US" sz="1200" dirty="0"/>
          </a:p>
        </p:txBody>
      </p:sp>
      <p:sp>
        <p:nvSpPr>
          <p:cNvPr id="3" name="Text 1"/>
          <p:cNvSpPr txBox="1"/>
          <p:nvPr/>
        </p:nvSpPr>
        <p:spPr>
          <a:xfrm>
            <a:off x="566928" y="731520"/>
            <a:ext cx="10881360" cy="822960"/>
          </a:xfrm>
          <a:prstGeom prst="rect">
            <a:avLst/>
          </a:prstGeom>
          <a:noFill/>
          <a:ln/>
        </p:spPr>
        <p:txBody>
          <a:bodyPr wrap="square" lIns="0" tIns="0" rIns="0" bIns="0" rtlCol="0" anchor="ctr"/>
          <a:lstStyle/>
          <a:p>
            <a:pPr indent="0" marL="0">
              <a:buNone/>
            </a:pPr>
            <a:r>
              <a:rPr lang="en-US" sz="3400" b="1" dirty="0">
                <a:solidFill>
                  <a:srgbClr val="141A2E"/>
                </a:solidFill>
                <a:latin typeface="Cambria" pitchFamily="34" charset="0"/>
                <a:ea typeface="Cambria" pitchFamily="34" charset="-122"/>
                <a:cs typeface="Cambria" pitchFamily="34" charset="-120"/>
              </a:rPr>
              <a:t>Fast, and small enough to run anywhere</a:t>
            </a:r>
            <a:endParaRPr lang="en-US" sz="3400" dirty="0"/>
          </a:p>
        </p:txBody>
      </p:sp>
      <p:graphicFrame>
        <p:nvGraphicFramePr>
          <p:cNvPr id="4" name="Chart 0" descr=""/>
          <p:cNvGraphicFramePr/>
          <p:nvPr/>
        </p:nvGraphicFramePr>
        <p:xfrm>
          <a:off x="566928" y="1828800"/>
          <a:ext cx="5486400" cy="27432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446520" y="1828800"/>
            <a:ext cx="5184648" cy="822960"/>
          </a:xfrm>
          <a:prstGeom prst="roundRect">
            <a:avLst>
              <a:gd name="adj" fmla="val 11111"/>
            </a:avLst>
          </a:prstGeom>
          <a:solidFill>
            <a:srgbClr val="FFFFFF"/>
          </a:solidFill>
          <a:ln w="12700">
            <a:solidFill>
              <a:srgbClr val="E3E8F2"/>
            </a:solidFill>
            <a:prstDash val="solid"/>
          </a:ln>
          <a:effectLst>
            <a:outerShdw sx="100000" sy="100000" kx="0" ky="0" algn="bl" rotWithShape="0" blurRad="127000" dist="25400" dir="5400000">
              <a:srgbClr val="0B1020">
                <a:alpha val="7000"/>
              </a:srgbClr>
            </a:outerShdw>
          </a:effectLst>
        </p:spPr>
      </p:sp>
      <p:sp>
        <p:nvSpPr>
          <p:cNvPr id="6" name="Text 3"/>
          <p:cNvSpPr txBox="1"/>
          <p:nvPr/>
        </p:nvSpPr>
        <p:spPr>
          <a:xfrm>
            <a:off x="6784848" y="1901952"/>
            <a:ext cx="1737360" cy="502920"/>
          </a:xfrm>
          <a:prstGeom prst="rect">
            <a:avLst/>
          </a:prstGeom>
          <a:noFill/>
          <a:ln/>
        </p:spPr>
        <p:txBody>
          <a:bodyPr wrap="square" lIns="0" tIns="0" rIns="0" bIns="0" rtlCol="0" anchor="ctr"/>
          <a:lstStyle/>
          <a:p>
            <a:pPr indent="0" marL="0">
              <a:buNone/>
            </a:pPr>
            <a:r>
              <a:rPr lang="en-US" sz="2300" b="1" dirty="0">
                <a:solidFill>
                  <a:srgbClr val="635BFF"/>
                </a:solidFill>
                <a:latin typeface="Calibri" pitchFamily="34" charset="0"/>
                <a:ea typeface="Calibri" pitchFamily="34" charset="-122"/>
                <a:cs typeface="Calibri" pitchFamily="34" charset="-120"/>
              </a:rPr>
              <a:t>19.78 ms</a:t>
            </a:r>
            <a:endParaRPr lang="en-US" sz="2300" dirty="0"/>
          </a:p>
        </p:txBody>
      </p:sp>
      <p:sp>
        <p:nvSpPr>
          <p:cNvPr id="7" name="Text 4"/>
          <p:cNvSpPr txBox="1"/>
          <p:nvPr/>
        </p:nvSpPr>
        <p:spPr>
          <a:xfrm>
            <a:off x="8549640" y="1901952"/>
            <a:ext cx="2926080" cy="685800"/>
          </a:xfrm>
          <a:prstGeom prst="rect">
            <a:avLst/>
          </a:prstGeom>
          <a:noFill/>
          <a:ln/>
        </p:spPr>
        <p:txBody>
          <a:bodyPr wrap="square" lIns="0" tIns="0" rIns="0" bIns="0" rtlCol="0" anchor="ctr"/>
          <a:lstStyle/>
          <a:p>
            <a:pPr indent="0" marL="0">
              <a:lnSpc>
                <a:spcPts val="1600"/>
              </a:lnSpc>
              <a:buNone/>
            </a:pPr>
            <a:r>
              <a:rPr lang="en-US" sz="1150" dirty="0">
                <a:solidFill>
                  <a:srgbClr val="4F566B"/>
                </a:solidFill>
                <a:latin typeface="Calibri" pitchFamily="34" charset="0"/>
                <a:ea typeface="Calibri" pitchFamily="34" charset="-122"/>
                <a:cs typeface="Calibri" pitchFamily="34" charset="-120"/>
              </a:rPr>
              <a:t>median decision, end to end over HTTP</a:t>
            </a:r>
            <a:endParaRPr lang="en-US" sz="1150" dirty="0"/>
          </a:p>
        </p:txBody>
      </p:sp>
      <p:sp>
        <p:nvSpPr>
          <p:cNvPr id="8" name="Shape 5"/>
          <p:cNvSpPr/>
          <p:nvPr/>
        </p:nvSpPr>
        <p:spPr>
          <a:xfrm>
            <a:off x="6446520" y="2779776"/>
            <a:ext cx="5184648" cy="822960"/>
          </a:xfrm>
          <a:prstGeom prst="roundRect">
            <a:avLst>
              <a:gd name="adj" fmla="val 11111"/>
            </a:avLst>
          </a:prstGeom>
          <a:solidFill>
            <a:srgbClr val="FFFFFF"/>
          </a:solidFill>
          <a:ln w="12700">
            <a:solidFill>
              <a:srgbClr val="E3E8F2"/>
            </a:solidFill>
            <a:prstDash val="solid"/>
          </a:ln>
          <a:effectLst>
            <a:outerShdw sx="100000" sy="100000" kx="0" ky="0" algn="bl" rotWithShape="0" blurRad="127000" dist="25400" dir="5400000">
              <a:srgbClr val="0B1020">
                <a:alpha val="7000"/>
              </a:srgbClr>
            </a:outerShdw>
          </a:effectLst>
        </p:spPr>
      </p:sp>
      <p:sp>
        <p:nvSpPr>
          <p:cNvPr id="9" name="Text 6"/>
          <p:cNvSpPr txBox="1"/>
          <p:nvPr/>
        </p:nvSpPr>
        <p:spPr>
          <a:xfrm>
            <a:off x="6784848" y="2852928"/>
            <a:ext cx="1737360" cy="502920"/>
          </a:xfrm>
          <a:prstGeom prst="rect">
            <a:avLst/>
          </a:prstGeom>
          <a:noFill/>
          <a:ln/>
        </p:spPr>
        <p:txBody>
          <a:bodyPr wrap="square" lIns="0" tIns="0" rIns="0" bIns="0" rtlCol="0" anchor="ctr"/>
          <a:lstStyle/>
          <a:p>
            <a:pPr indent="0" marL="0">
              <a:buNone/>
            </a:pPr>
            <a:r>
              <a:rPr lang="en-US" sz="2300" b="1" dirty="0">
                <a:solidFill>
                  <a:srgbClr val="0E9F6E"/>
                </a:solidFill>
                <a:latin typeface="Calibri" pitchFamily="34" charset="0"/>
                <a:ea typeface="Calibri" pitchFamily="34" charset="-122"/>
                <a:cs typeface="Calibri" pitchFamily="34" charset="-120"/>
              </a:rPr>
              <a:t>232 MB</a:t>
            </a:r>
            <a:endParaRPr lang="en-US" sz="2300" dirty="0"/>
          </a:p>
        </p:txBody>
      </p:sp>
      <p:sp>
        <p:nvSpPr>
          <p:cNvPr id="10" name="Text 7"/>
          <p:cNvSpPr txBox="1"/>
          <p:nvPr/>
        </p:nvSpPr>
        <p:spPr>
          <a:xfrm>
            <a:off x="8549640" y="2852928"/>
            <a:ext cx="2926080" cy="685800"/>
          </a:xfrm>
          <a:prstGeom prst="rect">
            <a:avLst/>
          </a:prstGeom>
          <a:noFill/>
          <a:ln/>
        </p:spPr>
        <p:txBody>
          <a:bodyPr wrap="square" lIns="0" tIns="0" rIns="0" bIns="0" rtlCol="0" anchor="ctr"/>
          <a:lstStyle/>
          <a:p>
            <a:pPr indent="0" marL="0">
              <a:lnSpc>
                <a:spcPts val="1600"/>
              </a:lnSpc>
              <a:buNone/>
            </a:pPr>
            <a:r>
              <a:rPr lang="en-US" sz="1150" dirty="0">
                <a:solidFill>
                  <a:srgbClr val="4F566B"/>
                </a:solidFill>
                <a:latin typeface="Calibri" pitchFamily="34" charset="0"/>
                <a:ea typeface="Calibri" pitchFamily="34" charset="-122"/>
                <a:cs typeface="Calibri" pitchFamily="34" charset="-120"/>
              </a:rPr>
              <a:t>dashboard container, down from 2.54 GB</a:t>
            </a:r>
            <a:endParaRPr lang="en-US" sz="1150" dirty="0"/>
          </a:p>
        </p:txBody>
      </p:sp>
      <p:sp>
        <p:nvSpPr>
          <p:cNvPr id="11" name="Shape 8"/>
          <p:cNvSpPr/>
          <p:nvPr/>
        </p:nvSpPr>
        <p:spPr>
          <a:xfrm>
            <a:off x="6446520" y="3730752"/>
            <a:ext cx="5184648" cy="822960"/>
          </a:xfrm>
          <a:prstGeom prst="roundRect">
            <a:avLst>
              <a:gd name="adj" fmla="val 11111"/>
            </a:avLst>
          </a:prstGeom>
          <a:solidFill>
            <a:srgbClr val="FFFFFF"/>
          </a:solidFill>
          <a:ln w="12700">
            <a:solidFill>
              <a:srgbClr val="E3E8F2"/>
            </a:solidFill>
            <a:prstDash val="solid"/>
          </a:ln>
          <a:effectLst>
            <a:outerShdw sx="100000" sy="100000" kx="0" ky="0" algn="bl" rotWithShape="0" blurRad="127000" dist="25400" dir="5400000">
              <a:srgbClr val="0B1020">
                <a:alpha val="7000"/>
              </a:srgbClr>
            </a:outerShdw>
          </a:effectLst>
        </p:spPr>
      </p:sp>
      <p:sp>
        <p:nvSpPr>
          <p:cNvPr id="12" name="Text 9"/>
          <p:cNvSpPr txBox="1"/>
          <p:nvPr/>
        </p:nvSpPr>
        <p:spPr>
          <a:xfrm>
            <a:off x="6784848" y="3803904"/>
            <a:ext cx="1737360" cy="502920"/>
          </a:xfrm>
          <a:prstGeom prst="rect">
            <a:avLst/>
          </a:prstGeom>
          <a:noFill/>
          <a:ln/>
        </p:spPr>
        <p:txBody>
          <a:bodyPr wrap="square" lIns="0" tIns="0" rIns="0" bIns="0" rtlCol="0" anchor="ctr"/>
          <a:lstStyle/>
          <a:p>
            <a:pPr indent="0" marL="0">
              <a:buNone/>
            </a:pPr>
            <a:r>
              <a:rPr lang="en-US" sz="2300" b="1" dirty="0">
                <a:solidFill>
                  <a:srgbClr val="635BFF"/>
                </a:solidFill>
                <a:latin typeface="Calibri" pitchFamily="34" charset="0"/>
                <a:ea typeface="Calibri" pitchFamily="34" charset="-122"/>
                <a:cs typeface="Calibri" pitchFamily="34" charset="-120"/>
              </a:rPr>
              <a:t>388 MiB</a:t>
            </a:r>
            <a:endParaRPr lang="en-US" sz="2300" dirty="0"/>
          </a:p>
        </p:txBody>
      </p:sp>
      <p:sp>
        <p:nvSpPr>
          <p:cNvPr id="13" name="Text 10"/>
          <p:cNvSpPr txBox="1"/>
          <p:nvPr/>
        </p:nvSpPr>
        <p:spPr>
          <a:xfrm>
            <a:off x="8549640" y="3803904"/>
            <a:ext cx="2926080" cy="685800"/>
          </a:xfrm>
          <a:prstGeom prst="rect">
            <a:avLst/>
          </a:prstGeom>
          <a:noFill/>
          <a:ln/>
        </p:spPr>
        <p:txBody>
          <a:bodyPr wrap="square" lIns="0" tIns="0" rIns="0" bIns="0" rtlCol="0" anchor="ctr"/>
          <a:lstStyle/>
          <a:p>
            <a:pPr indent="0" marL="0">
              <a:lnSpc>
                <a:spcPts val="1600"/>
              </a:lnSpc>
              <a:buNone/>
            </a:pPr>
            <a:r>
              <a:rPr lang="en-US" sz="1150" dirty="0">
                <a:solidFill>
                  <a:srgbClr val="4F566B"/>
                </a:solidFill>
                <a:latin typeface="Calibri" pitchFamily="34" charset="0"/>
                <a:ea typeface="Calibri" pitchFamily="34" charset="-122"/>
                <a:cs typeface="Calibri" pitchFamily="34" charset="-120"/>
              </a:rPr>
              <a:t>API resident, two uvicorn workers</a:t>
            </a:r>
            <a:endParaRPr lang="en-US" sz="1150" dirty="0"/>
          </a:p>
        </p:txBody>
      </p:sp>
      <p:sp>
        <p:nvSpPr>
          <p:cNvPr id="14" name="Shape 11"/>
          <p:cNvSpPr/>
          <p:nvPr/>
        </p:nvSpPr>
        <p:spPr>
          <a:xfrm>
            <a:off x="6446520" y="4681728"/>
            <a:ext cx="5184648" cy="1115568"/>
          </a:xfrm>
          <a:prstGeom prst="roundRect">
            <a:avLst>
              <a:gd name="adj" fmla="val 8197"/>
            </a:avLst>
          </a:prstGeom>
          <a:solidFill>
            <a:srgbClr val="141A2E"/>
          </a:solidFill>
          <a:ln w="12700">
            <a:solidFill>
              <a:srgbClr val="141A2E"/>
            </a:solidFill>
            <a:prstDash val="solid"/>
          </a:ln>
          <a:effectLst>
            <a:outerShdw sx="100000" sy="100000" kx="0" ky="0" algn="bl" rotWithShape="0" blurRad="127000" dist="25400" dir="5400000">
              <a:srgbClr val="0B1020">
                <a:alpha val="7000"/>
              </a:srgbClr>
            </a:outerShdw>
          </a:effectLst>
        </p:spPr>
      </p:sp>
      <p:sp>
        <p:nvSpPr>
          <p:cNvPr id="15" name="Text 12"/>
          <p:cNvSpPr txBox="1"/>
          <p:nvPr/>
        </p:nvSpPr>
        <p:spPr>
          <a:xfrm>
            <a:off x="6784848" y="4828032"/>
            <a:ext cx="457200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The footprint is the deployment story</a:t>
            </a:r>
            <a:endParaRPr lang="en-US" sz="1250" dirty="0"/>
          </a:p>
        </p:txBody>
      </p:sp>
      <p:sp>
        <p:nvSpPr>
          <p:cNvPr id="16" name="Text 13"/>
          <p:cNvSpPr txBox="1"/>
          <p:nvPr/>
        </p:nvSpPr>
        <p:spPr>
          <a:xfrm>
            <a:off x="6784848" y="5120640"/>
            <a:ext cx="4572000" cy="548640"/>
          </a:xfrm>
          <a:prstGeom prst="rect">
            <a:avLst/>
          </a:prstGeom>
          <a:noFill/>
          <a:ln/>
        </p:spPr>
        <p:txBody>
          <a:bodyPr wrap="square" lIns="0" tIns="0" rIns="0" bIns="0" rtlCol="0" anchor="ctr"/>
          <a:lstStyle/>
          <a:p>
            <a:pPr indent="0" marL="0">
              <a:lnSpc>
                <a:spcPts val="1600"/>
              </a:lnSpc>
              <a:buNone/>
            </a:pPr>
            <a:r>
              <a:rPr lang="en-US" sz="1150" dirty="0">
                <a:solidFill>
                  <a:srgbClr val="9AA3BC"/>
                </a:solidFill>
                <a:latin typeface="Calibri" pitchFamily="34" charset="0"/>
                <a:ea typeface="Calibri" pitchFamily="34" charset="-122"/>
                <a:cs typeface="Calibri" pitchFamily="34" charset="-120"/>
              </a:rPr>
              <a:t>A 232 MB image runs on a laptop, a single VM, or three pods. You are not buying a cluster in order to run a pilot.</a:t>
            </a:r>
            <a:endParaRPr lang="en-US" sz="1150" dirty="0"/>
          </a:p>
        </p:txBody>
      </p:sp>
      <p:sp>
        <p:nvSpPr>
          <p:cNvPr id="17" name="Text 14"/>
          <p:cNvSpPr txBox="1"/>
          <p:nvPr/>
        </p:nvSpPr>
        <p:spPr>
          <a:xfrm>
            <a:off x="566928" y="4846320"/>
            <a:ext cx="5486400" cy="731520"/>
          </a:xfrm>
          <a:prstGeom prst="rect">
            <a:avLst/>
          </a:prstGeom>
          <a:noFill/>
          <a:ln/>
        </p:spPr>
        <p:txBody>
          <a:bodyPr wrap="square" lIns="0" tIns="0" rIns="0" bIns="0" rtlCol="0" anchor="ctr"/>
          <a:lstStyle/>
          <a:p>
            <a:pPr indent="0" marL="0">
              <a:lnSpc>
                <a:spcPts val="1600"/>
              </a:lnSpc>
              <a:buNone/>
            </a:pPr>
            <a:r>
              <a:rPr lang="en-US" sz="1100" i="1" dirty="0">
                <a:solidFill>
                  <a:srgbClr val="4F566B"/>
                </a:solidFill>
                <a:latin typeface="Calibri" pitchFamily="34" charset="0"/>
                <a:ea typeface="Calibri" pitchFamily="34" charset="-122"/>
                <a:cs typeface="Calibri" pitchFamily="34" charset="-120"/>
              </a:rPr>
              <a:t>Measured on a developer laptop against the seeded demo tenant — a floor, not a ceiling. Your own numbers come from the same benchmark script, on your hardware.</a:t>
            </a:r>
            <a:endParaRPr lang="en-US" sz="1100" dirty="0"/>
          </a:p>
        </p:txBody>
      </p:sp>
      <p:sp>
        <p:nvSpPr>
          <p:cNvPr id="19" name="Text 15"/>
          <p:cNvSpPr txBox="1"/>
          <p:nvPr/>
        </p:nvSpPr>
        <p:spPr>
          <a:xfrm>
            <a:off x="566928" y="6291072"/>
            <a:ext cx="2743200" cy="256032"/>
          </a:xfrm>
          <a:prstGeom prst="rect">
            <a:avLst/>
          </a:prstGeom>
          <a:noFill/>
          <a:ln/>
        </p:spPr>
        <p:txBody>
          <a:bodyPr wrap="square" lIns="0" tIns="0" rIns="0" bIns="0" rtlCol="0" anchor="ctr"/>
          <a:lstStyle/>
          <a:p>
            <a:pPr indent="0" marL="0">
              <a:buNone/>
            </a:pPr>
            <a:r>
              <a:rPr lang="en-US" sz="900" dirty="0">
                <a:solidFill>
                  <a:srgbClr val="9AA3BC"/>
                </a:solidFill>
                <a:latin typeface="Calibri" pitchFamily="34" charset="0"/>
                <a:ea typeface="Calibri" pitchFamily="34" charset="-122"/>
                <a:cs typeface="Calibri" pitchFamily="34" charset="-120"/>
              </a:rPr>
              <a:t>RuleMind AI</a:t>
            </a:r>
            <a:endParaRPr lang="en-US" sz="900" dirty="0"/>
          </a:p>
        </p:txBody>
      </p:sp>
      <p:sp>
        <p:nvSpPr>
          <p:cNvPr id="20" name="Text 16"/>
          <p:cNvSpPr txBox="1"/>
          <p:nvPr/>
        </p:nvSpPr>
        <p:spPr>
          <a:xfrm>
            <a:off x="10710367" y="6291072"/>
            <a:ext cx="914400" cy="256032"/>
          </a:xfrm>
          <a:prstGeom prst="rect">
            <a:avLst/>
          </a:prstGeom>
          <a:noFill/>
          <a:ln/>
        </p:spPr>
        <p:txBody>
          <a:bodyPr wrap="square" lIns="0" tIns="0" rIns="0" bIns="0" rtlCol="0" anchor="ctr"/>
          <a:lstStyle/>
          <a:p>
            <a:pPr algn="r" indent="0" marL="0">
              <a:buNone/>
            </a:pPr>
            <a:r>
              <a:rPr lang="en-US" sz="900" dirty="0">
                <a:solidFill>
                  <a:srgbClr val="9AA3B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66928" y="420624"/>
            <a:ext cx="10515600" cy="274320"/>
          </a:xfrm>
          <a:prstGeom prst="rect">
            <a:avLst/>
          </a:prstGeom>
          <a:noFill/>
          <a:ln/>
        </p:spPr>
        <p:txBody>
          <a:bodyPr wrap="square" lIns="0" tIns="0" rIns="0" bIns="0" rtlCol="0" anchor="ctr"/>
          <a:lstStyle/>
          <a:p>
            <a:pPr indent="0" marL="0">
              <a:buNone/>
            </a:pPr>
            <a:r>
              <a:rPr lang="en-US" sz="1200" b="1" spc="220" kern="0" dirty="0">
                <a:solidFill>
                  <a:srgbClr val="635BFF"/>
                </a:solidFill>
                <a:latin typeface="Calibri" pitchFamily="34" charset="0"/>
                <a:ea typeface="Calibri" pitchFamily="34" charset="-122"/>
                <a:cs typeface="Calibri" pitchFamily="34" charset="-120"/>
              </a:rPr>
              <a:t>GOVERNANCE</a:t>
            </a:r>
            <a:endParaRPr lang="en-US" sz="1200" dirty="0"/>
          </a:p>
        </p:txBody>
      </p:sp>
      <p:sp>
        <p:nvSpPr>
          <p:cNvPr id="3" name="Text 1"/>
          <p:cNvSpPr txBox="1"/>
          <p:nvPr/>
        </p:nvSpPr>
        <p:spPr>
          <a:xfrm>
            <a:off x="566928" y="731520"/>
            <a:ext cx="10881360" cy="822960"/>
          </a:xfrm>
          <a:prstGeom prst="rect">
            <a:avLst/>
          </a:prstGeom>
          <a:noFill/>
          <a:ln/>
        </p:spPr>
        <p:txBody>
          <a:bodyPr wrap="square" lIns="0" tIns="0" rIns="0" bIns="0" rtlCol="0" anchor="ctr"/>
          <a:lstStyle/>
          <a:p>
            <a:pPr indent="0" marL="0">
              <a:buNone/>
            </a:pPr>
            <a:r>
              <a:rPr lang="en-US" sz="3400" b="1" dirty="0">
                <a:solidFill>
                  <a:srgbClr val="141A2E"/>
                </a:solidFill>
                <a:latin typeface="Cambria" pitchFamily="34" charset="0"/>
                <a:ea typeface="Cambria" pitchFamily="34" charset="-122"/>
                <a:cs typeface="Cambria" pitchFamily="34" charset="-120"/>
              </a:rPr>
              <a:t>Built for the conversation after the decision</a:t>
            </a:r>
            <a:endParaRPr lang="en-US" sz="3400" dirty="0"/>
          </a:p>
        </p:txBody>
      </p:sp>
      <p:sp>
        <p:nvSpPr>
          <p:cNvPr id="4" name="Shape 2"/>
          <p:cNvSpPr/>
          <p:nvPr/>
        </p:nvSpPr>
        <p:spPr>
          <a:xfrm>
            <a:off x="566928" y="1755648"/>
            <a:ext cx="10863072" cy="914400"/>
          </a:xfrm>
          <a:prstGeom prst="roundRect">
            <a:avLst>
              <a:gd name="adj" fmla="val 10000"/>
            </a:avLst>
          </a:prstGeom>
          <a:solidFill>
            <a:srgbClr val="FFFFFF"/>
          </a:solidFill>
          <a:ln w="12700">
            <a:solidFill>
              <a:srgbClr val="E3E8F2"/>
            </a:solidFill>
            <a:prstDash val="solid"/>
          </a:ln>
          <a:effectLst>
            <a:outerShdw sx="100000" sy="100000" kx="0" ky="0" algn="bl" rotWithShape="0" blurRad="127000" dist="25400" dir="5400000">
              <a:srgbClr val="0B1020">
                <a:alpha val="7000"/>
              </a:srgbClr>
            </a:outerShdw>
          </a:effectLst>
        </p:spPr>
      </p:sp>
      <p:sp>
        <p:nvSpPr>
          <p:cNvPr id="5" name="Shape 3"/>
          <p:cNvSpPr/>
          <p:nvPr/>
        </p:nvSpPr>
        <p:spPr>
          <a:xfrm>
            <a:off x="859536" y="2002536"/>
            <a:ext cx="438912" cy="438912"/>
          </a:xfrm>
          <a:prstGeom prst="ellipse">
            <a:avLst/>
          </a:prstGeom>
          <a:solidFill>
            <a:srgbClr val="635BFF"/>
          </a:solidFill>
          <a:ln w="12700">
            <a:solidFill>
              <a:srgbClr val="635BFF"/>
            </a:solidFill>
            <a:prstDash val="solid"/>
          </a:ln>
        </p:spPr>
      </p:sp>
      <p:pic>
        <p:nvPicPr>
          <p:cNvPr id="6" name="Image 0" descr="preencoded.png">    </p:cNvPr>
          <p:cNvPicPr>
            <a:picLocks noChangeAspect="1"/>
          </p:cNvPicPr>
          <p:nvPr/>
        </p:nvPicPr>
        <p:blipFill>
          <a:blip r:embed="rId1"/>
          <a:stretch>
            <a:fillRect/>
          </a:stretch>
        </p:blipFill>
        <p:spPr>
          <a:xfrm>
            <a:off x="969264" y="2112264"/>
            <a:ext cx="219456" cy="219456"/>
          </a:xfrm>
          <a:prstGeom prst="rect">
            <a:avLst/>
          </a:prstGeom>
        </p:spPr>
      </p:pic>
      <p:sp>
        <p:nvSpPr>
          <p:cNvPr id="7" name="Text 4"/>
          <p:cNvSpPr txBox="1"/>
          <p:nvPr/>
        </p:nvSpPr>
        <p:spPr>
          <a:xfrm>
            <a:off x="1435608" y="1874520"/>
            <a:ext cx="3200400" cy="685800"/>
          </a:xfrm>
          <a:prstGeom prst="rect">
            <a:avLst/>
          </a:prstGeom>
          <a:noFill/>
          <a:ln/>
        </p:spPr>
        <p:txBody>
          <a:bodyPr wrap="square" lIns="0" tIns="0" rIns="0" bIns="0" rtlCol="0" anchor="ctr"/>
          <a:lstStyle/>
          <a:p>
            <a:pPr indent="0" marL="0">
              <a:lnSpc>
                <a:spcPts val="1900"/>
              </a:lnSpc>
              <a:buNone/>
            </a:pPr>
            <a:r>
              <a:rPr lang="en-US" sz="1500" b="1" dirty="0">
                <a:solidFill>
                  <a:srgbClr val="141A2E"/>
                </a:solidFill>
                <a:latin typeface="Cambria" pitchFamily="34" charset="0"/>
                <a:ea typeface="Cambria" pitchFamily="34" charset="-122"/>
                <a:cs typeface="Cambria" pitchFamily="34" charset="-120"/>
              </a:rPr>
              <a:t>Tamper-evident audit chain</a:t>
            </a:r>
            <a:endParaRPr lang="en-US" sz="1500" dirty="0"/>
          </a:p>
        </p:txBody>
      </p:sp>
      <p:sp>
        <p:nvSpPr>
          <p:cNvPr id="8" name="Text 5"/>
          <p:cNvSpPr txBox="1"/>
          <p:nvPr/>
        </p:nvSpPr>
        <p:spPr>
          <a:xfrm>
            <a:off x="4727448" y="1847088"/>
            <a:ext cx="6400800" cy="749808"/>
          </a:xfrm>
          <a:prstGeom prst="rect">
            <a:avLst/>
          </a:prstGeom>
          <a:noFill/>
          <a:ln/>
        </p:spPr>
        <p:txBody>
          <a:bodyPr wrap="square" lIns="0" tIns="0" rIns="0" bIns="0" rtlCol="0" anchor="ctr"/>
          <a:lstStyle/>
          <a:p>
            <a:pPr indent="0" marL="0">
              <a:lnSpc>
                <a:spcPts val="1500"/>
              </a:lnSpc>
              <a:buNone/>
            </a:pPr>
            <a:r>
              <a:rPr lang="en-US" sz="1100" dirty="0">
                <a:solidFill>
                  <a:srgbClr val="4F566B"/>
                </a:solidFill>
                <a:latin typeface="Calibri" pitchFamily="34" charset="0"/>
                <a:ea typeface="Calibri" pitchFamily="34" charset="-122"/>
                <a:cs typeface="Calibri" pitchFamily="34" charset="-120"/>
              </a:rPr>
              <a:t>Each audit record is hash-chained to the one before it, so a silent edit does not verify. We say tamper-evident, not immutable — an operator with database write access could recompute the chain. Detection, honestly described.</a:t>
            </a:r>
            <a:endParaRPr lang="en-US" sz="1100" dirty="0"/>
          </a:p>
        </p:txBody>
      </p:sp>
      <p:sp>
        <p:nvSpPr>
          <p:cNvPr id="9" name="Shape 6"/>
          <p:cNvSpPr/>
          <p:nvPr/>
        </p:nvSpPr>
        <p:spPr>
          <a:xfrm>
            <a:off x="566928" y="2779776"/>
            <a:ext cx="10863072" cy="914400"/>
          </a:xfrm>
          <a:prstGeom prst="roundRect">
            <a:avLst>
              <a:gd name="adj" fmla="val 10000"/>
            </a:avLst>
          </a:prstGeom>
          <a:solidFill>
            <a:srgbClr val="FFFFFF"/>
          </a:solidFill>
          <a:ln w="12700">
            <a:solidFill>
              <a:srgbClr val="E3E8F2"/>
            </a:solidFill>
            <a:prstDash val="solid"/>
          </a:ln>
          <a:effectLst>
            <a:outerShdw sx="100000" sy="100000" kx="0" ky="0" algn="bl" rotWithShape="0" blurRad="127000" dist="25400" dir="5400000">
              <a:srgbClr val="0B1020">
                <a:alpha val="7000"/>
              </a:srgbClr>
            </a:outerShdw>
          </a:effectLst>
        </p:spPr>
      </p:sp>
      <p:sp>
        <p:nvSpPr>
          <p:cNvPr id="10" name="Shape 7"/>
          <p:cNvSpPr/>
          <p:nvPr/>
        </p:nvSpPr>
        <p:spPr>
          <a:xfrm>
            <a:off x="859536" y="3026664"/>
            <a:ext cx="438912" cy="438912"/>
          </a:xfrm>
          <a:prstGeom prst="ellipse">
            <a:avLst/>
          </a:prstGeom>
          <a:solidFill>
            <a:srgbClr val="635BFF"/>
          </a:solidFill>
          <a:ln w="12700">
            <a:solidFill>
              <a:srgbClr val="635BFF"/>
            </a:solidFill>
            <a:prstDash val="solid"/>
          </a:ln>
        </p:spPr>
      </p:sp>
      <p:pic>
        <p:nvPicPr>
          <p:cNvPr id="11" name="Image 1" descr="preencoded.png">    </p:cNvPr>
          <p:cNvPicPr>
            <a:picLocks noChangeAspect="1"/>
          </p:cNvPicPr>
          <p:nvPr/>
        </p:nvPicPr>
        <p:blipFill>
          <a:blip r:embed="rId2"/>
          <a:stretch>
            <a:fillRect/>
          </a:stretch>
        </p:blipFill>
        <p:spPr>
          <a:xfrm>
            <a:off x="969264" y="3136392"/>
            <a:ext cx="219456" cy="219456"/>
          </a:xfrm>
          <a:prstGeom prst="rect">
            <a:avLst/>
          </a:prstGeom>
        </p:spPr>
      </p:pic>
      <p:sp>
        <p:nvSpPr>
          <p:cNvPr id="12" name="Text 8"/>
          <p:cNvSpPr txBox="1"/>
          <p:nvPr/>
        </p:nvSpPr>
        <p:spPr>
          <a:xfrm>
            <a:off x="1435608" y="2898648"/>
            <a:ext cx="3200400" cy="685800"/>
          </a:xfrm>
          <a:prstGeom prst="rect">
            <a:avLst/>
          </a:prstGeom>
          <a:noFill/>
          <a:ln/>
        </p:spPr>
        <p:txBody>
          <a:bodyPr wrap="square" lIns="0" tIns="0" rIns="0" bIns="0" rtlCol="0" anchor="ctr"/>
          <a:lstStyle/>
          <a:p>
            <a:pPr indent="0" marL="0">
              <a:lnSpc>
                <a:spcPts val="1900"/>
              </a:lnSpc>
              <a:buNone/>
            </a:pPr>
            <a:r>
              <a:rPr lang="en-US" sz="1500" b="1" dirty="0">
                <a:solidFill>
                  <a:srgbClr val="141A2E"/>
                </a:solidFill>
                <a:latin typeface="Cambria" pitchFamily="34" charset="0"/>
                <a:ea typeface="Cambria" pitchFamily="34" charset="-122"/>
                <a:cs typeface="Cambria" pitchFamily="34" charset="-120"/>
              </a:rPr>
              <a:t>Five roles, checked per endpoint</a:t>
            </a:r>
            <a:endParaRPr lang="en-US" sz="1500" dirty="0"/>
          </a:p>
        </p:txBody>
      </p:sp>
      <p:sp>
        <p:nvSpPr>
          <p:cNvPr id="13" name="Text 9"/>
          <p:cNvSpPr txBox="1"/>
          <p:nvPr/>
        </p:nvSpPr>
        <p:spPr>
          <a:xfrm>
            <a:off x="4727448" y="2871216"/>
            <a:ext cx="6400800" cy="749808"/>
          </a:xfrm>
          <a:prstGeom prst="rect">
            <a:avLst/>
          </a:prstGeom>
          <a:noFill/>
          <a:ln/>
        </p:spPr>
        <p:txBody>
          <a:bodyPr wrap="square" lIns="0" tIns="0" rIns="0" bIns="0" rtlCol="0" anchor="ctr"/>
          <a:lstStyle/>
          <a:p>
            <a:pPr indent="0" marL="0">
              <a:lnSpc>
                <a:spcPts val="1500"/>
              </a:lnSpc>
              <a:buNone/>
            </a:pPr>
            <a:r>
              <a:rPr lang="en-US" sz="1100" dirty="0">
                <a:solidFill>
                  <a:srgbClr val="4F566B"/>
                </a:solidFill>
                <a:latin typeface="Calibri" pitchFamily="34" charset="0"/>
                <a:ea typeface="Calibri" pitchFamily="34" charset="-122"/>
                <a:cs typeface="Calibri" pitchFamily="34" charset="-120"/>
              </a:rPr>
              <a:t>Owner, admin, policy_maker, reviewer and viewer — enforced at the API by capability, not hidden in the UI, and tested as a matrix rather than a single happy path.</a:t>
            </a:r>
            <a:endParaRPr lang="en-US" sz="1100" dirty="0"/>
          </a:p>
        </p:txBody>
      </p:sp>
      <p:sp>
        <p:nvSpPr>
          <p:cNvPr id="14" name="Shape 10"/>
          <p:cNvSpPr/>
          <p:nvPr/>
        </p:nvSpPr>
        <p:spPr>
          <a:xfrm>
            <a:off x="566928" y="3803904"/>
            <a:ext cx="10863072" cy="914400"/>
          </a:xfrm>
          <a:prstGeom prst="roundRect">
            <a:avLst>
              <a:gd name="adj" fmla="val 10000"/>
            </a:avLst>
          </a:prstGeom>
          <a:solidFill>
            <a:srgbClr val="FFFFFF"/>
          </a:solidFill>
          <a:ln w="12700">
            <a:solidFill>
              <a:srgbClr val="E3E8F2"/>
            </a:solidFill>
            <a:prstDash val="solid"/>
          </a:ln>
          <a:effectLst>
            <a:outerShdw sx="100000" sy="100000" kx="0" ky="0" algn="bl" rotWithShape="0" blurRad="127000" dist="25400" dir="5400000">
              <a:srgbClr val="0B1020">
                <a:alpha val="7000"/>
              </a:srgbClr>
            </a:outerShdw>
          </a:effectLst>
        </p:spPr>
      </p:sp>
      <p:sp>
        <p:nvSpPr>
          <p:cNvPr id="15" name="Shape 11"/>
          <p:cNvSpPr/>
          <p:nvPr/>
        </p:nvSpPr>
        <p:spPr>
          <a:xfrm>
            <a:off x="859536" y="4050792"/>
            <a:ext cx="438912" cy="438912"/>
          </a:xfrm>
          <a:prstGeom prst="ellipse">
            <a:avLst/>
          </a:prstGeom>
          <a:solidFill>
            <a:srgbClr val="635BFF"/>
          </a:solidFill>
          <a:ln w="12700">
            <a:solidFill>
              <a:srgbClr val="635BFF"/>
            </a:solidFill>
            <a:prstDash val="solid"/>
          </a:ln>
        </p:spPr>
      </p:sp>
      <p:pic>
        <p:nvPicPr>
          <p:cNvPr id="16" name="Image 2" descr="preencoded.png">    </p:cNvPr>
          <p:cNvPicPr>
            <a:picLocks noChangeAspect="1"/>
          </p:cNvPicPr>
          <p:nvPr/>
        </p:nvPicPr>
        <p:blipFill>
          <a:blip r:embed="rId3"/>
          <a:stretch>
            <a:fillRect/>
          </a:stretch>
        </p:blipFill>
        <p:spPr>
          <a:xfrm>
            <a:off x="969264" y="4160520"/>
            <a:ext cx="219456" cy="219456"/>
          </a:xfrm>
          <a:prstGeom prst="rect">
            <a:avLst/>
          </a:prstGeom>
        </p:spPr>
      </p:pic>
      <p:sp>
        <p:nvSpPr>
          <p:cNvPr id="17" name="Text 12"/>
          <p:cNvSpPr txBox="1"/>
          <p:nvPr/>
        </p:nvSpPr>
        <p:spPr>
          <a:xfrm>
            <a:off x="1435608" y="3922776"/>
            <a:ext cx="3200400" cy="685800"/>
          </a:xfrm>
          <a:prstGeom prst="rect">
            <a:avLst/>
          </a:prstGeom>
          <a:noFill/>
          <a:ln/>
        </p:spPr>
        <p:txBody>
          <a:bodyPr wrap="square" lIns="0" tIns="0" rIns="0" bIns="0" rtlCol="0" anchor="ctr"/>
          <a:lstStyle/>
          <a:p>
            <a:pPr indent="0" marL="0">
              <a:lnSpc>
                <a:spcPts val="1900"/>
              </a:lnSpc>
              <a:buNone/>
            </a:pPr>
            <a:r>
              <a:rPr lang="en-US" sz="1500" b="1" dirty="0">
                <a:solidFill>
                  <a:srgbClr val="141A2E"/>
                </a:solidFill>
                <a:latin typeface="Cambria" pitchFamily="34" charset="0"/>
                <a:ea typeface="Cambria" pitchFamily="34" charset="-122"/>
                <a:cs typeface="Cambria" pitchFamily="34" charset="-120"/>
              </a:rPr>
              <a:t>Tenant isolation as a test, not a promise</a:t>
            </a:r>
            <a:endParaRPr lang="en-US" sz="1500" dirty="0"/>
          </a:p>
        </p:txBody>
      </p:sp>
      <p:sp>
        <p:nvSpPr>
          <p:cNvPr id="18" name="Text 13"/>
          <p:cNvSpPr txBox="1"/>
          <p:nvPr/>
        </p:nvSpPr>
        <p:spPr>
          <a:xfrm>
            <a:off x="4727448" y="3895344"/>
            <a:ext cx="6400800" cy="749808"/>
          </a:xfrm>
          <a:prstGeom prst="rect">
            <a:avLst/>
          </a:prstGeom>
          <a:noFill/>
          <a:ln/>
        </p:spPr>
        <p:txBody>
          <a:bodyPr wrap="square" lIns="0" tIns="0" rIns="0" bIns="0" rtlCol="0" anchor="ctr"/>
          <a:lstStyle/>
          <a:p>
            <a:pPr indent="0" marL="0">
              <a:lnSpc>
                <a:spcPts val="1500"/>
              </a:lnSpc>
              <a:buNone/>
            </a:pPr>
            <a:r>
              <a:rPr lang="en-US" sz="1100" dirty="0">
                <a:solidFill>
                  <a:srgbClr val="4F566B"/>
                </a:solidFill>
                <a:latin typeface="Calibri" pitchFamily="34" charset="0"/>
                <a:ea typeface="Calibri" pitchFamily="34" charset="-122"/>
                <a:cs typeface="Calibri" pitchFamily="34" charset="-120"/>
              </a:rPr>
              <a:t>Every stored object carries a tenant, and cross-tenant reads are a standing negative test on each capability — the case that must fail.</a:t>
            </a:r>
            <a:endParaRPr lang="en-US" sz="1100" dirty="0"/>
          </a:p>
        </p:txBody>
      </p:sp>
      <p:sp>
        <p:nvSpPr>
          <p:cNvPr id="19" name="Shape 14"/>
          <p:cNvSpPr/>
          <p:nvPr/>
        </p:nvSpPr>
        <p:spPr>
          <a:xfrm>
            <a:off x="566928" y="4828032"/>
            <a:ext cx="10863072" cy="914400"/>
          </a:xfrm>
          <a:prstGeom prst="roundRect">
            <a:avLst>
              <a:gd name="adj" fmla="val 10000"/>
            </a:avLst>
          </a:prstGeom>
          <a:solidFill>
            <a:srgbClr val="FFFFFF"/>
          </a:solidFill>
          <a:ln w="12700">
            <a:solidFill>
              <a:srgbClr val="E3E8F2"/>
            </a:solidFill>
            <a:prstDash val="solid"/>
          </a:ln>
          <a:effectLst>
            <a:outerShdw sx="100000" sy="100000" kx="0" ky="0" algn="bl" rotWithShape="0" blurRad="127000" dist="25400" dir="5400000">
              <a:srgbClr val="0B1020">
                <a:alpha val="7000"/>
              </a:srgbClr>
            </a:outerShdw>
          </a:effectLst>
        </p:spPr>
      </p:sp>
      <p:sp>
        <p:nvSpPr>
          <p:cNvPr id="20" name="Shape 15"/>
          <p:cNvSpPr/>
          <p:nvPr/>
        </p:nvSpPr>
        <p:spPr>
          <a:xfrm>
            <a:off x="859536" y="5074920"/>
            <a:ext cx="438912" cy="438912"/>
          </a:xfrm>
          <a:prstGeom prst="ellipse">
            <a:avLst/>
          </a:prstGeom>
          <a:solidFill>
            <a:srgbClr val="635BFF"/>
          </a:solidFill>
          <a:ln w="12700">
            <a:solidFill>
              <a:srgbClr val="635BFF"/>
            </a:solidFill>
            <a:prstDash val="solid"/>
          </a:ln>
        </p:spPr>
      </p:sp>
      <p:pic>
        <p:nvPicPr>
          <p:cNvPr id="21" name="Image 3" descr="preencoded.png">    </p:cNvPr>
          <p:cNvPicPr>
            <a:picLocks noChangeAspect="1"/>
          </p:cNvPicPr>
          <p:nvPr/>
        </p:nvPicPr>
        <p:blipFill>
          <a:blip r:embed="rId4"/>
          <a:stretch>
            <a:fillRect/>
          </a:stretch>
        </p:blipFill>
        <p:spPr>
          <a:xfrm>
            <a:off x="969264" y="5184648"/>
            <a:ext cx="219456" cy="219456"/>
          </a:xfrm>
          <a:prstGeom prst="rect">
            <a:avLst/>
          </a:prstGeom>
        </p:spPr>
      </p:pic>
      <p:sp>
        <p:nvSpPr>
          <p:cNvPr id="22" name="Text 16"/>
          <p:cNvSpPr txBox="1"/>
          <p:nvPr/>
        </p:nvSpPr>
        <p:spPr>
          <a:xfrm>
            <a:off x="1435608" y="4946904"/>
            <a:ext cx="3200400" cy="685800"/>
          </a:xfrm>
          <a:prstGeom prst="rect">
            <a:avLst/>
          </a:prstGeom>
          <a:noFill/>
          <a:ln/>
        </p:spPr>
        <p:txBody>
          <a:bodyPr wrap="square" lIns="0" tIns="0" rIns="0" bIns="0" rtlCol="0" anchor="ctr"/>
          <a:lstStyle/>
          <a:p>
            <a:pPr indent="0" marL="0">
              <a:lnSpc>
                <a:spcPts val="1900"/>
              </a:lnSpc>
              <a:buNone/>
            </a:pPr>
            <a:r>
              <a:rPr lang="en-US" sz="1500" b="1" dirty="0">
                <a:solidFill>
                  <a:srgbClr val="141A2E"/>
                </a:solidFill>
                <a:latin typeface="Cambria" pitchFamily="34" charset="0"/>
                <a:ea typeface="Cambria" pitchFamily="34" charset="-122"/>
                <a:cs typeface="Cambria" pitchFamily="34" charset="-120"/>
              </a:rPr>
              <a:t>Never lose a decision event</a:t>
            </a:r>
            <a:endParaRPr lang="en-US" sz="1500" dirty="0"/>
          </a:p>
        </p:txBody>
      </p:sp>
      <p:sp>
        <p:nvSpPr>
          <p:cNvPr id="23" name="Text 17"/>
          <p:cNvSpPr txBox="1"/>
          <p:nvPr/>
        </p:nvSpPr>
        <p:spPr>
          <a:xfrm>
            <a:off x="4727448" y="4919472"/>
            <a:ext cx="6400800" cy="749808"/>
          </a:xfrm>
          <a:prstGeom prst="rect">
            <a:avLst/>
          </a:prstGeom>
          <a:noFill/>
          <a:ln/>
        </p:spPr>
        <p:txBody>
          <a:bodyPr wrap="square" lIns="0" tIns="0" rIns="0" bIns="0" rtlCol="0" anchor="ctr"/>
          <a:lstStyle/>
          <a:p>
            <a:pPr indent="0" marL="0">
              <a:lnSpc>
                <a:spcPts val="1500"/>
              </a:lnSpc>
              <a:buNone/>
            </a:pPr>
            <a:r>
              <a:rPr lang="en-US" sz="1100" dirty="0">
                <a:solidFill>
                  <a:srgbClr val="4F566B"/>
                </a:solidFill>
                <a:latin typeface="Calibri" pitchFamily="34" charset="0"/>
                <a:ea typeface="Calibri" pitchFamily="34" charset="-122"/>
                <a:cs typeface="Calibri" pitchFamily="34" charset="-120"/>
              </a:rPr>
              <a:t>The decision and its outbox record commit in one database transaction, relayed with an idempotent producer and a dead-letter path. At-least-once delivery with idempotent consumption — redelivery does not double-log.</a:t>
            </a:r>
            <a:endParaRPr lang="en-US" sz="1100" dirty="0"/>
          </a:p>
        </p:txBody>
      </p:sp>
      <p:sp>
        <p:nvSpPr>
          <p:cNvPr id="24" name="Text 18"/>
          <p:cNvSpPr txBox="1"/>
          <p:nvPr/>
        </p:nvSpPr>
        <p:spPr>
          <a:xfrm>
            <a:off x="566928" y="5870448"/>
            <a:ext cx="10881360" cy="329184"/>
          </a:xfrm>
          <a:prstGeom prst="rect">
            <a:avLst/>
          </a:prstGeom>
          <a:noFill/>
          <a:ln/>
        </p:spPr>
        <p:txBody>
          <a:bodyPr wrap="square" lIns="0" tIns="0" rIns="0" bIns="0" rtlCol="0" anchor="ctr"/>
          <a:lstStyle/>
          <a:p>
            <a:pPr indent="0" marL="0">
              <a:buNone/>
            </a:pPr>
            <a:r>
              <a:rPr lang="en-US" sz="1200" b="1" i="1" dirty="0">
                <a:solidFill>
                  <a:srgbClr val="635BFF"/>
                </a:solidFill>
                <a:latin typeface="Calibri" pitchFamily="34" charset="0"/>
                <a:ea typeface="Calibri" pitchFamily="34" charset="-122"/>
                <a:cs typeface="Calibri" pitchFamily="34" charset="-120"/>
              </a:rPr>
              <a:t>Where a claim has a limit, the limit is on the slide. Your security review will find it anyway; better it finds we already said so.</a:t>
            </a:r>
            <a:endParaRPr lang="en-US" sz="1200" dirty="0"/>
          </a:p>
        </p:txBody>
      </p:sp>
      <p:sp>
        <p:nvSpPr>
          <p:cNvPr id="26" name="Text 19"/>
          <p:cNvSpPr txBox="1"/>
          <p:nvPr/>
        </p:nvSpPr>
        <p:spPr>
          <a:xfrm>
            <a:off x="566928" y="6291072"/>
            <a:ext cx="2743200" cy="256032"/>
          </a:xfrm>
          <a:prstGeom prst="rect">
            <a:avLst/>
          </a:prstGeom>
          <a:noFill/>
          <a:ln/>
        </p:spPr>
        <p:txBody>
          <a:bodyPr wrap="square" lIns="0" tIns="0" rIns="0" bIns="0" rtlCol="0" anchor="ctr"/>
          <a:lstStyle/>
          <a:p>
            <a:pPr indent="0" marL="0">
              <a:buNone/>
            </a:pPr>
            <a:r>
              <a:rPr lang="en-US" sz="900" dirty="0">
                <a:solidFill>
                  <a:srgbClr val="9AA3BC"/>
                </a:solidFill>
                <a:latin typeface="Calibri" pitchFamily="34" charset="0"/>
                <a:ea typeface="Calibri" pitchFamily="34" charset="-122"/>
                <a:cs typeface="Calibri" pitchFamily="34" charset="-120"/>
              </a:rPr>
              <a:t>RuleMind AI</a:t>
            </a:r>
            <a:endParaRPr lang="en-US" sz="900" dirty="0"/>
          </a:p>
        </p:txBody>
      </p:sp>
      <p:sp>
        <p:nvSpPr>
          <p:cNvPr id="27" name="Text 20"/>
          <p:cNvSpPr txBox="1"/>
          <p:nvPr/>
        </p:nvSpPr>
        <p:spPr>
          <a:xfrm>
            <a:off x="10710367" y="6291072"/>
            <a:ext cx="914400" cy="256032"/>
          </a:xfrm>
          <a:prstGeom prst="rect">
            <a:avLst/>
          </a:prstGeom>
          <a:noFill/>
          <a:ln/>
        </p:spPr>
        <p:txBody>
          <a:bodyPr wrap="square" lIns="0" tIns="0" rIns="0" bIns="0" rtlCol="0" anchor="ctr"/>
          <a:lstStyle/>
          <a:p>
            <a:pPr algn="r" indent="0" marL="0">
              <a:buNone/>
            </a:pPr>
            <a:r>
              <a:rPr lang="en-US" sz="900" dirty="0">
                <a:solidFill>
                  <a:srgbClr val="9AA3B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A2E"/>
        </a:solidFill>
      </p:bgPr>
    </p:bg>
    <p:spTree>
      <p:nvGrpSpPr>
        <p:cNvPr id="1" name=""/>
        <p:cNvGrpSpPr/>
        <p:nvPr/>
      </p:nvGrpSpPr>
      <p:grpSpPr>
        <a:xfrm>
          <a:off x="0" y="0"/>
          <a:ext cx="0" cy="0"/>
          <a:chOff x="0" y="0"/>
          <a:chExt cx="0" cy="0"/>
        </a:xfrm>
      </p:grpSpPr>
      <p:sp>
        <p:nvSpPr>
          <p:cNvPr id="2" name="Text 0"/>
          <p:cNvSpPr txBox="1"/>
          <p:nvPr/>
        </p:nvSpPr>
        <p:spPr>
          <a:xfrm>
            <a:off x="566928" y="420624"/>
            <a:ext cx="10515600" cy="274320"/>
          </a:xfrm>
          <a:prstGeom prst="rect">
            <a:avLst/>
          </a:prstGeom>
          <a:noFill/>
          <a:ln/>
        </p:spPr>
        <p:txBody>
          <a:bodyPr wrap="square" lIns="0" tIns="0" rIns="0" bIns="0" rtlCol="0" anchor="ctr"/>
          <a:lstStyle/>
          <a:p>
            <a:pPr indent="0" marL="0">
              <a:buNone/>
            </a:pPr>
            <a:r>
              <a:rPr lang="en-US" sz="1200" b="1" spc="220" kern="0" dirty="0">
                <a:solidFill>
                  <a:srgbClr val="635BFF"/>
                </a:solidFill>
                <a:latin typeface="Calibri" pitchFamily="34" charset="0"/>
                <a:ea typeface="Calibri" pitchFamily="34" charset="-122"/>
                <a:cs typeface="Calibri" pitchFamily="34" charset="-120"/>
              </a:rPr>
              <a:t>DEPLOYMENT</a:t>
            </a:r>
            <a:endParaRPr lang="en-US" sz="1200" dirty="0"/>
          </a:p>
        </p:txBody>
      </p:sp>
      <p:sp>
        <p:nvSpPr>
          <p:cNvPr id="3" name="Text 1"/>
          <p:cNvSpPr txBox="1"/>
          <p:nvPr/>
        </p:nvSpPr>
        <p:spPr>
          <a:xfrm>
            <a:off x="566928" y="731520"/>
            <a:ext cx="1088136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It runs inside your perimeter</a:t>
            </a:r>
            <a:endParaRPr lang="en-US" sz="3400" dirty="0"/>
          </a:p>
        </p:txBody>
      </p:sp>
      <p:sp>
        <p:nvSpPr>
          <p:cNvPr id="4" name="Text 2"/>
          <p:cNvSpPr txBox="1"/>
          <p:nvPr/>
        </p:nvSpPr>
        <p:spPr>
          <a:xfrm>
            <a:off x="566928" y="1664208"/>
            <a:ext cx="8686800" cy="640080"/>
          </a:xfrm>
          <a:prstGeom prst="rect">
            <a:avLst/>
          </a:prstGeom>
          <a:noFill/>
          <a:ln/>
        </p:spPr>
        <p:txBody>
          <a:bodyPr wrap="square" lIns="0" tIns="0" rIns="0" bIns="0" rtlCol="0" anchor="ctr"/>
          <a:lstStyle/>
          <a:p>
            <a:pPr indent="0" marL="0">
              <a:lnSpc>
                <a:spcPts val="2000"/>
              </a:lnSpc>
              <a:buNone/>
            </a:pPr>
            <a:r>
              <a:rPr lang="en-US" sz="1400" dirty="0">
                <a:solidFill>
                  <a:srgbClr val="9AA3BC"/>
                </a:solidFill>
                <a:latin typeface="Calibri" pitchFamily="34" charset="0"/>
                <a:ea typeface="Calibri" pitchFamily="34" charset="-122"/>
                <a:cs typeface="Calibri" pitchFamily="34" charset="-120"/>
              </a:rPr>
              <a:t>No vendor cloud, no telemetry, no per-decision metering. The only outbound calls are the ones you configure. Two supported paths, each with a committed smoke test that proves the install rather than describing it.</a:t>
            </a:r>
            <a:endParaRPr lang="en-US" sz="1400" dirty="0"/>
          </a:p>
        </p:txBody>
      </p:sp>
      <p:sp>
        <p:nvSpPr>
          <p:cNvPr id="5" name="Shape 3"/>
          <p:cNvSpPr/>
          <p:nvPr/>
        </p:nvSpPr>
        <p:spPr>
          <a:xfrm>
            <a:off x="566928" y="2487168"/>
            <a:ext cx="5230368" cy="2487168"/>
          </a:xfrm>
          <a:prstGeom prst="roundRect">
            <a:avLst>
              <a:gd name="adj" fmla="val 3676"/>
            </a:avLst>
          </a:prstGeom>
          <a:solidFill>
            <a:srgbClr val="232A45"/>
          </a:solidFill>
          <a:ln w="12700">
            <a:solidFill>
              <a:srgbClr val="232A45"/>
            </a:solidFill>
            <a:prstDash val="solid"/>
          </a:ln>
          <a:effectLst>
            <a:outerShdw sx="100000" sy="100000" kx="0" ky="0" algn="bl" rotWithShape="0" blurRad="127000" dist="25400" dir="5400000">
              <a:srgbClr val="0B1020">
                <a:alpha val="7000"/>
              </a:srgbClr>
            </a:outerShdw>
          </a:effectLst>
        </p:spPr>
      </p:sp>
      <p:sp>
        <p:nvSpPr>
          <p:cNvPr id="6" name="Shape 4"/>
          <p:cNvSpPr/>
          <p:nvPr/>
        </p:nvSpPr>
        <p:spPr>
          <a:xfrm>
            <a:off x="950976" y="2788920"/>
            <a:ext cx="493776" cy="493776"/>
          </a:xfrm>
          <a:prstGeom prst="ellipse">
            <a:avLst/>
          </a:prstGeom>
          <a:solidFill>
            <a:srgbClr val="635BFF"/>
          </a:solidFill>
          <a:ln w="12700">
            <a:solidFill>
              <a:srgbClr val="635BFF"/>
            </a:solidFill>
            <a:prstDash val="solid"/>
          </a:ln>
        </p:spPr>
      </p:sp>
      <p:pic>
        <p:nvPicPr>
          <p:cNvPr id="7" name="Image 0" descr="preencoded.png">    </p:cNvPr>
          <p:cNvPicPr>
            <a:picLocks noChangeAspect="1"/>
          </p:cNvPicPr>
          <p:nvPr/>
        </p:nvPicPr>
        <p:blipFill>
          <a:blip r:embed="rId1"/>
          <a:stretch>
            <a:fillRect/>
          </a:stretch>
        </p:blipFill>
        <p:spPr>
          <a:xfrm>
            <a:off x="1069848" y="2907792"/>
            <a:ext cx="256032" cy="256032"/>
          </a:xfrm>
          <a:prstGeom prst="rect">
            <a:avLst/>
          </a:prstGeom>
        </p:spPr>
      </p:pic>
      <p:sp>
        <p:nvSpPr>
          <p:cNvPr id="8" name="Text 5"/>
          <p:cNvSpPr txBox="1"/>
          <p:nvPr/>
        </p:nvSpPr>
        <p:spPr>
          <a:xfrm>
            <a:off x="1572768" y="2798064"/>
            <a:ext cx="2148840" cy="4572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Docker Compose</a:t>
            </a:r>
            <a:endParaRPr lang="en-US" sz="1900" dirty="0"/>
          </a:p>
        </p:txBody>
      </p:sp>
      <p:sp>
        <p:nvSpPr>
          <p:cNvPr id="9" name="Text 6"/>
          <p:cNvSpPr txBox="1"/>
          <p:nvPr/>
        </p:nvSpPr>
        <p:spPr>
          <a:xfrm>
            <a:off x="3813048" y="2798064"/>
            <a:ext cx="1664208" cy="457200"/>
          </a:xfrm>
          <a:prstGeom prst="rect">
            <a:avLst/>
          </a:prstGeom>
          <a:noFill/>
          <a:ln/>
        </p:spPr>
        <p:txBody>
          <a:bodyPr wrap="square" lIns="0" tIns="0" rIns="0" bIns="0" rtlCol="0" anchor="ctr"/>
          <a:lstStyle/>
          <a:p>
            <a:pPr algn="r" indent="0" marL="0">
              <a:buNone/>
            </a:pPr>
            <a:r>
              <a:rPr lang="en-US" sz="1300" b="1" dirty="0">
                <a:solidFill>
                  <a:srgbClr val="635BFF"/>
                </a:solidFill>
                <a:latin typeface="Courier New" pitchFamily="34" charset="0"/>
                <a:ea typeface="Courier New" pitchFamily="34" charset="-122"/>
                <a:cs typeface="Courier New" pitchFamily="34" charset="-120"/>
              </a:rPr>
              <a:t>make up</a:t>
            </a:r>
            <a:endParaRPr lang="en-US" sz="1300" dirty="0"/>
          </a:p>
        </p:txBody>
      </p:sp>
      <p:sp>
        <p:nvSpPr>
          <p:cNvPr id="10" name="Text 7"/>
          <p:cNvSpPr txBox="1"/>
          <p:nvPr/>
        </p:nvSpPr>
        <p:spPr>
          <a:xfrm>
            <a:off x="978408" y="3429000"/>
            <a:ext cx="4480560" cy="137160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00" dirty="0">
                <a:solidFill>
                  <a:srgbClr val="9AA3BC"/>
                </a:solidFill>
                <a:latin typeface="Calibri" pitchFamily="34" charset="0"/>
                <a:ea typeface="Calibri" pitchFamily="34" charset="-122"/>
                <a:cs typeface="Calibri" pitchFamily="34" charset="-120"/>
              </a:rPr>
              <a:t>API, dashboard, worker, PostgreSQL and Redis</a:t>
            </a:r>
            <a:endParaRPr lang="en-US" sz="1200" dirty="0"/>
          </a:p>
          <a:p>
            <a:pPr marL="342900" indent="-342900">
              <a:lnSpc>
                <a:spcPts val="1700"/>
              </a:lnSpc>
              <a:spcAft>
                <a:spcPts val="700"/>
              </a:spcAft>
              <a:buSzPct val="100000"/>
              <a:buChar char="•"/>
            </a:pPr>
            <a:r>
              <a:rPr lang="en-US" sz="1200" dirty="0">
                <a:solidFill>
                  <a:srgbClr val="9AA3BC"/>
                </a:solidFill>
                <a:latin typeface="Calibri" pitchFamily="34" charset="0"/>
                <a:ea typeface="Calibri" pitchFamily="34" charset="-122"/>
                <a:cs typeface="Calibri" pitchFamily="34" charset="-120"/>
              </a:rPr>
              <a:t>One command from clone to a decision</a:t>
            </a:r>
            <a:endParaRPr lang="en-US" sz="1200" dirty="0"/>
          </a:p>
          <a:p>
            <a:pPr marL="342900" indent="-342900">
              <a:lnSpc>
                <a:spcPts val="1700"/>
              </a:lnSpc>
              <a:spcAft>
                <a:spcPts val="700"/>
              </a:spcAft>
              <a:buSzPct val="100000"/>
              <a:buChar char="•"/>
            </a:pPr>
            <a:r>
              <a:rPr lang="en-US" sz="1200" dirty="0">
                <a:solidFill>
                  <a:srgbClr val="9AA3BC"/>
                </a:solidFill>
                <a:latin typeface="Calibri" pitchFamily="34" charset="0"/>
                <a:ea typeface="Calibri" pitchFamily="34" charset="-122"/>
                <a:cs typeface="Calibri" pitchFamily="34" charset="-120"/>
              </a:rPr>
              <a:t>14-check smoke test included</a:t>
            </a:r>
            <a:endParaRPr lang="en-US" sz="1200" dirty="0"/>
          </a:p>
        </p:txBody>
      </p:sp>
      <p:sp>
        <p:nvSpPr>
          <p:cNvPr id="11" name="Shape 8"/>
          <p:cNvSpPr/>
          <p:nvPr/>
        </p:nvSpPr>
        <p:spPr>
          <a:xfrm>
            <a:off x="6190488" y="2487168"/>
            <a:ext cx="5230368" cy="2487168"/>
          </a:xfrm>
          <a:prstGeom prst="roundRect">
            <a:avLst>
              <a:gd name="adj" fmla="val 3676"/>
            </a:avLst>
          </a:prstGeom>
          <a:solidFill>
            <a:srgbClr val="232A45"/>
          </a:solidFill>
          <a:ln w="12700">
            <a:solidFill>
              <a:srgbClr val="232A45"/>
            </a:solidFill>
            <a:prstDash val="solid"/>
          </a:ln>
          <a:effectLst>
            <a:outerShdw sx="100000" sy="100000" kx="0" ky="0" algn="bl" rotWithShape="0" blurRad="127000" dist="25400" dir="5400000">
              <a:srgbClr val="0B1020">
                <a:alpha val="7000"/>
              </a:srgbClr>
            </a:outerShdw>
          </a:effectLst>
        </p:spPr>
      </p:sp>
      <p:sp>
        <p:nvSpPr>
          <p:cNvPr id="12" name="Shape 9"/>
          <p:cNvSpPr/>
          <p:nvPr/>
        </p:nvSpPr>
        <p:spPr>
          <a:xfrm>
            <a:off x="6574536" y="2788920"/>
            <a:ext cx="493776" cy="493776"/>
          </a:xfrm>
          <a:prstGeom prst="ellipse">
            <a:avLst/>
          </a:prstGeom>
          <a:solidFill>
            <a:srgbClr val="635BFF"/>
          </a:solidFill>
          <a:ln w="12700">
            <a:solidFill>
              <a:srgbClr val="635BFF"/>
            </a:solidFill>
            <a:prstDash val="solid"/>
          </a:ln>
        </p:spPr>
      </p:sp>
      <p:pic>
        <p:nvPicPr>
          <p:cNvPr id="13" name="Image 1" descr="preencoded.png">    </p:cNvPr>
          <p:cNvPicPr>
            <a:picLocks noChangeAspect="1"/>
          </p:cNvPicPr>
          <p:nvPr/>
        </p:nvPicPr>
        <p:blipFill>
          <a:blip r:embed="rId2"/>
          <a:stretch>
            <a:fillRect/>
          </a:stretch>
        </p:blipFill>
        <p:spPr>
          <a:xfrm>
            <a:off x="6693408" y="2907792"/>
            <a:ext cx="256032" cy="256032"/>
          </a:xfrm>
          <a:prstGeom prst="rect">
            <a:avLst/>
          </a:prstGeom>
        </p:spPr>
      </p:pic>
      <p:sp>
        <p:nvSpPr>
          <p:cNvPr id="14" name="Text 10"/>
          <p:cNvSpPr txBox="1"/>
          <p:nvPr/>
        </p:nvSpPr>
        <p:spPr>
          <a:xfrm>
            <a:off x="7196328" y="2798064"/>
            <a:ext cx="2148840" cy="4572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Kubernetes</a:t>
            </a:r>
            <a:endParaRPr lang="en-US" sz="1900" dirty="0"/>
          </a:p>
        </p:txBody>
      </p:sp>
      <p:sp>
        <p:nvSpPr>
          <p:cNvPr id="15" name="Text 11"/>
          <p:cNvSpPr txBox="1"/>
          <p:nvPr/>
        </p:nvSpPr>
        <p:spPr>
          <a:xfrm>
            <a:off x="9436608" y="2798064"/>
            <a:ext cx="1664208" cy="457200"/>
          </a:xfrm>
          <a:prstGeom prst="rect">
            <a:avLst/>
          </a:prstGeom>
          <a:noFill/>
          <a:ln/>
        </p:spPr>
        <p:txBody>
          <a:bodyPr wrap="square" lIns="0" tIns="0" rIns="0" bIns="0" rtlCol="0" anchor="ctr"/>
          <a:lstStyle/>
          <a:p>
            <a:pPr algn="r" indent="0" marL="0">
              <a:buNone/>
            </a:pPr>
            <a:r>
              <a:rPr lang="en-US" sz="1300" b="1" dirty="0">
                <a:solidFill>
                  <a:srgbClr val="635BFF"/>
                </a:solidFill>
                <a:latin typeface="Courier New" pitchFamily="34" charset="0"/>
                <a:ea typeface="Courier New" pitchFamily="34" charset="-122"/>
                <a:cs typeface="Courier New" pitchFamily="34" charset="-120"/>
              </a:rPr>
              <a:t>make k8s-up</a:t>
            </a:r>
            <a:endParaRPr lang="en-US" sz="1300" dirty="0"/>
          </a:p>
        </p:txBody>
      </p:sp>
      <p:sp>
        <p:nvSpPr>
          <p:cNvPr id="16" name="Text 12"/>
          <p:cNvSpPr txBox="1"/>
          <p:nvPr/>
        </p:nvSpPr>
        <p:spPr>
          <a:xfrm>
            <a:off x="6601968" y="3429000"/>
            <a:ext cx="4480560" cy="137160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00" dirty="0">
                <a:solidFill>
                  <a:srgbClr val="9AA3BC"/>
                </a:solidFill>
                <a:latin typeface="Calibri" pitchFamily="34" charset="0"/>
                <a:ea typeface="Calibri" pitchFamily="34" charset="-122"/>
                <a:cs typeface="Calibri" pitchFamily="34" charset="-120"/>
              </a:rPr>
              <a:t>A real Helm chart, installed and rolled out</a:t>
            </a:r>
            <a:endParaRPr lang="en-US" sz="1200" dirty="0"/>
          </a:p>
          <a:p>
            <a:pPr marL="342900" indent="-342900">
              <a:lnSpc>
                <a:spcPts val="1700"/>
              </a:lnSpc>
              <a:spcAft>
                <a:spcPts val="700"/>
              </a:spcAft>
              <a:buSzPct val="100000"/>
              <a:buChar char="•"/>
            </a:pPr>
            <a:r>
              <a:rPr lang="en-US" sz="1200" dirty="0">
                <a:solidFill>
                  <a:srgbClr val="9AA3BC"/>
                </a:solidFill>
                <a:latin typeface="Calibri" pitchFamily="34" charset="0"/>
                <a:ea typeface="Calibri" pitchFamily="34" charset="-122"/>
                <a:cs typeface="Calibri" pitchFamily="34" charset="-120"/>
              </a:rPr>
              <a:t>Migrations as a pre-install hook</a:t>
            </a:r>
            <a:endParaRPr lang="en-US" sz="1200" dirty="0"/>
          </a:p>
          <a:p>
            <a:pPr marL="342900" indent="-342900">
              <a:lnSpc>
                <a:spcPts val="1700"/>
              </a:lnSpc>
              <a:spcAft>
                <a:spcPts val="700"/>
              </a:spcAft>
              <a:buSzPct val="100000"/>
              <a:buChar char="•"/>
            </a:pPr>
            <a:r>
              <a:rPr lang="en-US" sz="1200" dirty="0">
                <a:solidFill>
                  <a:srgbClr val="9AA3BC"/>
                </a:solidFill>
                <a:latin typeface="Calibri" pitchFamily="34" charset="0"/>
                <a:ea typeface="Calibri" pitchFamily="34" charset="-122"/>
                <a:cs typeface="Calibri" pitchFamily="34" charset="-120"/>
              </a:rPr>
              <a:t>16-check smoke test included</a:t>
            </a:r>
            <a:endParaRPr lang="en-US" sz="1200" dirty="0"/>
          </a:p>
        </p:txBody>
      </p:sp>
      <p:sp>
        <p:nvSpPr>
          <p:cNvPr id="17" name="Text 13"/>
          <p:cNvSpPr txBox="1"/>
          <p:nvPr/>
        </p:nvSpPr>
        <p:spPr>
          <a:xfrm>
            <a:off x="566928" y="5230368"/>
            <a:ext cx="3383280" cy="301752"/>
          </a:xfrm>
          <a:prstGeom prst="rect">
            <a:avLst/>
          </a:prstGeom>
          <a:noFill/>
          <a:ln/>
        </p:spPr>
        <p:txBody>
          <a:bodyPr wrap="square" lIns="0" tIns="0" rIns="0" bIns="0" rtlCol="0" anchor="ctr"/>
          <a:lstStyle/>
          <a:p>
            <a:pPr indent="0" marL="0">
              <a:buNone/>
            </a:pPr>
            <a:r>
              <a:rPr lang="en-US" sz="1400" b="1" dirty="0">
                <a:solidFill>
                  <a:srgbClr val="635BFF"/>
                </a:solidFill>
                <a:latin typeface="Calibri" pitchFamily="34" charset="0"/>
                <a:ea typeface="Calibri" pitchFamily="34" charset="-122"/>
                <a:cs typeface="Calibri" pitchFamily="34" charset="-120"/>
              </a:rPr>
              <a:t>Your keys</a:t>
            </a:r>
            <a:endParaRPr lang="en-US" sz="1400" dirty="0"/>
          </a:p>
        </p:txBody>
      </p:sp>
      <p:sp>
        <p:nvSpPr>
          <p:cNvPr id="18" name="Text 14"/>
          <p:cNvSpPr txBox="1"/>
          <p:nvPr/>
        </p:nvSpPr>
        <p:spPr>
          <a:xfrm>
            <a:off x="566928" y="5522976"/>
            <a:ext cx="3429000" cy="548640"/>
          </a:xfrm>
          <a:prstGeom prst="rect">
            <a:avLst/>
          </a:prstGeom>
          <a:noFill/>
          <a:ln/>
        </p:spPr>
        <p:txBody>
          <a:bodyPr wrap="square" lIns="0" tIns="0" rIns="0" bIns="0" rtlCol="0" anchor="ctr"/>
          <a:lstStyle/>
          <a:p>
            <a:pPr indent="0" marL="0">
              <a:lnSpc>
                <a:spcPts val="1600"/>
              </a:lnSpc>
              <a:buNone/>
            </a:pPr>
            <a:r>
              <a:rPr lang="en-US" sz="1150" dirty="0">
                <a:solidFill>
                  <a:srgbClr val="9AA3BC"/>
                </a:solidFill>
                <a:latin typeface="Calibri" pitchFamily="34" charset="0"/>
                <a:ea typeface="Calibri" pitchFamily="34" charset="-122"/>
                <a:cs typeface="Calibri" pitchFamily="34" charset="-120"/>
              </a:rPr>
              <a:t>AI features are bring-your-own-key and off unless configured.</a:t>
            </a:r>
            <a:endParaRPr lang="en-US" sz="1150" dirty="0"/>
          </a:p>
        </p:txBody>
      </p:sp>
      <p:sp>
        <p:nvSpPr>
          <p:cNvPr id="19" name="Text 15"/>
          <p:cNvSpPr txBox="1"/>
          <p:nvPr/>
        </p:nvSpPr>
        <p:spPr>
          <a:xfrm>
            <a:off x="4251960" y="5230368"/>
            <a:ext cx="3383280" cy="301752"/>
          </a:xfrm>
          <a:prstGeom prst="rect">
            <a:avLst/>
          </a:prstGeom>
          <a:noFill/>
          <a:ln/>
        </p:spPr>
        <p:txBody>
          <a:bodyPr wrap="square" lIns="0" tIns="0" rIns="0" bIns="0" rtlCol="0" anchor="ctr"/>
          <a:lstStyle/>
          <a:p>
            <a:pPr indent="0" marL="0">
              <a:buNone/>
            </a:pPr>
            <a:r>
              <a:rPr lang="en-US" sz="1400" b="1" dirty="0">
                <a:solidFill>
                  <a:srgbClr val="635BFF"/>
                </a:solidFill>
                <a:latin typeface="Calibri" pitchFamily="34" charset="0"/>
                <a:ea typeface="Calibri" pitchFamily="34" charset="-122"/>
                <a:cs typeface="Calibri" pitchFamily="34" charset="-120"/>
              </a:rPr>
              <a:t>Your data</a:t>
            </a:r>
            <a:endParaRPr lang="en-US" sz="1400" dirty="0"/>
          </a:p>
        </p:txBody>
      </p:sp>
      <p:sp>
        <p:nvSpPr>
          <p:cNvPr id="20" name="Text 16"/>
          <p:cNvSpPr txBox="1"/>
          <p:nvPr/>
        </p:nvSpPr>
        <p:spPr>
          <a:xfrm>
            <a:off x="4251960" y="5522976"/>
            <a:ext cx="3429000" cy="548640"/>
          </a:xfrm>
          <a:prstGeom prst="rect">
            <a:avLst/>
          </a:prstGeom>
          <a:noFill/>
          <a:ln/>
        </p:spPr>
        <p:txBody>
          <a:bodyPr wrap="square" lIns="0" tIns="0" rIns="0" bIns="0" rtlCol="0" anchor="ctr"/>
          <a:lstStyle/>
          <a:p>
            <a:pPr indent="0" marL="0">
              <a:lnSpc>
                <a:spcPts val="1600"/>
              </a:lnSpc>
              <a:buNone/>
            </a:pPr>
            <a:r>
              <a:rPr lang="en-US" sz="1150" dirty="0">
                <a:solidFill>
                  <a:srgbClr val="9AA3BC"/>
                </a:solidFill>
                <a:latin typeface="Calibri" pitchFamily="34" charset="0"/>
                <a:ea typeface="Calibri" pitchFamily="34" charset="-122"/>
                <a:cs typeface="Calibri" pitchFamily="34" charset="-120"/>
              </a:rPr>
              <a:t>Outbound calls are SSRF-guarded with IP pinning, per connector.</a:t>
            </a:r>
            <a:endParaRPr lang="en-US" sz="1150" dirty="0"/>
          </a:p>
        </p:txBody>
      </p:sp>
      <p:sp>
        <p:nvSpPr>
          <p:cNvPr id="21" name="Text 17"/>
          <p:cNvSpPr txBox="1"/>
          <p:nvPr/>
        </p:nvSpPr>
        <p:spPr>
          <a:xfrm>
            <a:off x="7936992" y="5230368"/>
            <a:ext cx="3383280" cy="301752"/>
          </a:xfrm>
          <a:prstGeom prst="rect">
            <a:avLst/>
          </a:prstGeom>
          <a:noFill/>
          <a:ln/>
        </p:spPr>
        <p:txBody>
          <a:bodyPr wrap="square" lIns="0" tIns="0" rIns="0" bIns="0" rtlCol="0" anchor="ctr"/>
          <a:lstStyle/>
          <a:p>
            <a:pPr indent="0" marL="0">
              <a:buNone/>
            </a:pPr>
            <a:r>
              <a:rPr lang="en-US" sz="1400" b="1" dirty="0">
                <a:solidFill>
                  <a:srgbClr val="635BFF"/>
                </a:solidFill>
                <a:latin typeface="Calibri" pitchFamily="34" charset="0"/>
                <a:ea typeface="Calibri" pitchFamily="34" charset="-122"/>
                <a:cs typeface="Calibri" pitchFamily="34" charset="-120"/>
              </a:rPr>
              <a:t>Your terms</a:t>
            </a:r>
            <a:endParaRPr lang="en-US" sz="1400" dirty="0"/>
          </a:p>
        </p:txBody>
      </p:sp>
      <p:sp>
        <p:nvSpPr>
          <p:cNvPr id="22" name="Text 18"/>
          <p:cNvSpPr txBox="1"/>
          <p:nvPr/>
        </p:nvSpPr>
        <p:spPr>
          <a:xfrm>
            <a:off x="7936992" y="5522976"/>
            <a:ext cx="3429000" cy="548640"/>
          </a:xfrm>
          <a:prstGeom prst="rect">
            <a:avLst/>
          </a:prstGeom>
          <a:noFill/>
          <a:ln/>
        </p:spPr>
        <p:txBody>
          <a:bodyPr wrap="square" lIns="0" tIns="0" rIns="0" bIns="0" rtlCol="0" anchor="ctr"/>
          <a:lstStyle/>
          <a:p>
            <a:pPr indent="0" marL="0">
              <a:lnSpc>
                <a:spcPts val="1600"/>
              </a:lnSpc>
              <a:buNone/>
            </a:pPr>
            <a:r>
              <a:rPr lang="en-US" sz="1150" dirty="0">
                <a:solidFill>
                  <a:srgbClr val="9AA3BC"/>
                </a:solidFill>
                <a:latin typeface="Calibri" pitchFamily="34" charset="0"/>
                <a:ea typeface="Calibri" pitchFamily="34" charset="-122"/>
                <a:cs typeface="Calibri" pitchFamily="34" charset="-120"/>
              </a:rPr>
              <a:t>Apache 2.0 licensed. No runtime phone-home, no seat lock-in.</a:t>
            </a:r>
            <a:endParaRPr lang="en-US" sz="1150" dirty="0"/>
          </a:p>
        </p:txBody>
      </p:sp>
      <p:sp>
        <p:nvSpPr>
          <p:cNvPr id="24" name="Text 19"/>
          <p:cNvSpPr txBox="1"/>
          <p:nvPr/>
        </p:nvSpPr>
        <p:spPr>
          <a:xfrm>
            <a:off x="566928" y="6291072"/>
            <a:ext cx="2743200" cy="256032"/>
          </a:xfrm>
          <a:prstGeom prst="rect">
            <a:avLst/>
          </a:prstGeom>
          <a:noFill/>
          <a:ln/>
        </p:spPr>
        <p:txBody>
          <a:bodyPr wrap="square" lIns="0" tIns="0" rIns="0" bIns="0" rtlCol="0" anchor="ctr"/>
          <a:lstStyle/>
          <a:p>
            <a:pPr indent="0" marL="0">
              <a:buNone/>
            </a:pPr>
            <a:r>
              <a:rPr lang="en-US" sz="900" dirty="0">
                <a:solidFill>
                  <a:srgbClr val="9AA3BC"/>
                </a:solidFill>
                <a:latin typeface="Calibri" pitchFamily="34" charset="0"/>
                <a:ea typeface="Calibri" pitchFamily="34" charset="-122"/>
                <a:cs typeface="Calibri" pitchFamily="34" charset="-120"/>
              </a:rPr>
              <a:t>RuleMind AI</a:t>
            </a:r>
            <a:endParaRPr lang="en-US" sz="900" dirty="0"/>
          </a:p>
        </p:txBody>
      </p:sp>
      <p:sp>
        <p:nvSpPr>
          <p:cNvPr id="25" name="Text 20"/>
          <p:cNvSpPr txBox="1"/>
          <p:nvPr/>
        </p:nvSpPr>
        <p:spPr>
          <a:xfrm>
            <a:off x="10710367" y="6291072"/>
            <a:ext cx="914400" cy="256032"/>
          </a:xfrm>
          <a:prstGeom prst="rect">
            <a:avLst/>
          </a:prstGeom>
          <a:noFill/>
          <a:ln/>
        </p:spPr>
        <p:txBody>
          <a:bodyPr wrap="square" lIns="0" tIns="0" rIns="0" bIns="0" rtlCol="0" anchor="ctr"/>
          <a:lstStyle/>
          <a:p>
            <a:pPr algn="r" indent="0" marL="0">
              <a:buNone/>
            </a:pPr>
            <a:r>
              <a:rPr lang="en-US" sz="900" dirty="0">
                <a:solidFill>
                  <a:srgbClr val="9AA3B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66928" y="420624"/>
            <a:ext cx="10515600" cy="274320"/>
          </a:xfrm>
          <a:prstGeom prst="rect">
            <a:avLst/>
          </a:prstGeom>
          <a:noFill/>
          <a:ln/>
        </p:spPr>
        <p:txBody>
          <a:bodyPr wrap="square" lIns="0" tIns="0" rIns="0" bIns="0" rtlCol="0" anchor="ctr"/>
          <a:lstStyle/>
          <a:p>
            <a:pPr indent="0" marL="0">
              <a:buNone/>
            </a:pPr>
            <a:r>
              <a:rPr lang="en-US" sz="1200" b="1" spc="220" kern="0" dirty="0">
                <a:solidFill>
                  <a:srgbClr val="635BFF"/>
                </a:solidFill>
                <a:latin typeface="Calibri" pitchFamily="34" charset="0"/>
                <a:ea typeface="Calibri" pitchFamily="34" charset="-122"/>
                <a:cs typeface="Calibri" pitchFamily="34" charset="-120"/>
              </a:rPr>
              <a:t>STRAIGHT ANSWERS</a:t>
            </a:r>
            <a:endParaRPr lang="en-US" sz="1200" dirty="0"/>
          </a:p>
        </p:txBody>
      </p:sp>
      <p:sp>
        <p:nvSpPr>
          <p:cNvPr id="3" name="Text 1"/>
          <p:cNvSpPr txBox="1"/>
          <p:nvPr/>
        </p:nvSpPr>
        <p:spPr>
          <a:xfrm>
            <a:off x="566928" y="731520"/>
            <a:ext cx="10881360" cy="822960"/>
          </a:xfrm>
          <a:prstGeom prst="rect">
            <a:avLst/>
          </a:prstGeom>
          <a:noFill/>
          <a:ln/>
        </p:spPr>
        <p:txBody>
          <a:bodyPr wrap="square" lIns="0" tIns="0" rIns="0" bIns="0" rtlCol="0" anchor="ctr"/>
          <a:lstStyle/>
          <a:p>
            <a:pPr indent="0" marL="0">
              <a:buNone/>
            </a:pPr>
            <a:r>
              <a:rPr lang="en-US" sz="3400" b="1" dirty="0">
                <a:solidFill>
                  <a:srgbClr val="141A2E"/>
                </a:solidFill>
                <a:latin typeface="Cambria" pitchFamily="34" charset="0"/>
                <a:ea typeface="Cambria" pitchFamily="34" charset="-122"/>
                <a:cs typeface="Cambria" pitchFamily="34" charset="-120"/>
              </a:rPr>
              <a:t>What is shipped, and what is not</a:t>
            </a:r>
            <a:endParaRPr lang="en-US" sz="3400" dirty="0"/>
          </a:p>
        </p:txBody>
      </p:sp>
      <p:sp>
        <p:nvSpPr>
          <p:cNvPr id="4" name="Text 2"/>
          <p:cNvSpPr txBox="1"/>
          <p:nvPr/>
        </p:nvSpPr>
        <p:spPr>
          <a:xfrm>
            <a:off x="566928" y="1645920"/>
            <a:ext cx="10881360" cy="320040"/>
          </a:xfrm>
          <a:prstGeom prst="rect">
            <a:avLst/>
          </a:prstGeom>
          <a:noFill/>
          <a:ln/>
        </p:spPr>
        <p:txBody>
          <a:bodyPr wrap="square" lIns="0" tIns="0" rIns="0" bIns="0" rtlCol="0" anchor="ctr"/>
          <a:lstStyle/>
          <a:p>
            <a:pPr indent="0" marL="0">
              <a:buNone/>
            </a:pPr>
            <a:r>
              <a:rPr lang="en-US" sz="1350" dirty="0">
                <a:solidFill>
                  <a:srgbClr val="4F566B"/>
                </a:solidFill>
                <a:latin typeface="Calibri" pitchFamily="34" charset="0"/>
                <a:ea typeface="Calibri" pitchFamily="34" charset="-122"/>
                <a:cs typeface="Calibri" pitchFamily="34" charset="-120"/>
              </a:rPr>
              <a:t>You are going to run a technical evaluation. Here is the line we draw, before you find it.</a:t>
            </a:r>
            <a:endParaRPr lang="en-US" sz="1350" dirty="0"/>
          </a:p>
        </p:txBody>
      </p:sp>
      <p:sp>
        <p:nvSpPr>
          <p:cNvPr id="5" name="Shape 3"/>
          <p:cNvSpPr/>
          <p:nvPr/>
        </p:nvSpPr>
        <p:spPr>
          <a:xfrm>
            <a:off x="566928" y="2121408"/>
            <a:ext cx="5230368" cy="3246120"/>
          </a:xfrm>
          <a:prstGeom prst="roundRect">
            <a:avLst>
              <a:gd name="adj" fmla="val 2817"/>
            </a:avLst>
          </a:prstGeom>
          <a:solidFill>
            <a:srgbClr val="FFFFFF"/>
          </a:solidFill>
          <a:ln w="12700">
            <a:solidFill>
              <a:srgbClr val="E3E8F2"/>
            </a:solidFill>
            <a:prstDash val="solid"/>
          </a:ln>
          <a:effectLst>
            <a:outerShdw sx="100000" sy="100000" kx="0" ky="0" algn="bl" rotWithShape="0" blurRad="127000" dist="25400" dir="5400000">
              <a:srgbClr val="0B1020">
                <a:alpha val="7000"/>
              </a:srgbClr>
            </a:outerShdw>
          </a:effectLst>
        </p:spPr>
      </p:sp>
      <p:sp>
        <p:nvSpPr>
          <p:cNvPr id="6" name="Shape 4"/>
          <p:cNvSpPr/>
          <p:nvPr/>
        </p:nvSpPr>
        <p:spPr>
          <a:xfrm>
            <a:off x="950976" y="2395728"/>
            <a:ext cx="384048" cy="384048"/>
          </a:xfrm>
          <a:prstGeom prst="ellipse">
            <a:avLst/>
          </a:prstGeom>
          <a:solidFill>
            <a:srgbClr val="0E9F6E"/>
          </a:solidFill>
          <a:ln w="12700">
            <a:solidFill>
              <a:srgbClr val="0E9F6E"/>
            </a:solidFill>
            <a:prstDash val="solid"/>
          </a:ln>
        </p:spPr>
      </p:sp>
      <p:sp>
        <p:nvSpPr>
          <p:cNvPr id="7" name="Text 5"/>
          <p:cNvSpPr txBox="1"/>
          <p:nvPr/>
        </p:nvSpPr>
        <p:spPr>
          <a:xfrm>
            <a:off x="1481328" y="2377440"/>
            <a:ext cx="4023360" cy="411480"/>
          </a:xfrm>
          <a:prstGeom prst="rect">
            <a:avLst/>
          </a:prstGeom>
          <a:noFill/>
          <a:ln/>
        </p:spPr>
        <p:txBody>
          <a:bodyPr wrap="square" lIns="0" tIns="0" rIns="0" bIns="0" rtlCol="0" anchor="ctr"/>
          <a:lstStyle/>
          <a:p>
            <a:pPr indent="0" marL="0">
              <a:buNone/>
            </a:pPr>
            <a:r>
              <a:rPr lang="en-US" sz="1900" b="1" dirty="0">
                <a:solidFill>
                  <a:srgbClr val="141A2E"/>
                </a:solidFill>
                <a:latin typeface="Cambria" pitchFamily="34" charset="0"/>
                <a:ea typeface="Cambria" pitchFamily="34" charset="-122"/>
                <a:cs typeface="Cambria" pitchFamily="34" charset="-120"/>
              </a:rPr>
              <a:t>Shipped and tested</a:t>
            </a:r>
            <a:endParaRPr lang="en-US" sz="1900" dirty="0"/>
          </a:p>
        </p:txBody>
      </p:sp>
      <p:sp>
        <p:nvSpPr>
          <p:cNvPr id="8" name="Text 6"/>
          <p:cNvSpPr txBox="1"/>
          <p:nvPr/>
        </p:nvSpPr>
        <p:spPr>
          <a:xfrm>
            <a:off x="978408" y="2926080"/>
            <a:ext cx="4526280" cy="2194560"/>
          </a:xfrm>
          <a:prstGeom prst="rect">
            <a:avLst/>
          </a:prstGeom>
          <a:noFill/>
          <a:ln/>
        </p:spPr>
        <p:txBody>
          <a:bodyPr wrap="square" lIns="0" tIns="0" rIns="0" bIns="0" rtlCol="0" anchor="ctr"/>
          <a:lstStyle/>
          <a:p>
            <a:pPr marL="342900" indent="-342900">
              <a:lnSpc>
                <a:spcPts val="1700"/>
              </a:lnSpc>
              <a:spcAft>
                <a:spcPts val="800"/>
              </a:spcAft>
              <a:buSzPct val="100000"/>
              <a:buChar char="•"/>
            </a:pPr>
            <a:r>
              <a:rPr lang="en-US" sz="1200" dirty="0">
                <a:solidFill>
                  <a:srgbClr val="4F566B"/>
                </a:solidFill>
                <a:latin typeface="Calibri" pitchFamily="34" charset="0"/>
                <a:ea typeface="Calibri" pitchFamily="34" charset="-122"/>
                <a:cs typeface="Calibri" pitchFamily="34" charset="-120"/>
              </a:rPr>
              <a:t>21 of 22 capability rows, each citing evidence in code</a:t>
            </a:r>
            <a:endParaRPr lang="en-US" sz="1200" dirty="0"/>
          </a:p>
          <a:p>
            <a:pPr marL="342900" indent="-342900">
              <a:lnSpc>
                <a:spcPts val="1700"/>
              </a:lnSpc>
              <a:spcAft>
                <a:spcPts val="800"/>
              </a:spcAft>
              <a:buSzPct val="100000"/>
              <a:buChar char="•"/>
            </a:pPr>
            <a:r>
              <a:rPr lang="en-US" sz="1200" dirty="0">
                <a:solidFill>
                  <a:srgbClr val="4F566B"/>
                </a:solidFill>
                <a:latin typeface="Calibri" pitchFamily="34" charset="0"/>
                <a:ea typeface="Calibri" pitchFamily="34" charset="-122"/>
                <a:cs typeface="Calibri" pitchFamily="34" charset="-120"/>
              </a:rPr>
              <a:t>Five engines agreeing on a generated corpus</a:t>
            </a:r>
            <a:endParaRPr lang="en-US" sz="1200" dirty="0"/>
          </a:p>
          <a:p>
            <a:pPr marL="342900" indent="-342900">
              <a:lnSpc>
                <a:spcPts val="1700"/>
              </a:lnSpc>
              <a:spcAft>
                <a:spcPts val="800"/>
              </a:spcAft>
              <a:buSzPct val="100000"/>
              <a:buChar char="•"/>
            </a:pPr>
            <a:r>
              <a:rPr lang="en-US" sz="1200" dirty="0">
                <a:solidFill>
                  <a:srgbClr val="4F566B"/>
                </a:solidFill>
                <a:latin typeface="Calibri" pitchFamily="34" charset="0"/>
                <a:ea typeface="Calibri" pitchFamily="34" charset="-122"/>
                <a:cs typeface="Calibri" pitchFamily="34" charset="-120"/>
              </a:rPr>
              <a:t>Durable decision delivery with a dead-letter path</a:t>
            </a:r>
            <a:endParaRPr lang="en-US" sz="1200" dirty="0"/>
          </a:p>
          <a:p>
            <a:pPr marL="342900" indent="-342900">
              <a:lnSpc>
                <a:spcPts val="1700"/>
              </a:lnSpc>
              <a:spcAft>
                <a:spcPts val="800"/>
              </a:spcAft>
              <a:buSzPct val="100000"/>
              <a:buChar char="•"/>
            </a:pPr>
            <a:r>
              <a:rPr lang="en-US" sz="1200" dirty="0">
                <a:solidFill>
                  <a:srgbClr val="4F566B"/>
                </a:solidFill>
                <a:latin typeface="Calibri" pitchFamily="34" charset="0"/>
                <a:ea typeface="Calibri" pitchFamily="34" charset="-122"/>
                <a:cs typeface="Calibri" pitchFamily="34" charset="-120"/>
              </a:rPr>
              <a:t>Tamper-evident audit chain, RBAC, tenant isolation</a:t>
            </a:r>
            <a:endParaRPr lang="en-US" sz="1200" dirty="0"/>
          </a:p>
          <a:p>
            <a:pPr marL="342900" indent="-342900">
              <a:lnSpc>
                <a:spcPts val="1700"/>
              </a:lnSpc>
              <a:spcAft>
                <a:spcPts val="800"/>
              </a:spcAft>
              <a:buSzPct val="100000"/>
              <a:buChar char="•"/>
            </a:pPr>
            <a:r>
              <a:rPr lang="en-US" sz="1200" dirty="0">
                <a:solidFill>
                  <a:srgbClr val="4F566B"/>
                </a:solidFill>
                <a:latin typeface="Calibri" pitchFamily="34" charset="0"/>
                <a:ea typeface="Calibri" pitchFamily="34" charset="-122"/>
                <a:cs typeface="Calibri" pitchFamily="34" charset="-120"/>
              </a:rPr>
              <a:t>232 Excel functions server-side (152 in the browser, 32 on device)</a:t>
            </a:r>
            <a:endParaRPr lang="en-US" sz="1200" dirty="0"/>
          </a:p>
        </p:txBody>
      </p:sp>
      <p:sp>
        <p:nvSpPr>
          <p:cNvPr id="9" name="Shape 7"/>
          <p:cNvSpPr/>
          <p:nvPr/>
        </p:nvSpPr>
        <p:spPr>
          <a:xfrm>
            <a:off x="6190488" y="2121408"/>
            <a:ext cx="5230368" cy="3246120"/>
          </a:xfrm>
          <a:prstGeom prst="roundRect">
            <a:avLst>
              <a:gd name="adj" fmla="val 2817"/>
            </a:avLst>
          </a:prstGeom>
          <a:solidFill>
            <a:srgbClr val="FFFFFF"/>
          </a:solidFill>
          <a:ln w="12700">
            <a:solidFill>
              <a:srgbClr val="E3E8F2"/>
            </a:solidFill>
            <a:prstDash val="solid"/>
          </a:ln>
          <a:effectLst>
            <a:outerShdw sx="100000" sy="100000" kx="0" ky="0" algn="bl" rotWithShape="0" blurRad="127000" dist="25400" dir="5400000">
              <a:srgbClr val="0B1020">
                <a:alpha val="7000"/>
              </a:srgbClr>
            </a:outerShdw>
          </a:effectLst>
        </p:spPr>
      </p:sp>
      <p:sp>
        <p:nvSpPr>
          <p:cNvPr id="10" name="Shape 8"/>
          <p:cNvSpPr/>
          <p:nvPr/>
        </p:nvSpPr>
        <p:spPr>
          <a:xfrm>
            <a:off x="6574536" y="2395728"/>
            <a:ext cx="384048" cy="384048"/>
          </a:xfrm>
          <a:prstGeom prst="ellipse">
            <a:avLst/>
          </a:prstGeom>
          <a:solidFill>
            <a:srgbClr val="D97706"/>
          </a:solidFill>
          <a:ln w="12700">
            <a:solidFill>
              <a:srgbClr val="D97706"/>
            </a:solidFill>
            <a:prstDash val="solid"/>
          </a:ln>
        </p:spPr>
      </p:sp>
      <p:sp>
        <p:nvSpPr>
          <p:cNvPr id="11" name="Text 9"/>
          <p:cNvSpPr txBox="1"/>
          <p:nvPr/>
        </p:nvSpPr>
        <p:spPr>
          <a:xfrm>
            <a:off x="7104888" y="2377440"/>
            <a:ext cx="4023360" cy="411480"/>
          </a:xfrm>
          <a:prstGeom prst="rect">
            <a:avLst/>
          </a:prstGeom>
          <a:noFill/>
          <a:ln/>
        </p:spPr>
        <p:txBody>
          <a:bodyPr wrap="square" lIns="0" tIns="0" rIns="0" bIns="0" rtlCol="0" anchor="ctr"/>
          <a:lstStyle/>
          <a:p>
            <a:pPr indent="0" marL="0">
              <a:buNone/>
            </a:pPr>
            <a:r>
              <a:rPr lang="en-US" sz="1900" b="1" dirty="0">
                <a:solidFill>
                  <a:srgbClr val="141A2E"/>
                </a:solidFill>
                <a:latin typeface="Cambria" pitchFamily="34" charset="0"/>
                <a:ea typeface="Cambria" pitchFamily="34" charset="-122"/>
                <a:cs typeface="Cambria" pitchFamily="34" charset="-120"/>
              </a:rPr>
              <a:t>Not yet, and we will say so</a:t>
            </a:r>
            <a:endParaRPr lang="en-US" sz="1900" dirty="0"/>
          </a:p>
        </p:txBody>
      </p:sp>
      <p:sp>
        <p:nvSpPr>
          <p:cNvPr id="12" name="Text 10"/>
          <p:cNvSpPr txBox="1"/>
          <p:nvPr/>
        </p:nvSpPr>
        <p:spPr>
          <a:xfrm>
            <a:off x="6583680" y="2926080"/>
            <a:ext cx="4526280" cy="2194560"/>
          </a:xfrm>
          <a:prstGeom prst="rect">
            <a:avLst/>
          </a:prstGeom>
          <a:noFill/>
          <a:ln/>
        </p:spPr>
        <p:txBody>
          <a:bodyPr wrap="square" lIns="0" tIns="0" rIns="0" bIns="0" rtlCol="0" anchor="ctr"/>
          <a:lstStyle/>
          <a:p>
            <a:pPr marL="342900" indent="-342900">
              <a:lnSpc>
                <a:spcPts val="1700"/>
              </a:lnSpc>
              <a:spcAft>
                <a:spcPts val="800"/>
              </a:spcAft>
              <a:buSzPct val="100000"/>
              <a:buChar char="•"/>
            </a:pPr>
            <a:r>
              <a:rPr lang="en-US" sz="1200" dirty="0">
                <a:solidFill>
                  <a:srgbClr val="4F566B"/>
                </a:solidFill>
                <a:latin typeface="Calibri" pitchFamily="34" charset="0"/>
                <a:ea typeface="Calibri" pitchFamily="34" charset="-122"/>
                <a:cs typeface="Calibri" pitchFamily="34" charset="-120"/>
              </a:rPr>
              <a:t>Not exactly-once delivery — at-least-once with idempotent consumption</a:t>
            </a:r>
            <a:endParaRPr lang="en-US" sz="1200" dirty="0"/>
          </a:p>
          <a:p>
            <a:pPr marL="342900" indent="-342900">
              <a:lnSpc>
                <a:spcPts val="1700"/>
              </a:lnSpc>
              <a:spcAft>
                <a:spcPts val="800"/>
              </a:spcAft>
              <a:buSzPct val="100000"/>
              <a:buChar char="•"/>
            </a:pPr>
            <a:r>
              <a:rPr lang="en-US" sz="1200" dirty="0">
                <a:solidFill>
                  <a:srgbClr val="4F566B"/>
                </a:solidFill>
                <a:latin typeface="Calibri" pitchFamily="34" charset="0"/>
                <a:ea typeface="Calibri" pitchFamily="34" charset="-122"/>
                <a:cs typeface="Calibri" pitchFamily="34" charset="-120"/>
              </a:rPr>
              <a:t>Not an immutable audit log — tamper-evident, which is a detection guarantee</a:t>
            </a:r>
            <a:endParaRPr lang="en-US" sz="1200" dirty="0"/>
          </a:p>
          <a:p>
            <a:pPr marL="342900" indent="-342900">
              <a:lnSpc>
                <a:spcPts val="1700"/>
              </a:lnSpc>
              <a:spcAft>
                <a:spcPts val="800"/>
              </a:spcAft>
              <a:buSzPct val="100000"/>
              <a:buChar char="•"/>
            </a:pPr>
            <a:r>
              <a:rPr lang="en-US" sz="1200" dirty="0">
                <a:solidFill>
                  <a:srgbClr val="4F566B"/>
                </a:solidFill>
                <a:latin typeface="Calibri" pitchFamily="34" charset="0"/>
                <a:ea typeface="Calibri" pitchFamily="34" charset="-122"/>
                <a:cs typeface="Calibri" pitchFamily="34" charset="-120"/>
              </a:rPr>
              <a:t>Not hosted CI today; the evidence is a committed, regenerable test report</a:t>
            </a:r>
            <a:endParaRPr lang="en-US" sz="1200" dirty="0"/>
          </a:p>
          <a:p>
            <a:pPr marL="342900" indent="-342900">
              <a:lnSpc>
                <a:spcPts val="1700"/>
              </a:lnSpc>
              <a:spcAft>
                <a:spcPts val="800"/>
              </a:spcAft>
              <a:buSzPct val="100000"/>
              <a:buChar char="•"/>
            </a:pPr>
            <a:r>
              <a:rPr lang="en-US" sz="1200" dirty="0">
                <a:solidFill>
                  <a:srgbClr val="4F566B"/>
                </a:solidFill>
                <a:latin typeface="Calibri" pitchFamily="34" charset="0"/>
                <a:ea typeface="Calibri" pitchFamily="34" charset="-122"/>
                <a:cs typeface="Calibri" pitchFamily="34" charset="-120"/>
              </a:rPr>
              <a:t>Apache 2.0 licensed, but the repository is not public yet</a:t>
            </a:r>
            <a:endParaRPr lang="en-US" sz="1200" dirty="0"/>
          </a:p>
          <a:p>
            <a:pPr marL="342900" indent="-342900">
              <a:lnSpc>
                <a:spcPts val="1700"/>
              </a:lnSpc>
              <a:spcAft>
                <a:spcPts val="800"/>
              </a:spcAft>
              <a:buSzPct val="100000"/>
              <a:buChar char="•"/>
            </a:pPr>
            <a:r>
              <a:rPr lang="en-US" sz="1200" dirty="0">
                <a:solidFill>
                  <a:srgbClr val="4F566B"/>
                </a:solidFill>
                <a:latin typeface="Calibri" pitchFamily="34" charset="0"/>
                <a:ea typeface="Calibri" pitchFamily="34" charset="-122"/>
                <a:cs typeface="Calibri" pitchFamily="34" charset="-120"/>
              </a:rPr>
              <a:t>A 76-93% optimisation ships OFF by default — it shrinks what the decision record stores</a:t>
            </a:r>
            <a:endParaRPr lang="en-US" sz="1200" dirty="0"/>
          </a:p>
        </p:txBody>
      </p:sp>
      <p:sp>
        <p:nvSpPr>
          <p:cNvPr id="13" name="Shape 11"/>
          <p:cNvSpPr/>
          <p:nvPr/>
        </p:nvSpPr>
        <p:spPr>
          <a:xfrm>
            <a:off x="566928" y="5449824"/>
            <a:ext cx="10863072" cy="749808"/>
          </a:xfrm>
          <a:prstGeom prst="roundRect">
            <a:avLst>
              <a:gd name="adj" fmla="val 12195"/>
            </a:avLst>
          </a:prstGeom>
          <a:solidFill>
            <a:srgbClr val="141A2E"/>
          </a:solidFill>
          <a:ln w="12700">
            <a:solidFill>
              <a:srgbClr val="141A2E"/>
            </a:solidFill>
            <a:prstDash val="solid"/>
          </a:ln>
          <a:effectLst>
            <a:outerShdw sx="100000" sy="100000" kx="0" ky="0" algn="bl" rotWithShape="0" blurRad="127000" dist="25400" dir="5400000">
              <a:srgbClr val="0B1020">
                <a:alpha val="7000"/>
              </a:srgbClr>
            </a:outerShdw>
          </a:effectLst>
        </p:spPr>
      </p:sp>
      <p:sp>
        <p:nvSpPr>
          <p:cNvPr id="14" name="Text 12"/>
          <p:cNvSpPr txBox="1"/>
          <p:nvPr/>
        </p:nvSpPr>
        <p:spPr>
          <a:xfrm>
            <a:off x="978408" y="5522976"/>
            <a:ext cx="10058400" cy="603504"/>
          </a:xfrm>
          <a:prstGeom prst="rect">
            <a:avLst/>
          </a:prstGeom>
          <a:noFill/>
          <a:ln/>
        </p:spPr>
        <p:txBody>
          <a:bodyPr wrap="square" lIns="0" tIns="0" rIns="0" bIns="0"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A vendor who cannot tell you what their product does not do has not tested it hard enough to know.</a:t>
            </a:r>
            <a:endParaRPr lang="en-US" sz="1400" dirty="0"/>
          </a:p>
        </p:txBody>
      </p:sp>
      <p:sp>
        <p:nvSpPr>
          <p:cNvPr id="16" name="Text 13"/>
          <p:cNvSpPr txBox="1"/>
          <p:nvPr/>
        </p:nvSpPr>
        <p:spPr>
          <a:xfrm>
            <a:off x="566928" y="6291072"/>
            <a:ext cx="2743200" cy="256032"/>
          </a:xfrm>
          <a:prstGeom prst="rect">
            <a:avLst/>
          </a:prstGeom>
          <a:noFill/>
          <a:ln/>
        </p:spPr>
        <p:txBody>
          <a:bodyPr wrap="square" lIns="0" tIns="0" rIns="0" bIns="0" rtlCol="0" anchor="ctr"/>
          <a:lstStyle/>
          <a:p>
            <a:pPr indent="0" marL="0">
              <a:buNone/>
            </a:pPr>
            <a:r>
              <a:rPr lang="en-US" sz="900" dirty="0">
                <a:solidFill>
                  <a:srgbClr val="9AA3BC"/>
                </a:solidFill>
                <a:latin typeface="Calibri" pitchFamily="34" charset="0"/>
                <a:ea typeface="Calibri" pitchFamily="34" charset="-122"/>
                <a:cs typeface="Calibri" pitchFamily="34" charset="-120"/>
              </a:rPr>
              <a:t>RuleMind AI</a:t>
            </a:r>
            <a:endParaRPr lang="en-US" sz="900" dirty="0"/>
          </a:p>
        </p:txBody>
      </p:sp>
      <p:sp>
        <p:nvSpPr>
          <p:cNvPr id="17" name="Text 14"/>
          <p:cNvSpPr txBox="1"/>
          <p:nvPr/>
        </p:nvSpPr>
        <p:spPr>
          <a:xfrm>
            <a:off x="10710367" y="6291072"/>
            <a:ext cx="914400" cy="256032"/>
          </a:xfrm>
          <a:prstGeom prst="rect">
            <a:avLst/>
          </a:prstGeom>
          <a:noFill/>
          <a:ln/>
        </p:spPr>
        <p:txBody>
          <a:bodyPr wrap="square" lIns="0" tIns="0" rIns="0" bIns="0" rtlCol="0" anchor="ctr"/>
          <a:lstStyle/>
          <a:p>
            <a:pPr algn="r" indent="0" marL="0">
              <a:buNone/>
            </a:pPr>
            <a:r>
              <a:rPr lang="en-US" sz="900" dirty="0">
                <a:solidFill>
                  <a:srgbClr val="9AA3BC"/>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A2E"/>
        </a:solidFill>
      </p:bgPr>
    </p:bg>
    <p:spTree>
      <p:nvGrpSpPr>
        <p:cNvPr id="1" name=""/>
        <p:cNvGrpSpPr/>
        <p:nvPr/>
      </p:nvGrpSpPr>
      <p:grpSpPr>
        <a:xfrm>
          <a:off x="0" y="0"/>
          <a:ext cx="0" cy="0"/>
          <a:chOff x="0" y="0"/>
          <a:chExt cx="0" cy="0"/>
        </a:xfrm>
      </p:grpSpPr>
      <p:sp>
        <p:nvSpPr>
          <p:cNvPr id="2" name="Text 0"/>
          <p:cNvSpPr txBox="1"/>
          <p:nvPr/>
        </p:nvSpPr>
        <p:spPr>
          <a:xfrm>
            <a:off x="566928" y="420624"/>
            <a:ext cx="10515600" cy="274320"/>
          </a:xfrm>
          <a:prstGeom prst="rect">
            <a:avLst/>
          </a:prstGeom>
          <a:noFill/>
          <a:ln/>
        </p:spPr>
        <p:txBody>
          <a:bodyPr wrap="square" lIns="0" tIns="0" rIns="0" bIns="0" rtlCol="0" anchor="ctr"/>
          <a:lstStyle/>
          <a:p>
            <a:pPr indent="0" marL="0">
              <a:buNone/>
            </a:pPr>
            <a:r>
              <a:rPr lang="en-US" sz="1200" b="1" spc="220" kern="0" dirty="0">
                <a:solidFill>
                  <a:srgbClr val="635BFF"/>
                </a:solidFill>
                <a:latin typeface="Calibri" pitchFamily="34" charset="0"/>
                <a:ea typeface="Calibri" pitchFamily="34" charset="-122"/>
                <a:cs typeface="Calibri" pitchFamily="34" charset="-120"/>
              </a:rPr>
              <a:t>WHAT HAPPENS NEXT</a:t>
            </a:r>
            <a:endParaRPr lang="en-US" sz="1200" dirty="0"/>
          </a:p>
        </p:txBody>
      </p:sp>
      <p:sp>
        <p:nvSpPr>
          <p:cNvPr id="3" name="Text 1"/>
          <p:cNvSpPr txBox="1"/>
          <p:nvPr/>
        </p:nvSpPr>
        <p:spPr>
          <a:xfrm>
            <a:off x="566928" y="731520"/>
            <a:ext cx="1088136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 pilot is three afternoons</a:t>
            </a:r>
            <a:endParaRPr lang="en-US" sz="3400" dirty="0"/>
          </a:p>
        </p:txBody>
      </p:sp>
      <p:sp>
        <p:nvSpPr>
          <p:cNvPr id="4" name="Shape 2"/>
          <p:cNvSpPr/>
          <p:nvPr/>
        </p:nvSpPr>
        <p:spPr>
          <a:xfrm>
            <a:off x="566928" y="1874520"/>
            <a:ext cx="3456432" cy="2514600"/>
          </a:xfrm>
          <a:prstGeom prst="roundRect">
            <a:avLst>
              <a:gd name="adj" fmla="val 3636"/>
            </a:avLst>
          </a:prstGeom>
          <a:solidFill>
            <a:srgbClr val="232A45"/>
          </a:solidFill>
          <a:ln w="12700">
            <a:solidFill>
              <a:srgbClr val="232A45"/>
            </a:solidFill>
            <a:prstDash val="solid"/>
          </a:ln>
          <a:effectLst>
            <a:outerShdw sx="100000" sy="100000" kx="0" ky="0" algn="bl" rotWithShape="0" blurRad="127000" dist="25400" dir="5400000">
              <a:srgbClr val="0B1020">
                <a:alpha val="7000"/>
              </a:srgbClr>
            </a:outerShdw>
          </a:effectLst>
        </p:spPr>
      </p:sp>
      <p:sp>
        <p:nvSpPr>
          <p:cNvPr id="5" name="Shape 3"/>
          <p:cNvSpPr/>
          <p:nvPr/>
        </p:nvSpPr>
        <p:spPr>
          <a:xfrm>
            <a:off x="950976" y="2176272"/>
            <a:ext cx="566928" cy="566928"/>
          </a:xfrm>
          <a:prstGeom prst="ellipse">
            <a:avLst/>
          </a:prstGeom>
          <a:solidFill>
            <a:srgbClr val="635BFF"/>
          </a:solidFill>
          <a:ln w="12700">
            <a:solidFill>
              <a:srgbClr val="635BFF"/>
            </a:solidFill>
            <a:prstDash val="solid"/>
          </a:ln>
        </p:spPr>
      </p:sp>
      <p:sp>
        <p:nvSpPr>
          <p:cNvPr id="6" name="Text 4"/>
          <p:cNvSpPr txBox="1"/>
          <p:nvPr/>
        </p:nvSpPr>
        <p:spPr>
          <a:xfrm>
            <a:off x="950976" y="2176272"/>
            <a:ext cx="566928" cy="566928"/>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1</a:t>
            </a:r>
            <a:endParaRPr lang="en-US" sz="2100" dirty="0"/>
          </a:p>
        </p:txBody>
      </p:sp>
      <p:sp>
        <p:nvSpPr>
          <p:cNvPr id="7" name="Text 5"/>
          <p:cNvSpPr txBox="1"/>
          <p:nvPr/>
        </p:nvSpPr>
        <p:spPr>
          <a:xfrm>
            <a:off x="950976" y="2871216"/>
            <a:ext cx="2743200" cy="237744"/>
          </a:xfrm>
          <a:prstGeom prst="rect">
            <a:avLst/>
          </a:prstGeom>
          <a:noFill/>
          <a:ln/>
        </p:spPr>
        <p:txBody>
          <a:bodyPr wrap="square" lIns="0" tIns="0" rIns="0" bIns="0" rtlCol="0" anchor="ctr"/>
          <a:lstStyle/>
          <a:p>
            <a:pPr indent="0" marL="0">
              <a:buNone/>
            </a:pPr>
            <a:r>
              <a:rPr lang="en-US" sz="1000" b="1" spc="140" kern="0" dirty="0">
                <a:solidFill>
                  <a:srgbClr val="635BFF"/>
                </a:solidFill>
                <a:latin typeface="Calibri" pitchFamily="34" charset="0"/>
                <a:ea typeface="Calibri" pitchFamily="34" charset="-122"/>
                <a:cs typeface="Calibri" pitchFamily="34" charset="-120"/>
              </a:rPr>
              <a:t>Afternoon one</a:t>
            </a:r>
            <a:endParaRPr lang="en-US" sz="1000" dirty="0"/>
          </a:p>
        </p:txBody>
      </p:sp>
      <p:sp>
        <p:nvSpPr>
          <p:cNvPr id="8" name="Text 6"/>
          <p:cNvSpPr txBox="1"/>
          <p:nvPr/>
        </p:nvSpPr>
        <p:spPr>
          <a:xfrm>
            <a:off x="950976" y="3127248"/>
            <a:ext cx="274320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Stand it up</a:t>
            </a:r>
            <a:endParaRPr lang="en-US" sz="1800" dirty="0"/>
          </a:p>
        </p:txBody>
      </p:sp>
      <p:sp>
        <p:nvSpPr>
          <p:cNvPr id="9" name="Text 7"/>
          <p:cNvSpPr txBox="1"/>
          <p:nvPr/>
        </p:nvSpPr>
        <p:spPr>
          <a:xfrm>
            <a:off x="950976" y="3547872"/>
            <a:ext cx="2743200" cy="786384"/>
          </a:xfrm>
          <a:prstGeom prst="rect">
            <a:avLst/>
          </a:prstGeom>
          <a:noFill/>
          <a:ln/>
        </p:spPr>
        <p:txBody>
          <a:bodyPr wrap="square" lIns="0" tIns="0" rIns="0" bIns="0" rtlCol="0" anchor="ctr"/>
          <a:lstStyle/>
          <a:p>
            <a:pPr indent="0" marL="0">
              <a:lnSpc>
                <a:spcPts val="1600"/>
              </a:lnSpc>
              <a:buNone/>
            </a:pPr>
            <a:r>
              <a:rPr lang="en-US" sz="1150" dirty="0">
                <a:solidFill>
                  <a:srgbClr val="9AA3BC"/>
                </a:solidFill>
                <a:latin typeface="Calibri" pitchFamily="34" charset="0"/>
                <a:ea typeface="Calibri" pitchFamily="34" charset="-122"/>
                <a:cs typeface="Calibri" pitchFamily="34" charset="-120"/>
              </a:rPr>
              <a:t>One command on a laptop or a VM inside your network. Nothing leaves it.</a:t>
            </a:r>
            <a:endParaRPr lang="en-US" sz="1150" dirty="0"/>
          </a:p>
        </p:txBody>
      </p:sp>
      <p:sp>
        <p:nvSpPr>
          <p:cNvPr id="10" name="Shape 8"/>
          <p:cNvSpPr/>
          <p:nvPr/>
        </p:nvSpPr>
        <p:spPr>
          <a:xfrm>
            <a:off x="4251960" y="1874520"/>
            <a:ext cx="3456432" cy="2514600"/>
          </a:xfrm>
          <a:prstGeom prst="roundRect">
            <a:avLst>
              <a:gd name="adj" fmla="val 3636"/>
            </a:avLst>
          </a:prstGeom>
          <a:solidFill>
            <a:srgbClr val="232A45"/>
          </a:solidFill>
          <a:ln w="12700">
            <a:solidFill>
              <a:srgbClr val="232A45"/>
            </a:solidFill>
            <a:prstDash val="solid"/>
          </a:ln>
          <a:effectLst>
            <a:outerShdw sx="100000" sy="100000" kx="0" ky="0" algn="bl" rotWithShape="0" blurRad="127000" dist="25400" dir="5400000">
              <a:srgbClr val="0B1020">
                <a:alpha val="7000"/>
              </a:srgbClr>
            </a:outerShdw>
          </a:effectLst>
        </p:spPr>
      </p:sp>
      <p:sp>
        <p:nvSpPr>
          <p:cNvPr id="11" name="Shape 9"/>
          <p:cNvSpPr/>
          <p:nvPr/>
        </p:nvSpPr>
        <p:spPr>
          <a:xfrm>
            <a:off x="4636008" y="2176272"/>
            <a:ext cx="566928" cy="566928"/>
          </a:xfrm>
          <a:prstGeom prst="ellipse">
            <a:avLst/>
          </a:prstGeom>
          <a:solidFill>
            <a:srgbClr val="635BFF"/>
          </a:solidFill>
          <a:ln w="12700">
            <a:solidFill>
              <a:srgbClr val="635BFF"/>
            </a:solidFill>
            <a:prstDash val="solid"/>
          </a:ln>
        </p:spPr>
      </p:sp>
      <p:sp>
        <p:nvSpPr>
          <p:cNvPr id="12" name="Text 10"/>
          <p:cNvSpPr txBox="1"/>
          <p:nvPr/>
        </p:nvSpPr>
        <p:spPr>
          <a:xfrm>
            <a:off x="4636008" y="2176272"/>
            <a:ext cx="566928" cy="566928"/>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2</a:t>
            </a:r>
            <a:endParaRPr lang="en-US" sz="2100" dirty="0"/>
          </a:p>
        </p:txBody>
      </p:sp>
      <p:sp>
        <p:nvSpPr>
          <p:cNvPr id="13" name="Text 11"/>
          <p:cNvSpPr txBox="1"/>
          <p:nvPr/>
        </p:nvSpPr>
        <p:spPr>
          <a:xfrm>
            <a:off x="4636008" y="2871216"/>
            <a:ext cx="2743200" cy="237744"/>
          </a:xfrm>
          <a:prstGeom prst="rect">
            <a:avLst/>
          </a:prstGeom>
          <a:noFill/>
          <a:ln/>
        </p:spPr>
        <p:txBody>
          <a:bodyPr wrap="square" lIns="0" tIns="0" rIns="0" bIns="0" rtlCol="0" anchor="ctr"/>
          <a:lstStyle/>
          <a:p>
            <a:pPr indent="0" marL="0">
              <a:buNone/>
            </a:pPr>
            <a:r>
              <a:rPr lang="en-US" sz="1000" b="1" spc="140" kern="0" dirty="0">
                <a:solidFill>
                  <a:srgbClr val="635BFF"/>
                </a:solidFill>
                <a:latin typeface="Calibri" pitchFamily="34" charset="0"/>
                <a:ea typeface="Calibri" pitchFamily="34" charset="-122"/>
                <a:cs typeface="Calibri" pitchFamily="34" charset="-120"/>
              </a:rPr>
              <a:t>Afternoon two</a:t>
            </a:r>
            <a:endParaRPr lang="en-US" sz="1000" dirty="0"/>
          </a:p>
        </p:txBody>
      </p:sp>
      <p:sp>
        <p:nvSpPr>
          <p:cNvPr id="14" name="Text 12"/>
          <p:cNvSpPr txBox="1"/>
          <p:nvPr/>
        </p:nvSpPr>
        <p:spPr>
          <a:xfrm>
            <a:off x="4636008" y="3127248"/>
            <a:ext cx="274320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Bring one policy</a:t>
            </a:r>
            <a:endParaRPr lang="en-US" sz="1800" dirty="0"/>
          </a:p>
        </p:txBody>
      </p:sp>
      <p:sp>
        <p:nvSpPr>
          <p:cNvPr id="15" name="Text 13"/>
          <p:cNvSpPr txBox="1"/>
          <p:nvPr/>
        </p:nvSpPr>
        <p:spPr>
          <a:xfrm>
            <a:off x="4636008" y="3547872"/>
            <a:ext cx="2743200" cy="786384"/>
          </a:xfrm>
          <a:prstGeom prst="rect">
            <a:avLst/>
          </a:prstGeom>
          <a:noFill/>
          <a:ln/>
        </p:spPr>
        <p:txBody>
          <a:bodyPr wrap="square" lIns="0" tIns="0" rIns="0" bIns="0" rtlCol="0" anchor="ctr"/>
          <a:lstStyle/>
          <a:p>
            <a:pPr indent="0" marL="0">
              <a:lnSpc>
                <a:spcPts val="1600"/>
              </a:lnSpc>
              <a:buNone/>
            </a:pPr>
            <a:r>
              <a:rPr lang="en-US" sz="1150" dirty="0">
                <a:solidFill>
                  <a:srgbClr val="9AA3BC"/>
                </a:solidFill>
                <a:latin typeface="Calibri" pitchFamily="34" charset="0"/>
                <a:ea typeface="Calibri" pitchFamily="34" charset="-122"/>
                <a:cs typeface="Calibri" pitchFamily="34" charset="-120"/>
              </a:rPr>
              <a:t>Rebuild a live policy you already run. Replay it over your recorded decisions and compare outcomes.</a:t>
            </a:r>
            <a:endParaRPr lang="en-US" sz="1150" dirty="0"/>
          </a:p>
        </p:txBody>
      </p:sp>
      <p:sp>
        <p:nvSpPr>
          <p:cNvPr id="16" name="Shape 14"/>
          <p:cNvSpPr/>
          <p:nvPr/>
        </p:nvSpPr>
        <p:spPr>
          <a:xfrm>
            <a:off x="7936992" y="1874520"/>
            <a:ext cx="3456432" cy="2514600"/>
          </a:xfrm>
          <a:prstGeom prst="roundRect">
            <a:avLst>
              <a:gd name="adj" fmla="val 3636"/>
            </a:avLst>
          </a:prstGeom>
          <a:solidFill>
            <a:srgbClr val="232A45"/>
          </a:solidFill>
          <a:ln w="12700">
            <a:solidFill>
              <a:srgbClr val="232A45"/>
            </a:solidFill>
            <a:prstDash val="solid"/>
          </a:ln>
          <a:effectLst>
            <a:outerShdw sx="100000" sy="100000" kx="0" ky="0" algn="bl" rotWithShape="0" blurRad="127000" dist="25400" dir="5400000">
              <a:srgbClr val="0B1020">
                <a:alpha val="7000"/>
              </a:srgbClr>
            </a:outerShdw>
          </a:effectLst>
        </p:spPr>
      </p:sp>
      <p:sp>
        <p:nvSpPr>
          <p:cNvPr id="17" name="Shape 15"/>
          <p:cNvSpPr/>
          <p:nvPr/>
        </p:nvSpPr>
        <p:spPr>
          <a:xfrm>
            <a:off x="8321040" y="2176272"/>
            <a:ext cx="566928" cy="566928"/>
          </a:xfrm>
          <a:prstGeom prst="ellipse">
            <a:avLst/>
          </a:prstGeom>
          <a:solidFill>
            <a:srgbClr val="635BFF"/>
          </a:solidFill>
          <a:ln w="12700">
            <a:solidFill>
              <a:srgbClr val="635BFF"/>
            </a:solidFill>
            <a:prstDash val="solid"/>
          </a:ln>
        </p:spPr>
      </p:sp>
      <p:sp>
        <p:nvSpPr>
          <p:cNvPr id="18" name="Text 16"/>
          <p:cNvSpPr txBox="1"/>
          <p:nvPr/>
        </p:nvSpPr>
        <p:spPr>
          <a:xfrm>
            <a:off x="8321040" y="2176272"/>
            <a:ext cx="566928" cy="566928"/>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3</a:t>
            </a:r>
            <a:endParaRPr lang="en-US" sz="2100" dirty="0"/>
          </a:p>
        </p:txBody>
      </p:sp>
      <p:sp>
        <p:nvSpPr>
          <p:cNvPr id="19" name="Text 17"/>
          <p:cNvSpPr txBox="1"/>
          <p:nvPr/>
        </p:nvSpPr>
        <p:spPr>
          <a:xfrm>
            <a:off x="8321040" y="2871216"/>
            <a:ext cx="2743200" cy="237744"/>
          </a:xfrm>
          <a:prstGeom prst="rect">
            <a:avLst/>
          </a:prstGeom>
          <a:noFill/>
          <a:ln/>
        </p:spPr>
        <p:txBody>
          <a:bodyPr wrap="square" lIns="0" tIns="0" rIns="0" bIns="0" rtlCol="0" anchor="ctr"/>
          <a:lstStyle/>
          <a:p>
            <a:pPr indent="0" marL="0">
              <a:buNone/>
            </a:pPr>
            <a:r>
              <a:rPr lang="en-US" sz="1000" b="1" spc="140" kern="0" dirty="0">
                <a:solidFill>
                  <a:srgbClr val="635BFF"/>
                </a:solidFill>
                <a:latin typeface="Calibri" pitchFamily="34" charset="0"/>
                <a:ea typeface="Calibri" pitchFamily="34" charset="-122"/>
                <a:cs typeface="Calibri" pitchFamily="34" charset="-120"/>
              </a:rPr>
              <a:t>Afternoon three</a:t>
            </a:r>
            <a:endParaRPr lang="en-US" sz="1000" dirty="0"/>
          </a:p>
        </p:txBody>
      </p:sp>
      <p:sp>
        <p:nvSpPr>
          <p:cNvPr id="20" name="Text 18"/>
          <p:cNvSpPr txBox="1"/>
          <p:nvPr/>
        </p:nvSpPr>
        <p:spPr>
          <a:xfrm>
            <a:off x="8321040" y="3127248"/>
            <a:ext cx="274320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Change it</a:t>
            </a:r>
            <a:endParaRPr lang="en-US" sz="1800" dirty="0"/>
          </a:p>
        </p:txBody>
      </p:sp>
      <p:sp>
        <p:nvSpPr>
          <p:cNvPr id="21" name="Text 19"/>
          <p:cNvSpPr txBox="1"/>
          <p:nvPr/>
        </p:nvSpPr>
        <p:spPr>
          <a:xfrm>
            <a:off x="8321040" y="3547872"/>
            <a:ext cx="2743200" cy="786384"/>
          </a:xfrm>
          <a:prstGeom prst="rect">
            <a:avLst/>
          </a:prstGeom>
          <a:noFill/>
          <a:ln/>
        </p:spPr>
        <p:txBody>
          <a:bodyPr wrap="square" lIns="0" tIns="0" rIns="0" bIns="0" rtlCol="0" anchor="ctr"/>
          <a:lstStyle/>
          <a:p>
            <a:pPr indent="0" marL="0">
              <a:lnSpc>
                <a:spcPts val="1600"/>
              </a:lnSpc>
              <a:buNone/>
            </a:pPr>
            <a:r>
              <a:rPr lang="en-US" sz="1150" dirty="0">
                <a:solidFill>
                  <a:srgbClr val="9AA3BC"/>
                </a:solidFill>
                <a:latin typeface="Calibri" pitchFamily="34" charset="0"/>
                <a:ea typeface="Calibri" pitchFamily="34" charset="-122"/>
                <a:cs typeface="Calibri" pitchFamily="34" charset="-120"/>
              </a:rPr>
              <a:t>Move a threshold, promote it through uat, and read the audit trail the change produced.</a:t>
            </a:r>
            <a:endParaRPr lang="en-US" sz="1150" dirty="0"/>
          </a:p>
        </p:txBody>
      </p:sp>
      <p:sp>
        <p:nvSpPr>
          <p:cNvPr id="22" name="Text 20"/>
          <p:cNvSpPr txBox="1"/>
          <p:nvPr/>
        </p:nvSpPr>
        <p:spPr>
          <a:xfrm>
            <a:off x="566928" y="4681728"/>
            <a:ext cx="10881360" cy="320040"/>
          </a:xfrm>
          <a:prstGeom prst="rect">
            <a:avLst/>
          </a:prstGeom>
          <a:noFill/>
          <a:ln/>
        </p:spPr>
        <p:txBody>
          <a:bodyPr wrap="square" lIns="0" tIns="0" rIns="0" bIns="0" rtlCol="0" anchor="ctr"/>
          <a:lstStyle/>
          <a:p>
            <a:pPr indent="0" marL="0">
              <a:buNone/>
            </a:pPr>
            <a:r>
              <a:rPr lang="en-US" sz="1150" b="1" spc="200" kern="0" dirty="0">
                <a:solidFill>
                  <a:srgbClr val="635BFF"/>
                </a:solidFill>
                <a:latin typeface="Calibri" pitchFamily="34" charset="0"/>
                <a:ea typeface="Calibri" pitchFamily="34" charset="-122"/>
                <a:cs typeface="Calibri" pitchFamily="34" charset="-120"/>
              </a:rPr>
              <a:t>The question a pilot answers</a:t>
            </a:r>
            <a:endParaRPr lang="en-US" sz="1150" dirty="0"/>
          </a:p>
        </p:txBody>
      </p:sp>
      <p:sp>
        <p:nvSpPr>
          <p:cNvPr id="23" name="Text 21"/>
          <p:cNvSpPr txBox="1"/>
          <p:nvPr/>
        </p:nvSpPr>
        <p:spPr>
          <a:xfrm>
            <a:off x="566928" y="5029200"/>
            <a:ext cx="10607040" cy="1097280"/>
          </a:xfrm>
          <a:prstGeom prst="rect">
            <a:avLst/>
          </a:prstGeom>
          <a:noFill/>
          <a:ln/>
        </p:spPr>
        <p:txBody>
          <a:bodyPr wrap="square" lIns="0" tIns="0" rIns="0" bIns="0" rtlCol="0" anchor="ctr"/>
          <a:lstStyle/>
          <a:p>
            <a:pPr indent="0" marL="0">
              <a:lnSpc>
                <a:spcPts val="3200"/>
              </a:lnSpc>
              <a:buNone/>
            </a:pPr>
            <a:r>
              <a:rPr lang="en-US" sz="2400" b="1" dirty="0">
                <a:solidFill>
                  <a:srgbClr val="FFFFFF"/>
                </a:solidFill>
                <a:latin typeface="Cambria" pitchFamily="34" charset="0"/>
                <a:ea typeface="Cambria" pitchFamily="34" charset="-122"/>
                <a:cs typeface="Cambria" pitchFamily="34" charset="-120"/>
              </a:rPr>
              <a:t>Can your risk team change a live policy this week — and prove, months later, exactly why one applicant got the answer they got?</a:t>
            </a:r>
            <a:endParaRPr lang="en-US" sz="2400" dirty="0"/>
          </a:p>
        </p:txBody>
      </p:sp>
      <p:sp>
        <p:nvSpPr>
          <p:cNvPr id="25" name="Text 22"/>
          <p:cNvSpPr txBox="1"/>
          <p:nvPr/>
        </p:nvSpPr>
        <p:spPr>
          <a:xfrm>
            <a:off x="566928" y="6291072"/>
            <a:ext cx="2743200" cy="256032"/>
          </a:xfrm>
          <a:prstGeom prst="rect">
            <a:avLst/>
          </a:prstGeom>
          <a:noFill/>
          <a:ln/>
        </p:spPr>
        <p:txBody>
          <a:bodyPr wrap="square" lIns="0" tIns="0" rIns="0" bIns="0" rtlCol="0" anchor="ctr"/>
          <a:lstStyle/>
          <a:p>
            <a:pPr indent="0" marL="0">
              <a:buNone/>
            </a:pPr>
            <a:r>
              <a:rPr lang="en-US" sz="900" dirty="0">
                <a:solidFill>
                  <a:srgbClr val="9AA3BC"/>
                </a:solidFill>
                <a:latin typeface="Calibri" pitchFamily="34" charset="0"/>
                <a:ea typeface="Calibri" pitchFamily="34" charset="-122"/>
                <a:cs typeface="Calibri" pitchFamily="34" charset="-120"/>
              </a:rPr>
              <a:t>RuleMind AI</a:t>
            </a:r>
            <a:endParaRPr lang="en-US" sz="900" dirty="0"/>
          </a:p>
        </p:txBody>
      </p:sp>
      <p:sp>
        <p:nvSpPr>
          <p:cNvPr id="26" name="Text 23"/>
          <p:cNvSpPr txBox="1"/>
          <p:nvPr/>
        </p:nvSpPr>
        <p:spPr>
          <a:xfrm>
            <a:off x="10710367" y="6291072"/>
            <a:ext cx="914400" cy="256032"/>
          </a:xfrm>
          <a:prstGeom prst="rect">
            <a:avLst/>
          </a:prstGeom>
          <a:noFill/>
          <a:ln/>
        </p:spPr>
        <p:txBody>
          <a:bodyPr wrap="square" lIns="0" tIns="0" rIns="0" bIns="0" rtlCol="0" anchor="ctr"/>
          <a:lstStyle/>
          <a:p>
            <a:pPr algn="r" indent="0" marL="0">
              <a:buNone/>
            </a:pPr>
            <a:r>
              <a:rPr lang="en-US" sz="900" dirty="0">
                <a:solidFill>
                  <a:srgbClr val="9AA3BC"/>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RuleMind AI</dc:title>
  <dc:subject>PptxGenJS Presentation</dc:subject>
  <dc:creator>RuleMind AI</dc:creator>
  <cp:lastModifiedBy>RuleMind AI</cp:lastModifiedBy>
  <cp:revision>1</cp:revision>
  <dcterms:created xsi:type="dcterms:W3CDTF">2026-09-14T18:21:55Z</dcterms:created>
  <dcterms:modified xsi:type="dcterms:W3CDTF">2026-09-14T18:21:55Z</dcterms:modified>
</cp:coreProperties>
</file>